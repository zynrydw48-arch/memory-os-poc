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6" r:id="rId11"/>
    <p:sldId id="270" r:id="rId12"/>
    <p:sldId id="271" r:id="rId13"/>
    <p:sldId id="272" r:id="rId14"/>
    <p:sldId id="265" r:id="rId15"/>
    <p:sldId id="266" r:id="rId16"/>
    <p:sldId id="275" r:id="rId17"/>
    <p:sldId id="277" r:id="rId18"/>
    <p:sldId id="274" r:id="rId19"/>
    <p:sldId id="267" r:id="rId20"/>
    <p:sldId id="268" r:id="rId2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p:cViewPr varScale="1">
        <p:scale>
          <a:sx n="88" d="100"/>
          <a:sy n="88" d="100"/>
        </p:scale>
        <p:origin x="4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8674B0-5863-4F61-94D3-54F423419F7A}"/>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8EDCB8A7-144B-4A7C-94D9-3FEC186EEC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65753364-42F6-4531-9064-991738488351}"/>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5" name="מציין מיקום של כותרת תחתונה 4">
            <a:extLst>
              <a:ext uri="{FF2B5EF4-FFF2-40B4-BE49-F238E27FC236}">
                <a16:creationId xmlns:a16="http://schemas.microsoft.com/office/drawing/2014/main" id="{90E35EE0-EF4D-4DDC-AFE2-F93DEDA797C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F54E156-B9C8-4182-9CF2-4B0C08CDF58E}"/>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3489833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2935975-B2C9-42FB-B0F7-B1D178BFBB6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960A035-2A0D-4D0D-92EC-EE6C7BC96909}"/>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EFB0783-1D0D-4BB6-B5E0-46C1ED990024}"/>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5" name="מציין מיקום של כותרת תחתונה 4">
            <a:extLst>
              <a:ext uri="{FF2B5EF4-FFF2-40B4-BE49-F238E27FC236}">
                <a16:creationId xmlns:a16="http://schemas.microsoft.com/office/drawing/2014/main" id="{37C2C2D0-4416-4556-B87D-452806BB63B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4EADC32-E1CE-4160-B8D7-6D7D661BECC7}"/>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3664524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36FCDF2-9E5A-4A46-922A-8B3F4D83C1D3}"/>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10C8BC1F-2F6F-4438-99F0-B4CFB02361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D4A8EFC8-7EBC-40D2-BB6B-ED147A2F0367}"/>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5" name="מציין מיקום של כותרת תחתונה 4">
            <a:extLst>
              <a:ext uri="{FF2B5EF4-FFF2-40B4-BE49-F238E27FC236}">
                <a16:creationId xmlns:a16="http://schemas.microsoft.com/office/drawing/2014/main" id="{7C336496-7484-4D23-AFFE-257BB7B81F4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E555AB0-8FE4-4ABA-A3EA-0717B1E1950C}"/>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1392298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5AC86DF-1C0C-403B-9423-D073B8F346F6}"/>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1BCFA5B-B644-4311-85B6-F3F244BF0363}"/>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13E62883-D8F6-4D8A-84CC-D31EAF8ACEB1}"/>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F37EC169-8A8F-48DC-85BF-159C60EEDF02}"/>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6" name="מציין מיקום של כותרת תחתונה 5">
            <a:extLst>
              <a:ext uri="{FF2B5EF4-FFF2-40B4-BE49-F238E27FC236}">
                <a16:creationId xmlns:a16="http://schemas.microsoft.com/office/drawing/2014/main" id="{A30D03A1-5B02-4BA5-A706-F159C97C972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D1D8AA3E-58BF-4B9F-8DD5-4C58270CDE96}"/>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668638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B957F60-1423-4787-A030-D953EB82FD5A}"/>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D7BBA21-37DF-4089-884B-DEA838D674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C3776538-CC9A-4A0F-981D-492DDEF0A937}"/>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E7FFF5C0-2E42-4F54-A929-E4F1C6C93D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4E8CCB98-79B9-428A-9354-6BE6170789B1}"/>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B0E3341B-5FD8-4B34-B0A8-CCB8CEEE91D1}"/>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8" name="מציין מיקום של כותרת תחתונה 7">
            <a:extLst>
              <a:ext uri="{FF2B5EF4-FFF2-40B4-BE49-F238E27FC236}">
                <a16:creationId xmlns:a16="http://schemas.microsoft.com/office/drawing/2014/main" id="{972B053A-4CC4-4C75-8327-CDBE14C2A703}"/>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7FB5CFC9-D1D9-4F46-9B5D-640F27E0F4C1}"/>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3461789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98ADE26-9440-48DF-8154-6E1E40FA973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E62241D5-6C40-4171-A7E1-AD2038F47927}"/>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4" name="מציין מיקום של כותרת תחתונה 3">
            <a:extLst>
              <a:ext uri="{FF2B5EF4-FFF2-40B4-BE49-F238E27FC236}">
                <a16:creationId xmlns:a16="http://schemas.microsoft.com/office/drawing/2014/main" id="{20BC78AC-A62D-43B9-9658-40E74D7BF14B}"/>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680A2248-4823-419E-A5ED-311C538180FA}"/>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548428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93EC5992-7A90-4810-8F18-E2ABB6DD0907}"/>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3" name="מציין מיקום של כותרת תחתונה 2">
            <a:extLst>
              <a:ext uri="{FF2B5EF4-FFF2-40B4-BE49-F238E27FC236}">
                <a16:creationId xmlns:a16="http://schemas.microsoft.com/office/drawing/2014/main" id="{4F88F887-37A6-4213-8480-5D9AA310053D}"/>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562CAED0-4995-4F6F-8175-21731767DF4A}"/>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3806213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3976595-70FD-4320-B0FD-0FF3430F0AC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3DD75914-5415-4B35-95D1-EBB5329485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925A4010-A9B0-4D22-B691-D083D674E8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3B00725-049D-4F63-909F-9EE98DFD7C08}"/>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6" name="מציין מיקום של כותרת תחתונה 5">
            <a:extLst>
              <a:ext uri="{FF2B5EF4-FFF2-40B4-BE49-F238E27FC236}">
                <a16:creationId xmlns:a16="http://schemas.microsoft.com/office/drawing/2014/main" id="{88484463-0F74-495F-8CDB-59426958AA3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2509E09-1A42-4B26-8E83-EF9A9B4FE8EE}"/>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2651244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553FFCD-91B0-404E-AC4C-78B3AB61B964}"/>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F26FCDD7-1B49-4A66-A6DB-14C7F2A4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89CD5AE7-AC6C-4DD5-A9C6-2D3835BF2F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8D50AB80-8532-4DB0-B335-D76A3AC950D4}"/>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6" name="מציין מיקום של כותרת תחתונה 5">
            <a:extLst>
              <a:ext uri="{FF2B5EF4-FFF2-40B4-BE49-F238E27FC236}">
                <a16:creationId xmlns:a16="http://schemas.microsoft.com/office/drawing/2014/main" id="{B738D2A6-BB5B-4FD2-A373-57661269D29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E279C1B-F4F3-4315-A76A-1E70A7465B67}"/>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1564519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5AE4D59-0AC2-4C7F-BC1D-6DF76F70F33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C79B610C-B475-4693-84D9-1CE6572A0E29}"/>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C32DAAF-6170-4043-B3B3-5EAB0AC0C380}"/>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5" name="מציין מיקום של כותרת תחתונה 4">
            <a:extLst>
              <a:ext uri="{FF2B5EF4-FFF2-40B4-BE49-F238E27FC236}">
                <a16:creationId xmlns:a16="http://schemas.microsoft.com/office/drawing/2014/main" id="{8BE9DBCA-D349-49A5-A4AC-6CF7B16D60D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FBD7709-E8D2-4A1A-9D50-80ABFC406CCD}"/>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2108403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509C11AD-37AA-4D7F-A763-8B8DA1526F6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314EFFCE-9860-48F6-A3E7-095277D2FBFF}"/>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ADA241D-5ABC-46DF-9D38-398653025E6E}"/>
              </a:ext>
            </a:extLst>
          </p:cNvPr>
          <p:cNvSpPr>
            <a:spLocks noGrp="1"/>
          </p:cNvSpPr>
          <p:nvPr>
            <p:ph type="dt" sz="half" idx="10"/>
          </p:nvPr>
        </p:nvSpPr>
        <p:spPr/>
        <p:txBody>
          <a:bodyPr/>
          <a:lstStyle/>
          <a:p>
            <a:fld id="{608A672E-D4CF-4611-B27B-994EB743A225}" type="datetimeFigureOut">
              <a:rPr lang="he-IL" smtClean="0"/>
              <a:t>ט"ז/סיון/תשפ"א</a:t>
            </a:fld>
            <a:endParaRPr lang="he-IL"/>
          </a:p>
        </p:txBody>
      </p:sp>
      <p:sp>
        <p:nvSpPr>
          <p:cNvPr id="5" name="מציין מיקום של כותרת תחתונה 4">
            <a:extLst>
              <a:ext uri="{FF2B5EF4-FFF2-40B4-BE49-F238E27FC236}">
                <a16:creationId xmlns:a16="http://schemas.microsoft.com/office/drawing/2014/main" id="{895851F3-0F47-4E56-B921-D22D58DEC0A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922BA83-FB45-4855-9B70-47565FEBFCC4}"/>
              </a:ext>
            </a:extLst>
          </p:cNvPr>
          <p:cNvSpPr>
            <a:spLocks noGrp="1"/>
          </p:cNvSpPr>
          <p:nvPr>
            <p:ph type="sldNum" sz="quarter" idx="12"/>
          </p:nvPr>
        </p:nvSpPr>
        <p:spPr/>
        <p:txBody>
          <a:bodyPr/>
          <a:lstStyle/>
          <a:p>
            <a:fld id="{82BFC2C0-80F9-463C-9D89-1B81C5E2E128}" type="slidenum">
              <a:rPr lang="he-IL" smtClean="0"/>
              <a:t>‹#›</a:t>
            </a:fld>
            <a:endParaRPr lang="he-IL"/>
          </a:p>
        </p:txBody>
      </p:sp>
    </p:spTree>
    <p:extLst>
      <p:ext uri="{BB962C8B-B14F-4D97-AF65-F5344CB8AC3E}">
        <p14:creationId xmlns:p14="http://schemas.microsoft.com/office/powerpoint/2010/main" val="2777950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FB5560E2-401F-4557-B2A6-293AE3C00ABD}"/>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9610D953-D4C5-43F9-BF21-296B8FDDFCCC}"/>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1691F3B-4946-4DD3-98E0-5C8DB1922BA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608A672E-D4CF-4611-B27B-994EB743A225}" type="datetimeFigureOut">
              <a:rPr lang="he-IL" smtClean="0"/>
              <a:t>ט"ז/סיון/תשפ"א</a:t>
            </a:fld>
            <a:endParaRPr lang="he-IL"/>
          </a:p>
        </p:txBody>
      </p:sp>
      <p:sp>
        <p:nvSpPr>
          <p:cNvPr id="5" name="מציין מיקום של כותרת תחתונה 4">
            <a:extLst>
              <a:ext uri="{FF2B5EF4-FFF2-40B4-BE49-F238E27FC236}">
                <a16:creationId xmlns:a16="http://schemas.microsoft.com/office/drawing/2014/main" id="{E1F7AE40-7992-4DBA-A3FC-8D4A1204B9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45554DEB-A036-4A89-A3DE-68DFCC19C678}"/>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2BFC2C0-80F9-463C-9D89-1B81C5E2E128}" type="slidenum">
              <a:rPr lang="he-IL" smtClean="0"/>
              <a:t>‹#›</a:t>
            </a:fld>
            <a:endParaRPr lang="he-IL"/>
          </a:p>
        </p:txBody>
      </p:sp>
    </p:spTree>
    <p:extLst>
      <p:ext uri="{BB962C8B-B14F-4D97-AF65-F5344CB8AC3E}">
        <p14:creationId xmlns:p14="http://schemas.microsoft.com/office/powerpoint/2010/main" val="491499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view.genial.ly/60699a6632706d0ff3fe26d3"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EGPaiEm9PI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ordwall.net/resource/5176554"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jigsawplanet.com/?rc=play&amp;pid=3be575aade7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5127D4-2012-43F3-AD04-20C747223861}"/>
              </a:ext>
            </a:extLst>
          </p:cNvPr>
          <p:cNvSpPr>
            <a:spLocks noGrp="1"/>
          </p:cNvSpPr>
          <p:nvPr>
            <p:ph type="ctrTitle"/>
          </p:nvPr>
        </p:nvSpPr>
        <p:spPr>
          <a:xfrm>
            <a:off x="1432560" y="472123"/>
            <a:ext cx="9144000" cy="1509077"/>
          </a:xfrm>
        </p:spPr>
        <p:txBody>
          <a:bodyPr>
            <a:normAutofit fontScale="90000"/>
          </a:bodyPr>
          <a:lstStyle/>
          <a:p>
            <a:r>
              <a:rPr lang="he-IL" dirty="0">
                <a:cs typeface="+mn-cs"/>
              </a:rPr>
              <a:t>גיא, עמית, נועה ונופר מגלים את האמת על עולם העישון</a:t>
            </a:r>
          </a:p>
        </p:txBody>
      </p:sp>
      <p:sp>
        <p:nvSpPr>
          <p:cNvPr id="3" name="כותרת משנה 2">
            <a:extLst>
              <a:ext uri="{FF2B5EF4-FFF2-40B4-BE49-F238E27FC236}">
                <a16:creationId xmlns:a16="http://schemas.microsoft.com/office/drawing/2014/main" id="{567AF5AC-1AF8-49C6-AE23-C4B5273B734D}"/>
              </a:ext>
            </a:extLst>
          </p:cNvPr>
          <p:cNvSpPr>
            <a:spLocks noGrp="1"/>
          </p:cNvSpPr>
          <p:nvPr>
            <p:ph type="subTitle" idx="1"/>
          </p:nvPr>
        </p:nvSpPr>
        <p:spPr>
          <a:xfrm>
            <a:off x="1270000" y="2067878"/>
            <a:ext cx="9144000" cy="512762"/>
          </a:xfrm>
        </p:spPr>
        <p:txBody>
          <a:bodyPr/>
          <a:lstStyle/>
          <a:p>
            <a:r>
              <a:rPr lang="he-IL" dirty="0"/>
              <a:t>עישון סיגריות ונרגילה בקרב בני נוער</a:t>
            </a:r>
          </a:p>
        </p:txBody>
      </p:sp>
      <p:pic>
        <p:nvPicPr>
          <p:cNvPr id="5" name="תמונה 4">
            <a:extLst>
              <a:ext uri="{FF2B5EF4-FFF2-40B4-BE49-F238E27FC236}">
                <a16:creationId xmlns:a16="http://schemas.microsoft.com/office/drawing/2014/main" id="{0BB12C7E-EDC7-4606-9250-DC48CA8F81A7}"/>
              </a:ext>
            </a:extLst>
          </p:cNvPr>
          <p:cNvPicPr>
            <a:picLocks noChangeAspect="1"/>
          </p:cNvPicPr>
          <p:nvPr/>
        </p:nvPicPr>
        <p:blipFill rotWithShape="1">
          <a:blip r:embed="rId2"/>
          <a:srcRect l="33834" t="40444" r="12500" b="34667"/>
          <a:stretch/>
        </p:blipFill>
        <p:spPr>
          <a:xfrm>
            <a:off x="2824480" y="3048000"/>
            <a:ext cx="6543040" cy="2641600"/>
          </a:xfrm>
          <a:prstGeom prst="rect">
            <a:avLst/>
          </a:prstGeom>
        </p:spPr>
      </p:pic>
    </p:spTree>
    <p:extLst>
      <p:ext uri="{BB962C8B-B14F-4D97-AF65-F5344CB8AC3E}">
        <p14:creationId xmlns:p14="http://schemas.microsoft.com/office/powerpoint/2010/main" val="2920492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6857B0E-DDA4-41A3-B4E6-23E243A34E91}"/>
              </a:ext>
            </a:extLst>
          </p:cNvPr>
          <p:cNvSpPr>
            <a:spLocks noGrp="1"/>
          </p:cNvSpPr>
          <p:nvPr>
            <p:ph type="title"/>
          </p:nvPr>
        </p:nvSpPr>
        <p:spPr>
          <a:xfrm>
            <a:off x="838200" y="365126"/>
            <a:ext cx="10515600" cy="901700"/>
          </a:xfrm>
        </p:spPr>
        <p:txBody>
          <a:bodyPr/>
          <a:lstStyle/>
          <a:p>
            <a:pPr algn="ctr"/>
            <a:r>
              <a:rPr lang="he-IL" dirty="0">
                <a:cs typeface="+mn-cs"/>
              </a:rPr>
              <a:t>הצגת המשתתפים</a:t>
            </a:r>
          </a:p>
        </p:txBody>
      </p:sp>
      <p:sp>
        <p:nvSpPr>
          <p:cNvPr id="3" name="מציין מיקום תוכן 2">
            <a:extLst>
              <a:ext uri="{FF2B5EF4-FFF2-40B4-BE49-F238E27FC236}">
                <a16:creationId xmlns:a16="http://schemas.microsoft.com/office/drawing/2014/main" id="{FB9D20D0-3F33-43BB-80D5-948137FE2895}"/>
              </a:ext>
            </a:extLst>
          </p:cNvPr>
          <p:cNvSpPr>
            <a:spLocks noGrp="1"/>
          </p:cNvSpPr>
          <p:nvPr>
            <p:ph idx="1"/>
          </p:nvPr>
        </p:nvSpPr>
        <p:spPr>
          <a:xfrm>
            <a:off x="5143500" y="1266826"/>
            <a:ext cx="1905000" cy="469900"/>
          </a:xfrm>
        </p:spPr>
        <p:txBody>
          <a:bodyPr>
            <a:normAutofit lnSpcReduction="10000"/>
          </a:bodyPr>
          <a:lstStyle/>
          <a:p>
            <a:pPr marL="0" indent="0">
              <a:buNone/>
            </a:pPr>
            <a:r>
              <a:rPr lang="he-IL" dirty="0"/>
              <a:t>המשתתפים</a:t>
            </a:r>
          </a:p>
        </p:txBody>
      </p:sp>
      <p:pic>
        <p:nvPicPr>
          <p:cNvPr id="4" name="תמונה 3">
            <a:extLst>
              <a:ext uri="{FF2B5EF4-FFF2-40B4-BE49-F238E27FC236}">
                <a16:creationId xmlns:a16="http://schemas.microsoft.com/office/drawing/2014/main" id="{5940B716-1372-4E84-A8C5-6E63B1B856A1}"/>
              </a:ext>
            </a:extLst>
          </p:cNvPr>
          <p:cNvPicPr>
            <a:picLocks noChangeAspect="1"/>
          </p:cNvPicPr>
          <p:nvPr/>
        </p:nvPicPr>
        <p:blipFill rotWithShape="1">
          <a:blip r:embed="rId2"/>
          <a:srcRect l="33834" t="41608" r="12500" b="35292"/>
          <a:stretch/>
        </p:blipFill>
        <p:spPr>
          <a:xfrm>
            <a:off x="458684" y="1838324"/>
            <a:ext cx="11084132" cy="3057525"/>
          </a:xfrm>
          <a:prstGeom prst="rect">
            <a:avLst/>
          </a:prstGeom>
        </p:spPr>
      </p:pic>
      <p:sp>
        <p:nvSpPr>
          <p:cNvPr id="5" name="מציין מיקום תוכן 2">
            <a:extLst>
              <a:ext uri="{FF2B5EF4-FFF2-40B4-BE49-F238E27FC236}">
                <a16:creationId xmlns:a16="http://schemas.microsoft.com/office/drawing/2014/main" id="{48D6F355-AC43-48C1-9058-E9B169A55E8E}"/>
              </a:ext>
            </a:extLst>
          </p:cNvPr>
          <p:cNvSpPr txBox="1">
            <a:spLocks/>
          </p:cNvSpPr>
          <p:nvPr/>
        </p:nvSpPr>
        <p:spPr>
          <a:xfrm>
            <a:off x="9848850" y="5194928"/>
            <a:ext cx="1771650" cy="923292"/>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he-IL" sz="1800" b="1" dirty="0"/>
              <a:t>נועה</a:t>
            </a:r>
          </a:p>
          <a:p>
            <a:pPr marL="0" indent="0" algn="ctr">
              <a:buFont typeface="Arial" panose="020B0604020202020204" pitchFamily="34" charset="0"/>
              <a:buNone/>
            </a:pPr>
            <a:r>
              <a:rPr lang="he-IL" sz="1800" b="1" dirty="0"/>
              <a:t>תלמידת כיתה ט'</a:t>
            </a:r>
          </a:p>
        </p:txBody>
      </p:sp>
      <p:sp>
        <p:nvSpPr>
          <p:cNvPr id="6" name="מציין מיקום תוכן 2">
            <a:extLst>
              <a:ext uri="{FF2B5EF4-FFF2-40B4-BE49-F238E27FC236}">
                <a16:creationId xmlns:a16="http://schemas.microsoft.com/office/drawing/2014/main" id="{D6AB7440-315B-40C5-B9C7-65C4FBF5EB8E}"/>
              </a:ext>
            </a:extLst>
          </p:cNvPr>
          <p:cNvSpPr txBox="1">
            <a:spLocks/>
          </p:cNvSpPr>
          <p:nvPr/>
        </p:nvSpPr>
        <p:spPr>
          <a:xfrm>
            <a:off x="2971800" y="5223503"/>
            <a:ext cx="1771650" cy="923292"/>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he-IL" sz="1800" b="1" dirty="0"/>
              <a:t>נופר</a:t>
            </a:r>
          </a:p>
          <a:p>
            <a:pPr marL="0" indent="0" algn="ctr">
              <a:buFont typeface="Arial" panose="020B0604020202020204" pitchFamily="34" charset="0"/>
              <a:buNone/>
            </a:pPr>
            <a:r>
              <a:rPr lang="he-IL" sz="1800" b="1" dirty="0"/>
              <a:t>תלמידת כיתה ט'</a:t>
            </a:r>
          </a:p>
        </p:txBody>
      </p:sp>
      <p:sp>
        <p:nvSpPr>
          <p:cNvPr id="7" name="מציין מיקום תוכן 2">
            <a:extLst>
              <a:ext uri="{FF2B5EF4-FFF2-40B4-BE49-F238E27FC236}">
                <a16:creationId xmlns:a16="http://schemas.microsoft.com/office/drawing/2014/main" id="{89EE0075-2B79-4C39-BC69-1D2A4BDFCB86}"/>
              </a:ext>
            </a:extLst>
          </p:cNvPr>
          <p:cNvSpPr txBox="1">
            <a:spLocks/>
          </p:cNvSpPr>
          <p:nvPr/>
        </p:nvSpPr>
        <p:spPr>
          <a:xfrm>
            <a:off x="7781925" y="5214616"/>
            <a:ext cx="1771650" cy="923292"/>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he-IL" sz="1800" b="1" dirty="0"/>
              <a:t>יאיר</a:t>
            </a:r>
          </a:p>
          <a:p>
            <a:pPr marL="0" indent="0" algn="ctr">
              <a:buFont typeface="Arial" panose="020B0604020202020204" pitchFamily="34" charset="0"/>
              <a:buNone/>
            </a:pPr>
            <a:r>
              <a:rPr lang="he-IL" sz="1800" b="1" dirty="0"/>
              <a:t>אבא של גיא</a:t>
            </a:r>
          </a:p>
        </p:txBody>
      </p:sp>
      <p:sp>
        <p:nvSpPr>
          <p:cNvPr id="8" name="מציין מיקום תוכן 2">
            <a:extLst>
              <a:ext uri="{FF2B5EF4-FFF2-40B4-BE49-F238E27FC236}">
                <a16:creationId xmlns:a16="http://schemas.microsoft.com/office/drawing/2014/main" id="{87E23689-EF54-4725-8464-C1B91936DD25}"/>
              </a:ext>
            </a:extLst>
          </p:cNvPr>
          <p:cNvSpPr txBox="1">
            <a:spLocks/>
          </p:cNvSpPr>
          <p:nvPr/>
        </p:nvSpPr>
        <p:spPr>
          <a:xfrm>
            <a:off x="585788" y="5231752"/>
            <a:ext cx="1771650" cy="923292"/>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he-IL" sz="1800" b="1" dirty="0"/>
              <a:t>עמית</a:t>
            </a:r>
          </a:p>
          <a:p>
            <a:pPr marL="0" indent="0" algn="ctr">
              <a:buFont typeface="Arial" panose="020B0604020202020204" pitchFamily="34" charset="0"/>
              <a:buNone/>
            </a:pPr>
            <a:r>
              <a:rPr lang="he-IL" sz="1800" b="1" dirty="0"/>
              <a:t>תלמיד כיתה ט'</a:t>
            </a:r>
          </a:p>
        </p:txBody>
      </p:sp>
      <p:sp>
        <p:nvSpPr>
          <p:cNvPr id="9" name="מציין מיקום תוכן 2">
            <a:extLst>
              <a:ext uri="{FF2B5EF4-FFF2-40B4-BE49-F238E27FC236}">
                <a16:creationId xmlns:a16="http://schemas.microsoft.com/office/drawing/2014/main" id="{8CC93799-3D14-4BF4-89DC-19D088249ECC}"/>
              </a:ext>
            </a:extLst>
          </p:cNvPr>
          <p:cNvSpPr txBox="1">
            <a:spLocks/>
          </p:cNvSpPr>
          <p:nvPr/>
        </p:nvSpPr>
        <p:spPr>
          <a:xfrm>
            <a:off x="5381625" y="5214616"/>
            <a:ext cx="1771650" cy="923292"/>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he-IL" sz="1800" b="1" dirty="0"/>
              <a:t>גיא</a:t>
            </a:r>
          </a:p>
          <a:p>
            <a:pPr marL="0" indent="0" algn="ctr">
              <a:buFont typeface="Arial" panose="020B0604020202020204" pitchFamily="34" charset="0"/>
              <a:buNone/>
            </a:pPr>
            <a:r>
              <a:rPr lang="he-IL" sz="1800" b="1" dirty="0"/>
              <a:t>תלמיד כיתה ט'</a:t>
            </a:r>
          </a:p>
        </p:txBody>
      </p:sp>
    </p:spTree>
    <p:extLst>
      <p:ext uri="{BB962C8B-B14F-4D97-AF65-F5344CB8AC3E}">
        <p14:creationId xmlns:p14="http://schemas.microsoft.com/office/powerpoint/2010/main" val="487051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5F0DB58-6F9B-4DC9-B067-13A4EC987F86}"/>
              </a:ext>
            </a:extLst>
          </p:cNvPr>
          <p:cNvSpPr>
            <a:spLocks noGrp="1"/>
          </p:cNvSpPr>
          <p:nvPr>
            <p:ph type="title"/>
          </p:nvPr>
        </p:nvSpPr>
        <p:spPr/>
        <p:txBody>
          <a:bodyPr/>
          <a:lstStyle/>
          <a:p>
            <a:pPr algn="ctr"/>
            <a:r>
              <a:rPr lang="he-IL" dirty="0">
                <a:cs typeface="+mn-cs"/>
              </a:rPr>
              <a:t>תלמידי כיתה ט'</a:t>
            </a:r>
            <a:br>
              <a:rPr lang="he-IL" dirty="0">
                <a:cs typeface="+mn-cs"/>
              </a:rPr>
            </a:br>
            <a:r>
              <a:rPr lang="he-IL" dirty="0">
                <a:cs typeface="+mn-cs"/>
              </a:rPr>
              <a:t>יוצאים ללמוד ולגלות את נזקי העישון</a:t>
            </a:r>
          </a:p>
        </p:txBody>
      </p:sp>
      <p:sp>
        <p:nvSpPr>
          <p:cNvPr id="3" name="מציין מיקום תוכן 2">
            <a:extLst>
              <a:ext uri="{FF2B5EF4-FFF2-40B4-BE49-F238E27FC236}">
                <a16:creationId xmlns:a16="http://schemas.microsoft.com/office/drawing/2014/main" id="{6293410E-72A2-445E-8375-AAE05C613E7E}"/>
              </a:ext>
            </a:extLst>
          </p:cNvPr>
          <p:cNvSpPr>
            <a:spLocks noGrp="1"/>
          </p:cNvSpPr>
          <p:nvPr>
            <p:ph idx="1"/>
          </p:nvPr>
        </p:nvSpPr>
        <p:spPr>
          <a:xfrm>
            <a:off x="333375" y="1825625"/>
            <a:ext cx="11020425" cy="4351338"/>
          </a:xfrm>
        </p:spPr>
        <p:txBody>
          <a:bodyPr>
            <a:normAutofit lnSpcReduction="10000"/>
          </a:bodyPr>
          <a:lstStyle/>
          <a:p>
            <a:pPr marL="0" indent="0">
              <a:buNone/>
            </a:pPr>
            <a:r>
              <a:rPr lang="he-IL" dirty="0"/>
              <a:t>בשיעור כישורי חיים למדו  תלמידי כיתה ט' על נזקי העישון. גיא טען </a:t>
            </a:r>
            <a:r>
              <a:rPr lang="he-IL" dirty="0" err="1"/>
              <a:t>שהכל</a:t>
            </a:r>
            <a:r>
              <a:rPr lang="he-IL" dirty="0"/>
              <a:t> שטויות: "אנחנו צעירים ולא יקרה לנו כלום, ואני מכיר הרבה צעירים ומבוגרים שמעשנים והכל בסדר אצלם".</a:t>
            </a:r>
          </a:p>
          <a:p>
            <a:pPr marL="0" indent="0">
              <a:buNone/>
            </a:pPr>
            <a:r>
              <a:rPr lang="he-IL" dirty="0"/>
              <a:t>עמית לעומתו סבר שזה נכון. פרץ ויכוח, אליו הצטרפו גם התלמידות נועה ונופר. </a:t>
            </a:r>
          </a:p>
          <a:p>
            <a:pPr marL="0" indent="0">
              <a:buNone/>
            </a:pPr>
            <a:r>
              <a:rPr lang="he-IL" dirty="0"/>
              <a:t>המורה הטילה  על ארבעתם משימה לצאת ולבחון את הדברים. </a:t>
            </a:r>
          </a:p>
          <a:p>
            <a:pPr marL="0" indent="0" algn="ctr">
              <a:buNone/>
            </a:pPr>
            <a:r>
              <a:rPr lang="he-IL" dirty="0"/>
              <a:t>מה הם יגלו לדעתכם?</a:t>
            </a:r>
          </a:p>
          <a:p>
            <a:pPr marL="0" indent="0">
              <a:buNone/>
            </a:pPr>
            <a:r>
              <a:rPr lang="he-IL" dirty="0"/>
              <a:t>בואו נכנס יחד לחדר הבריחה ונפצח אותו בזכות מה שאנחנו יודעים ומה שעוד נדע. </a:t>
            </a:r>
          </a:p>
          <a:p>
            <a:pPr marL="0" indent="0">
              <a:buNone/>
            </a:pPr>
            <a:endParaRPr lang="he-IL" dirty="0"/>
          </a:p>
          <a:p>
            <a:pPr marL="0" indent="0" algn="ctr">
              <a:buNone/>
            </a:pPr>
            <a:r>
              <a:rPr lang="he-IL" dirty="0"/>
              <a:t>בהצלחה!</a:t>
            </a:r>
          </a:p>
        </p:txBody>
      </p:sp>
    </p:spTree>
    <p:extLst>
      <p:ext uri="{BB962C8B-B14F-4D97-AF65-F5344CB8AC3E}">
        <p14:creationId xmlns:p14="http://schemas.microsoft.com/office/powerpoint/2010/main" val="2329383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0EDDC95-47D2-4EFC-A4FF-9DA9E830010B}"/>
              </a:ext>
            </a:extLst>
          </p:cNvPr>
          <p:cNvSpPr>
            <a:spLocks noGrp="1"/>
          </p:cNvSpPr>
          <p:nvPr>
            <p:ph type="title"/>
          </p:nvPr>
        </p:nvSpPr>
        <p:spPr/>
        <p:txBody>
          <a:bodyPr/>
          <a:lstStyle/>
          <a:p>
            <a:pPr algn="ctr"/>
            <a:r>
              <a:rPr lang="he-IL" dirty="0">
                <a:cs typeface="+mn-cs"/>
              </a:rPr>
              <a:t>גיא, נועה, נופר ועמית יצאו לדרך.</a:t>
            </a:r>
          </a:p>
        </p:txBody>
      </p:sp>
      <p:sp>
        <p:nvSpPr>
          <p:cNvPr id="3" name="מציין מיקום תוכן 2">
            <a:extLst>
              <a:ext uri="{FF2B5EF4-FFF2-40B4-BE49-F238E27FC236}">
                <a16:creationId xmlns:a16="http://schemas.microsoft.com/office/drawing/2014/main" id="{20D121EB-A851-4B78-9489-B9FD45C9B5BF}"/>
              </a:ext>
            </a:extLst>
          </p:cNvPr>
          <p:cNvSpPr>
            <a:spLocks noGrp="1"/>
          </p:cNvSpPr>
          <p:nvPr>
            <p:ph idx="1"/>
          </p:nvPr>
        </p:nvSpPr>
        <p:spPr/>
        <p:txBody>
          <a:bodyPr/>
          <a:lstStyle/>
          <a:p>
            <a:pPr marL="0" indent="0">
              <a:buNone/>
            </a:pPr>
            <a:r>
              <a:rPr lang="he-IL" dirty="0"/>
              <a:t>הם החליטו לראיין את יאיר, אבא של גיא, שמעשן שנים רבות.</a:t>
            </a:r>
          </a:p>
          <a:p>
            <a:pPr marL="0" indent="0">
              <a:buNone/>
            </a:pPr>
            <a:r>
              <a:rPr lang="he-IL" dirty="0"/>
              <a:t>הם שאלו אותו כיצד התחיל לעשן, מדוע הוא מעשן ואם היה רוצה להפסיק לעשן?</a:t>
            </a:r>
          </a:p>
          <a:p>
            <a:pPr marL="0" indent="0">
              <a:buNone/>
            </a:pPr>
            <a:r>
              <a:rPr lang="he-IL" dirty="0"/>
              <a:t>הוא ענה להם, שאם בגילם הוא היה יודע את כל מה שהוא יודע היום על עישון - הוא לא היה נכנס לזה מלכתחילה.</a:t>
            </a:r>
          </a:p>
          <a:p>
            <a:pPr marL="0" indent="0">
              <a:buNone/>
            </a:pPr>
            <a:r>
              <a:rPr lang="he-IL" dirty="0"/>
              <a:t>יאיר סיפר לגיא ולחבריו שאת הסיגריה הראשונה שלו עישן בכיתה י' במסיבה. "נו... אתם יודעים איך זה, כדי להיות כמו כולם ולהרגיש גדול, אבל יש לי רעיון בשבילכם, אתם לא צריכים לחכות לגילי כדי לדעת את מה שאני יודע, אם תמצאו את התשובות לשאלות שבדרך, תגלו כבר בגילכם את האמת על עולם העישון".</a:t>
            </a:r>
          </a:p>
        </p:txBody>
      </p:sp>
    </p:spTree>
    <p:extLst>
      <p:ext uri="{BB962C8B-B14F-4D97-AF65-F5344CB8AC3E}">
        <p14:creationId xmlns:p14="http://schemas.microsoft.com/office/powerpoint/2010/main" val="3136583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2FB135-E2B9-4B89-9806-758A0DE93C74}"/>
              </a:ext>
            </a:extLst>
          </p:cNvPr>
          <p:cNvSpPr>
            <a:spLocks noGrp="1"/>
          </p:cNvSpPr>
          <p:nvPr>
            <p:ph type="title"/>
          </p:nvPr>
        </p:nvSpPr>
        <p:spPr/>
        <p:txBody>
          <a:bodyPr/>
          <a:lstStyle/>
          <a:p>
            <a:pPr algn="ctr"/>
            <a:r>
              <a:rPr lang="he-IL" dirty="0">
                <a:cs typeface="+mn-cs"/>
              </a:rPr>
              <a:t>ענו על השאלון המצורף וגלו את נזקי העישון</a:t>
            </a:r>
          </a:p>
        </p:txBody>
      </p:sp>
      <p:sp>
        <p:nvSpPr>
          <p:cNvPr id="4" name="מלבן 3">
            <a:extLst>
              <a:ext uri="{FF2B5EF4-FFF2-40B4-BE49-F238E27FC236}">
                <a16:creationId xmlns:a16="http://schemas.microsoft.com/office/drawing/2014/main" id="{E5347135-4A23-456D-84C9-CAADF25F90DB}"/>
              </a:ext>
            </a:extLst>
          </p:cNvPr>
          <p:cNvSpPr/>
          <p:nvPr/>
        </p:nvSpPr>
        <p:spPr>
          <a:xfrm>
            <a:off x="3465935" y="2539484"/>
            <a:ext cx="4955267" cy="646331"/>
          </a:xfrm>
          <a:prstGeom prst="rect">
            <a:avLst/>
          </a:prstGeom>
        </p:spPr>
        <p:txBody>
          <a:bodyPr wrap="none">
            <a:spAutoFit/>
          </a:bodyPr>
          <a:lstStyle/>
          <a:p>
            <a:r>
              <a:rPr lang="en-US" dirty="0">
                <a:solidFill>
                  <a:srgbClr val="000000"/>
                </a:solidFill>
                <a:latin typeface="Source Sans Pro" panose="020B0503030403020204" pitchFamily="34" charset="0"/>
                <a:hlinkClick r:id="rId2"/>
              </a:rPr>
              <a:t>https://view.genial.ly/60699a6632706d0ff3fe26d3</a:t>
            </a:r>
            <a:endParaRPr lang="en-US" dirty="0">
              <a:solidFill>
                <a:srgbClr val="000000"/>
              </a:solidFill>
              <a:latin typeface="Source Sans Pro" panose="020B0503030403020204" pitchFamily="34" charset="0"/>
            </a:endParaRPr>
          </a:p>
          <a:p>
            <a:endParaRPr lang="he-IL" dirty="0"/>
          </a:p>
        </p:txBody>
      </p:sp>
    </p:spTree>
    <p:extLst>
      <p:ext uri="{BB962C8B-B14F-4D97-AF65-F5344CB8AC3E}">
        <p14:creationId xmlns:p14="http://schemas.microsoft.com/office/powerpoint/2010/main" val="3918778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46F0B9-99B3-4AC3-9BDA-6EC97FB78377}"/>
              </a:ext>
            </a:extLst>
          </p:cNvPr>
          <p:cNvSpPr>
            <a:spLocks noGrp="1"/>
          </p:cNvSpPr>
          <p:nvPr>
            <p:ph type="title"/>
          </p:nvPr>
        </p:nvSpPr>
        <p:spPr>
          <a:xfrm>
            <a:off x="838200" y="145594"/>
            <a:ext cx="10515600" cy="1325563"/>
          </a:xfrm>
        </p:spPr>
        <p:txBody>
          <a:bodyPr/>
          <a:lstStyle/>
          <a:p>
            <a:pPr algn="ctr"/>
            <a:r>
              <a:rPr lang="he-IL" dirty="0">
                <a:cs typeface="+mn-cs"/>
              </a:rPr>
              <a:t>מפגש כיתתי בפארק</a:t>
            </a:r>
          </a:p>
        </p:txBody>
      </p:sp>
      <p:sp>
        <p:nvSpPr>
          <p:cNvPr id="3" name="מציין מיקום תוכן 2">
            <a:extLst>
              <a:ext uri="{FF2B5EF4-FFF2-40B4-BE49-F238E27FC236}">
                <a16:creationId xmlns:a16="http://schemas.microsoft.com/office/drawing/2014/main" id="{0E97C294-51CD-4B60-8CC7-56AF938259DB}"/>
              </a:ext>
            </a:extLst>
          </p:cNvPr>
          <p:cNvSpPr>
            <a:spLocks noGrp="1"/>
          </p:cNvSpPr>
          <p:nvPr>
            <p:ph idx="1"/>
          </p:nvPr>
        </p:nvSpPr>
        <p:spPr>
          <a:xfrm>
            <a:off x="838200" y="1434674"/>
            <a:ext cx="10515600" cy="3556000"/>
          </a:xfrm>
        </p:spPr>
        <p:txBody>
          <a:bodyPr>
            <a:normAutofit/>
          </a:bodyPr>
          <a:lstStyle/>
          <a:p>
            <a:r>
              <a:rPr lang="he-IL" dirty="0"/>
              <a:t>אחרי הסגר השלישי קבעו החברים(סוף סוף) להיפגש בפארק השכונתי.</a:t>
            </a:r>
          </a:p>
          <a:p>
            <a:r>
              <a:rPr lang="he-IL" dirty="0"/>
              <a:t>בשעה 20:00 הגיעו כולם.</a:t>
            </a:r>
          </a:p>
          <a:p>
            <a:r>
              <a:rPr lang="he-IL" dirty="0"/>
              <a:t>נדב הוציא את הנרגילה שהביא אתו והתחיל לעשן.</a:t>
            </a:r>
          </a:p>
          <a:p>
            <a:r>
              <a:rPr lang="he-IL" dirty="0"/>
              <a:t>החברים העבירו את הנרגילה מפה לפה, נדב לחץ על גיא להצטרף לעישון.</a:t>
            </a:r>
          </a:p>
          <a:p>
            <a:r>
              <a:rPr lang="he-IL" dirty="0"/>
              <a:t>גיא התלבט,  ולבסוף הצטרף ואף קרא לעמית לעשן יחד אתו. מה עמית צריך לעשות לדעתכם? </a:t>
            </a:r>
          </a:p>
          <a:p>
            <a:pPr marL="0" indent="0" algn="ctr">
              <a:buNone/>
            </a:pPr>
            <a:r>
              <a:rPr lang="he-IL" dirty="0"/>
              <a:t>בחרו באפשרות המתאימה לכם:</a:t>
            </a:r>
          </a:p>
        </p:txBody>
      </p:sp>
      <p:sp>
        <p:nvSpPr>
          <p:cNvPr id="4" name="תיבת טקסט 3">
            <a:extLst>
              <a:ext uri="{FF2B5EF4-FFF2-40B4-BE49-F238E27FC236}">
                <a16:creationId xmlns:a16="http://schemas.microsoft.com/office/drawing/2014/main" id="{9FEEB6EF-45CF-4DCE-AE62-C872432FED3B}"/>
              </a:ext>
            </a:extLst>
          </p:cNvPr>
          <p:cNvSpPr txBox="1"/>
          <p:nvPr/>
        </p:nvSpPr>
        <p:spPr>
          <a:xfrm>
            <a:off x="8056880" y="4958080"/>
            <a:ext cx="3098800" cy="1754326"/>
          </a:xfrm>
          <a:prstGeom prst="rect">
            <a:avLst/>
          </a:prstGeom>
          <a:noFill/>
        </p:spPr>
        <p:txBody>
          <a:bodyPr wrap="square" rtlCol="1">
            <a:spAutoFit/>
          </a:bodyPr>
          <a:lstStyle/>
          <a:p>
            <a:r>
              <a:rPr lang="he-IL"/>
              <a:t>ממש לא בא לי לעשן נרגילה, במיוחד לאור תקופת הקורונה בה הבנו את הפגיעה בדרכי הנשימה ועד כמה אנשים מעשנים עלולים להיפגע יותר קשה מנגיפים ווירוסים.</a:t>
            </a:r>
            <a:endParaRPr lang="he-IL" dirty="0"/>
          </a:p>
        </p:txBody>
      </p:sp>
      <p:sp>
        <p:nvSpPr>
          <p:cNvPr id="5" name="מלבן 4">
            <a:extLst>
              <a:ext uri="{FF2B5EF4-FFF2-40B4-BE49-F238E27FC236}">
                <a16:creationId xmlns:a16="http://schemas.microsoft.com/office/drawing/2014/main" id="{8BFF1EC2-61C1-4523-9A71-6626FA371704}"/>
              </a:ext>
            </a:extLst>
          </p:cNvPr>
          <p:cNvSpPr/>
          <p:nvPr/>
        </p:nvSpPr>
        <p:spPr>
          <a:xfrm>
            <a:off x="4053840" y="4945603"/>
            <a:ext cx="3098800" cy="1477328"/>
          </a:xfrm>
          <a:prstGeom prst="rect">
            <a:avLst/>
          </a:prstGeom>
        </p:spPr>
        <p:txBody>
          <a:bodyPr wrap="square">
            <a:spAutoFit/>
          </a:bodyPr>
          <a:lstStyle/>
          <a:p>
            <a:r>
              <a:rPr lang="he-IL" dirty="0">
                <a:solidFill>
                  <a:srgbClr val="414141"/>
                </a:solidFill>
                <a:latin typeface="Arial" panose="020B0604020202020204" pitchFamily="34" charset="0"/>
              </a:rPr>
              <a:t>עזבו אתכם מהשטויות סוף סוף אנחנו יכולים להיפגש בכיף וליהנות מהחיים. אנחנו עוד צעירים ועישון הנרגילה לא יזיק לנו</a:t>
            </a:r>
            <a:endParaRPr lang="he-IL" dirty="0"/>
          </a:p>
        </p:txBody>
      </p:sp>
      <p:sp>
        <p:nvSpPr>
          <p:cNvPr id="6" name="מלבן 5">
            <a:extLst>
              <a:ext uri="{FF2B5EF4-FFF2-40B4-BE49-F238E27FC236}">
                <a16:creationId xmlns:a16="http://schemas.microsoft.com/office/drawing/2014/main" id="{9AD8A4D2-D9A2-4B07-A68C-FBBB0E8C5397}"/>
              </a:ext>
            </a:extLst>
          </p:cNvPr>
          <p:cNvSpPr/>
          <p:nvPr/>
        </p:nvSpPr>
        <p:spPr>
          <a:xfrm>
            <a:off x="264160" y="5024769"/>
            <a:ext cx="3220720" cy="923330"/>
          </a:xfrm>
          <a:prstGeom prst="rect">
            <a:avLst/>
          </a:prstGeom>
        </p:spPr>
        <p:txBody>
          <a:bodyPr wrap="square">
            <a:spAutoFit/>
          </a:bodyPr>
          <a:lstStyle/>
          <a:p>
            <a:r>
              <a:rPr lang="he-IL" dirty="0">
                <a:solidFill>
                  <a:srgbClr val="414141"/>
                </a:solidFill>
                <a:latin typeface="Arial" panose="020B0604020202020204" pitchFamily="34" charset="0"/>
              </a:rPr>
              <a:t>אני מעדיף בכלל לעשן טבק מגולגל כי שמעתי שזה הרבה פחות מזיק מעישון נרגילה</a:t>
            </a:r>
            <a:endParaRPr lang="he-IL" dirty="0"/>
          </a:p>
        </p:txBody>
      </p:sp>
    </p:spTree>
    <p:extLst>
      <p:ext uri="{BB962C8B-B14F-4D97-AF65-F5344CB8AC3E}">
        <p14:creationId xmlns:p14="http://schemas.microsoft.com/office/powerpoint/2010/main" val="1582394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E26D933-49EC-403B-AC12-B67F5701B79C}"/>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76D0F0F7-973D-4C7E-BBAA-AA5DAE17B4C2}"/>
              </a:ext>
            </a:extLst>
          </p:cNvPr>
          <p:cNvSpPr>
            <a:spLocks noGrp="1"/>
          </p:cNvSpPr>
          <p:nvPr>
            <p:ph idx="1"/>
          </p:nvPr>
        </p:nvSpPr>
        <p:spPr/>
        <p:txBody>
          <a:bodyPr/>
          <a:lstStyle/>
          <a:p>
            <a:r>
              <a:rPr lang="he-IL" dirty="0"/>
              <a:t>נועה ונופר שהיו עדות להתלבטות של עמית הציעו לו  לצפות בסרטון הבא ולקבל את ההחלטה אחרי הצפייה בו...</a:t>
            </a:r>
          </a:p>
          <a:p>
            <a:endParaRPr lang="he-IL" dirty="0"/>
          </a:p>
          <a:p>
            <a:r>
              <a:rPr lang="en-US" dirty="0">
                <a:hlinkClick r:id="rId2"/>
              </a:rPr>
              <a:t>https://www.youtube.com/watch?v=EGPaiEm9PIs</a:t>
            </a:r>
            <a:endParaRPr lang="he-IL" dirty="0"/>
          </a:p>
          <a:p>
            <a:endParaRPr lang="he-IL" dirty="0"/>
          </a:p>
        </p:txBody>
      </p:sp>
      <p:sp>
        <p:nvSpPr>
          <p:cNvPr id="4" name="מלבן 3">
            <a:extLst>
              <a:ext uri="{FF2B5EF4-FFF2-40B4-BE49-F238E27FC236}">
                <a16:creationId xmlns:a16="http://schemas.microsoft.com/office/drawing/2014/main" id="{35C0A719-F323-4ACB-9214-6D671ADD7977}"/>
              </a:ext>
            </a:extLst>
          </p:cNvPr>
          <p:cNvSpPr/>
          <p:nvPr/>
        </p:nvSpPr>
        <p:spPr>
          <a:xfrm>
            <a:off x="1137920" y="4822875"/>
            <a:ext cx="9966960" cy="1077218"/>
          </a:xfrm>
          <a:prstGeom prst="rect">
            <a:avLst/>
          </a:prstGeom>
        </p:spPr>
        <p:txBody>
          <a:bodyPr wrap="square">
            <a:spAutoFit/>
          </a:bodyPr>
          <a:lstStyle/>
          <a:p>
            <a:pPr algn="ctr"/>
            <a:r>
              <a:rPr lang="he-IL" sz="3200" dirty="0"/>
              <a:t>השלימו את המשפט שמופיע בסוף הסרטון: "אל תחיו בבועה, נרגילה זה..."</a:t>
            </a:r>
          </a:p>
        </p:txBody>
      </p:sp>
    </p:spTree>
    <p:extLst>
      <p:ext uri="{BB962C8B-B14F-4D97-AF65-F5344CB8AC3E}">
        <p14:creationId xmlns:p14="http://schemas.microsoft.com/office/powerpoint/2010/main" val="779160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3B22649-5EDE-418A-B78E-9DE539F1EF5E}"/>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65BBD46C-05FF-4698-9416-F16471E0A89F}"/>
              </a:ext>
            </a:extLst>
          </p:cNvPr>
          <p:cNvSpPr>
            <a:spLocks noGrp="1"/>
          </p:cNvSpPr>
          <p:nvPr>
            <p:ph idx="1"/>
          </p:nvPr>
        </p:nvSpPr>
        <p:spPr/>
        <p:txBody>
          <a:bodyPr/>
          <a:lstStyle/>
          <a:p>
            <a:r>
              <a:rPr lang="he-IL" dirty="0"/>
              <a:t>לאחר הצפייה בסרטון עמית שוכנע שלא כדאי לו לעשן נרגילה.</a:t>
            </a:r>
          </a:p>
          <a:p>
            <a:r>
              <a:rPr lang="he-IL" dirty="0"/>
              <a:t>הוא אמר לגיא שאינו מעוניין. כשגיא שאל אותו מה גרם לו לקבל את ההחלטה, ענה שדמיין לעצמו את כל הרעלים נכנסים לגופו, וזה הרתיע אותו וגרם לו בחילה. הוא הציע גם לגיא לצפות בסרטון.</a:t>
            </a:r>
          </a:p>
        </p:txBody>
      </p:sp>
    </p:spTree>
    <p:extLst>
      <p:ext uri="{BB962C8B-B14F-4D97-AF65-F5344CB8AC3E}">
        <p14:creationId xmlns:p14="http://schemas.microsoft.com/office/powerpoint/2010/main" val="2723418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AC9E781-5807-4BF5-95F1-999809041C9A}"/>
              </a:ext>
            </a:extLst>
          </p:cNvPr>
          <p:cNvSpPr>
            <a:spLocks noGrp="1"/>
          </p:cNvSpPr>
          <p:nvPr>
            <p:ph type="title"/>
          </p:nvPr>
        </p:nvSpPr>
        <p:spPr/>
        <p:txBody>
          <a:bodyPr/>
          <a:lstStyle/>
          <a:p>
            <a:pPr algn="ctr"/>
            <a:r>
              <a:rPr lang="he-IL" dirty="0">
                <a:cs typeface="+mn-cs"/>
              </a:rPr>
              <a:t>משחק שאלות-נרגילה</a:t>
            </a:r>
          </a:p>
        </p:txBody>
      </p:sp>
      <p:sp>
        <p:nvSpPr>
          <p:cNvPr id="3" name="מציין מיקום תוכן 2">
            <a:extLst>
              <a:ext uri="{FF2B5EF4-FFF2-40B4-BE49-F238E27FC236}">
                <a16:creationId xmlns:a16="http://schemas.microsoft.com/office/drawing/2014/main" id="{FDE14DFD-F4B5-489B-823D-446F957CBF44}"/>
              </a:ext>
            </a:extLst>
          </p:cNvPr>
          <p:cNvSpPr>
            <a:spLocks noGrp="1"/>
          </p:cNvSpPr>
          <p:nvPr>
            <p:ph idx="1"/>
          </p:nvPr>
        </p:nvSpPr>
        <p:spPr>
          <a:xfrm>
            <a:off x="838200" y="1825625"/>
            <a:ext cx="10515600" cy="1079500"/>
          </a:xfrm>
        </p:spPr>
        <p:txBody>
          <a:bodyPr/>
          <a:lstStyle/>
          <a:p>
            <a:r>
              <a:rPr lang="en-US" u="sng" dirty="0">
                <a:solidFill>
                  <a:srgbClr val="0563C1"/>
                </a:solidFill>
                <a:latin typeface="Arial" panose="020B0604020202020204" pitchFamily="34" charset="0"/>
                <a:ea typeface="Times New Roman" panose="02020603050405020304" pitchFamily="18" charset="0"/>
                <a:cs typeface="Arial" panose="020B0604020202020204" pitchFamily="34" charset="0"/>
                <a:hlinkClick r:id="rId2"/>
              </a:rPr>
              <a:t> https://wordwall.net/resource/5176554</a:t>
            </a:r>
            <a:r>
              <a:rPr lang="he-IL" u="sng" dirty="0">
                <a:solidFill>
                  <a:srgbClr val="0563C1"/>
                </a:solidFill>
                <a:latin typeface="Arial" panose="020B0604020202020204" pitchFamily="34" charset="0"/>
                <a:ea typeface="Times New Roman" panose="02020603050405020304" pitchFamily="18" charset="0"/>
              </a:rPr>
              <a:t> </a:t>
            </a:r>
            <a:endParaRPr lang="en-US" sz="2000" dirty="0">
              <a:latin typeface="Calibri" panose="020F0502020204030204" pitchFamily="34" charset="0"/>
              <a:ea typeface="Calibri" panose="020F0502020204030204" pitchFamily="34" charset="0"/>
              <a:cs typeface="Arial" panose="020B0604020202020204" pitchFamily="34" charset="0"/>
            </a:endParaRPr>
          </a:p>
          <a:p>
            <a:endParaRPr lang="he-IL" dirty="0"/>
          </a:p>
        </p:txBody>
      </p:sp>
      <p:pic>
        <p:nvPicPr>
          <p:cNvPr id="5" name="תמונה 4">
            <a:extLst>
              <a:ext uri="{FF2B5EF4-FFF2-40B4-BE49-F238E27FC236}">
                <a16:creationId xmlns:a16="http://schemas.microsoft.com/office/drawing/2014/main" id="{8772D441-F02C-45EF-8E07-B00BEA4D8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975" y="1222434"/>
            <a:ext cx="3923745" cy="5630486"/>
          </a:xfrm>
          <a:prstGeom prst="rect">
            <a:avLst/>
          </a:prstGeom>
        </p:spPr>
      </p:pic>
    </p:spTree>
    <p:extLst>
      <p:ext uri="{BB962C8B-B14F-4D97-AF65-F5344CB8AC3E}">
        <p14:creationId xmlns:p14="http://schemas.microsoft.com/office/powerpoint/2010/main" val="1706856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97F68E-F181-4196-9928-D45B74CDE389}"/>
              </a:ext>
            </a:extLst>
          </p:cNvPr>
          <p:cNvSpPr>
            <a:spLocks noGrp="1"/>
          </p:cNvSpPr>
          <p:nvPr>
            <p:ph type="ctrTitle"/>
          </p:nvPr>
        </p:nvSpPr>
        <p:spPr>
          <a:xfrm>
            <a:off x="5284519" y="1024983"/>
            <a:ext cx="6422849" cy="404043"/>
          </a:xfrm>
        </p:spPr>
        <p:txBody>
          <a:bodyPr vert="horz" lIns="91440" tIns="45720" rIns="91440" bIns="45720" rtlCol="0" anchor="ctr">
            <a:noAutofit/>
          </a:bodyPr>
          <a:lstStyle/>
          <a:p>
            <a:pPr rtl="0"/>
            <a:r>
              <a:rPr lang="en-US" sz="3200" b="1" kern="1200" dirty="0">
                <a:solidFill>
                  <a:schemeClr val="accent2"/>
                </a:solidFill>
                <a:latin typeface="David" panose="020E0502060401010101" pitchFamily="34" charset="-79"/>
                <a:cs typeface="+mn-cs"/>
              </a:rPr>
              <a:t>ס</a:t>
            </a:r>
            <a:r>
              <a:rPr lang="he-IL" sz="3200" b="1" kern="1200" dirty="0">
                <a:solidFill>
                  <a:schemeClr val="accent2"/>
                </a:solidFill>
                <a:latin typeface="David" panose="020E0502060401010101" pitchFamily="34" charset="-79"/>
                <a:cs typeface="+mn-cs"/>
              </a:rPr>
              <a:t>י</a:t>
            </a:r>
            <a:r>
              <a:rPr lang="en-US" sz="3200" b="1" kern="1200" dirty="0" err="1">
                <a:solidFill>
                  <a:schemeClr val="accent2"/>
                </a:solidFill>
                <a:latin typeface="David" panose="020E0502060401010101" pitchFamily="34" charset="-79"/>
                <a:cs typeface="+mn-cs"/>
              </a:rPr>
              <a:t>גריה</a:t>
            </a:r>
            <a:r>
              <a:rPr lang="en-US" sz="3200" b="1" kern="1200" dirty="0">
                <a:solidFill>
                  <a:schemeClr val="accent2"/>
                </a:solidFill>
                <a:latin typeface="David" panose="020E0502060401010101" pitchFamily="34" charset="-79"/>
                <a:cs typeface="+mn-cs"/>
              </a:rPr>
              <a:t> </a:t>
            </a:r>
            <a:r>
              <a:rPr lang="en-US" sz="3200" b="1" kern="1200" dirty="0" err="1">
                <a:solidFill>
                  <a:schemeClr val="accent2"/>
                </a:solidFill>
                <a:latin typeface="David" panose="020E0502060401010101" pitchFamily="34" charset="-79"/>
                <a:cs typeface="+mn-cs"/>
              </a:rPr>
              <a:t>אלקטרונית</a:t>
            </a:r>
            <a:endParaRPr lang="en-US" sz="3200" b="1" kern="1200" dirty="0">
              <a:solidFill>
                <a:schemeClr val="accent2"/>
              </a:solidFill>
              <a:latin typeface="David" panose="020E0502060401010101" pitchFamily="34" charset="-79"/>
              <a:cs typeface="+mn-cs"/>
            </a:endParaRPr>
          </a:p>
        </p:txBody>
      </p:sp>
      <p:sp>
        <p:nvSpPr>
          <p:cNvPr id="3" name="כותרת משנה 2">
            <a:extLst>
              <a:ext uri="{FF2B5EF4-FFF2-40B4-BE49-F238E27FC236}">
                <a16:creationId xmlns:a16="http://schemas.microsoft.com/office/drawing/2014/main" id="{6D60FFD1-FAC7-4B8A-B534-93D7885772DA}"/>
              </a:ext>
            </a:extLst>
          </p:cNvPr>
          <p:cNvSpPr>
            <a:spLocks noGrp="1"/>
          </p:cNvSpPr>
          <p:nvPr>
            <p:ph type="subTitle" idx="1"/>
          </p:nvPr>
        </p:nvSpPr>
        <p:spPr>
          <a:xfrm>
            <a:off x="4933950" y="1684204"/>
            <a:ext cx="6773418" cy="5179695"/>
          </a:xfrm>
        </p:spPr>
        <p:txBody>
          <a:bodyPr vert="horz" lIns="91440" tIns="45720" rIns="91440" bIns="45720" rtlCol="0">
            <a:noAutofit/>
          </a:bodyPr>
          <a:lstStyle/>
          <a:p>
            <a:pPr algn="r" rtl="1">
              <a:lnSpc>
                <a:spcPct val="107000"/>
              </a:lnSpc>
              <a:spcAft>
                <a:spcPts val="800"/>
              </a:spcAft>
            </a:pPr>
            <a:r>
              <a:rPr lang="he-IL" sz="2000" dirty="0">
                <a:effectLst/>
                <a:latin typeface="Calibri" panose="020F0502020204030204" pitchFamily="34" charset="0"/>
                <a:ea typeface="Calibri" panose="020F0502020204030204" pitchFamily="34" charset="0"/>
              </a:rPr>
              <a:t>הסיגריה האלקטרונית דומה בצורתה לסיגריה הרגילה ואף מעניקה תחושה שמזכירה עישון של סיגריה רגיל.</a:t>
            </a:r>
            <a:endParaRPr lang="en-US" sz="2000" dirty="0">
              <a:effectLst/>
              <a:latin typeface="Calibri" panose="020F0502020204030204" pitchFamily="34" charset="0"/>
              <a:ea typeface="Calibri" panose="020F0502020204030204" pitchFamily="34" charset="0"/>
            </a:endParaRPr>
          </a:p>
          <a:p>
            <a:pPr algn="r" rtl="1">
              <a:lnSpc>
                <a:spcPct val="107000"/>
              </a:lnSpc>
              <a:spcAft>
                <a:spcPts val="800"/>
              </a:spcAft>
            </a:pPr>
            <a:r>
              <a:rPr lang="he-IL" sz="2000" dirty="0">
                <a:effectLst/>
                <a:latin typeface="Calibri" panose="020F0502020204030204" pitchFamily="34" charset="0"/>
                <a:ea typeface="Calibri" panose="020F0502020204030204" pitchFamily="34" charset="0"/>
              </a:rPr>
              <a:t>בשונה מהסיגריה הרגילה, בסיגריה האלקטרונית אין עלי טבק ואין תהליך של בעירה. </a:t>
            </a:r>
            <a:endParaRPr lang="en-US" sz="2000" dirty="0">
              <a:effectLst/>
              <a:latin typeface="Calibri" panose="020F0502020204030204" pitchFamily="34" charset="0"/>
              <a:ea typeface="Calibri" panose="020F0502020204030204" pitchFamily="34" charset="0"/>
            </a:endParaRPr>
          </a:p>
          <a:p>
            <a:pPr algn="r" rtl="1">
              <a:lnSpc>
                <a:spcPct val="107000"/>
              </a:lnSpc>
              <a:spcAft>
                <a:spcPts val="800"/>
              </a:spcAft>
            </a:pPr>
            <a:r>
              <a:rPr lang="he-IL" sz="2000" dirty="0">
                <a:effectLst/>
                <a:latin typeface="Calibri" panose="020F0502020204030204" pitchFamily="34" charset="0"/>
                <a:ea typeface="Calibri" panose="020F0502020204030204" pitchFamily="34" charset="0"/>
              </a:rPr>
              <a:t>מה כן מכילה הסיגריה האלקטרונית?  ניקוטין נוזלי מחומם, אשר בזמן עישון הסיגריה מתחמם והופך לאדים.  </a:t>
            </a:r>
            <a:endParaRPr lang="en-US" sz="2000" dirty="0">
              <a:effectLst/>
              <a:latin typeface="Calibri" panose="020F0502020204030204" pitchFamily="34" charset="0"/>
              <a:ea typeface="Calibri" panose="020F0502020204030204" pitchFamily="34" charset="0"/>
            </a:endParaRPr>
          </a:p>
          <a:p>
            <a:pPr algn="r" rtl="1">
              <a:lnSpc>
                <a:spcPct val="107000"/>
              </a:lnSpc>
              <a:spcAft>
                <a:spcPts val="800"/>
              </a:spcAft>
            </a:pPr>
            <a:r>
              <a:rPr lang="he-IL" sz="2000" dirty="0">
                <a:effectLst/>
                <a:latin typeface="Calibri" panose="020F0502020204030204" pitchFamily="34" charset="0"/>
                <a:ea typeface="Calibri" panose="020F0502020204030204" pitchFamily="34" charset="0"/>
              </a:rPr>
              <a:t>הניקוטין הנוזלי הוא </a:t>
            </a:r>
            <a:r>
              <a:rPr lang="he-IL" sz="2000" b="1" dirty="0">
                <a:effectLst/>
                <a:latin typeface="Calibri" panose="020F0502020204030204" pitchFamily="34" charset="0"/>
                <a:ea typeface="Calibri" panose="020F0502020204030204" pitchFamily="34" charset="0"/>
              </a:rPr>
              <a:t>חומר ממכר</a:t>
            </a:r>
            <a:r>
              <a:rPr lang="he-IL" sz="2000" dirty="0">
                <a:effectLst/>
                <a:latin typeface="Calibri" panose="020F0502020204030204" pitchFamily="34" charset="0"/>
                <a:ea typeface="Calibri" panose="020F0502020204030204" pitchFamily="34" charset="0"/>
              </a:rPr>
              <a:t> ולכן שימוש בסיגריות אלקטרוניות  עלול להאיץ את הכניסה לעולם העישון.  </a:t>
            </a:r>
            <a:endParaRPr lang="en-US" sz="2000" dirty="0">
              <a:effectLst/>
              <a:latin typeface="Calibri" panose="020F0502020204030204" pitchFamily="34" charset="0"/>
              <a:ea typeface="Calibri" panose="020F0502020204030204" pitchFamily="34" charset="0"/>
            </a:endParaRPr>
          </a:p>
          <a:p>
            <a:pPr algn="r" rtl="1">
              <a:lnSpc>
                <a:spcPct val="107000"/>
              </a:lnSpc>
              <a:spcAft>
                <a:spcPts val="800"/>
              </a:spcAft>
            </a:pPr>
            <a:r>
              <a:rPr lang="he-IL" sz="2000" dirty="0">
                <a:effectLst/>
                <a:latin typeface="Calibri" panose="020F0502020204030204" pitchFamily="34" charset="0"/>
                <a:ea typeface="Calibri" panose="020F0502020204030204" pitchFamily="34" charset="0"/>
              </a:rPr>
              <a:t>אפשר למצוא גם סיגריות אלקטרוניות שאינן מכילות ניקוטין, אבל חשוב לדעת שבכל מקרה הסיגריות האלקטרוניות מכילות  חומרים שעדיין לא נבדקה השפעתם על גוף האדם.</a:t>
            </a:r>
            <a:endParaRPr lang="en-US" sz="2000" dirty="0">
              <a:effectLst/>
              <a:latin typeface="Calibri" panose="020F0502020204030204" pitchFamily="34" charset="0"/>
              <a:ea typeface="Calibri" panose="020F0502020204030204" pitchFamily="34" charset="0"/>
            </a:endParaRPr>
          </a:p>
          <a:p>
            <a:pPr indent="-228600" algn="r">
              <a:buFont typeface="Arial" panose="020B0604020202020204" pitchFamily="34" charset="0"/>
              <a:buChar char="•"/>
            </a:pPr>
            <a:endParaRPr lang="en-US" sz="2000" dirty="0"/>
          </a:p>
        </p:txBody>
      </p:sp>
      <p:pic>
        <p:nvPicPr>
          <p:cNvPr id="9" name="תמונה 8">
            <a:extLst>
              <a:ext uri="{FF2B5EF4-FFF2-40B4-BE49-F238E27FC236}">
                <a16:creationId xmlns:a16="http://schemas.microsoft.com/office/drawing/2014/main" id="{49076133-1C57-4405-970A-5AC7116961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1024983"/>
            <a:ext cx="3517859" cy="5583740"/>
          </a:xfrm>
          <a:prstGeom prst="rect">
            <a:avLst/>
          </a:prstGeom>
        </p:spPr>
      </p:pic>
      <p:sp>
        <p:nvSpPr>
          <p:cNvPr id="7" name="כותרת 1">
            <a:extLst>
              <a:ext uri="{FF2B5EF4-FFF2-40B4-BE49-F238E27FC236}">
                <a16:creationId xmlns:a16="http://schemas.microsoft.com/office/drawing/2014/main" id="{830C3712-4192-4E71-9E51-4DF52F78199C}"/>
              </a:ext>
            </a:extLst>
          </p:cNvPr>
          <p:cNvSpPr txBox="1">
            <a:spLocks/>
          </p:cNvSpPr>
          <p:nvPr/>
        </p:nvSpPr>
        <p:spPr>
          <a:xfrm>
            <a:off x="1117326" y="38285"/>
            <a:ext cx="10515600" cy="731520"/>
          </a:xfrm>
          <a:prstGeom prst="rect">
            <a:avLst/>
          </a:prstGeom>
        </p:spPr>
        <p:txBody>
          <a:bodyPr vert="horz" lIns="91440" tIns="45720" rIns="91440" bIns="45720" rtlCol="1" anchor="b">
            <a:norm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r>
              <a:rPr lang="he-IL" sz="4400" dirty="0">
                <a:cs typeface="+mn-cs"/>
              </a:rPr>
              <a:t>קראו המידע וענו על השאלות הבאות</a:t>
            </a:r>
          </a:p>
        </p:txBody>
      </p:sp>
    </p:spTree>
    <p:extLst>
      <p:ext uri="{BB962C8B-B14F-4D97-AF65-F5344CB8AC3E}">
        <p14:creationId xmlns:p14="http://schemas.microsoft.com/office/powerpoint/2010/main" val="90706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5AAC0F-15E1-4A40-9BCF-3996F1366FCB}"/>
              </a:ext>
            </a:extLst>
          </p:cNvPr>
          <p:cNvSpPr>
            <a:spLocks noGrp="1"/>
          </p:cNvSpPr>
          <p:nvPr>
            <p:ph type="title"/>
          </p:nvPr>
        </p:nvSpPr>
        <p:spPr/>
        <p:txBody>
          <a:bodyPr/>
          <a:lstStyle/>
          <a:p>
            <a:pPr algn="ctr"/>
            <a:r>
              <a:rPr lang="he-IL" dirty="0">
                <a:cs typeface="+mn-cs"/>
              </a:rPr>
              <a:t>מה ההבדל בין סיגריה אלקטרונית לסיגריות רגילות (טבק)?</a:t>
            </a:r>
          </a:p>
        </p:txBody>
      </p:sp>
      <p:sp>
        <p:nvSpPr>
          <p:cNvPr id="3" name="מציין מיקום תוכן 2">
            <a:extLst>
              <a:ext uri="{FF2B5EF4-FFF2-40B4-BE49-F238E27FC236}">
                <a16:creationId xmlns:a16="http://schemas.microsoft.com/office/drawing/2014/main" id="{28288EFC-958C-40BB-9E36-CC90FD6B0290}"/>
              </a:ext>
            </a:extLst>
          </p:cNvPr>
          <p:cNvSpPr>
            <a:spLocks noGrp="1"/>
          </p:cNvSpPr>
          <p:nvPr>
            <p:ph idx="1"/>
          </p:nvPr>
        </p:nvSpPr>
        <p:spPr>
          <a:xfrm>
            <a:off x="6990080" y="2221865"/>
            <a:ext cx="4638040" cy="1740535"/>
          </a:xfrm>
        </p:spPr>
        <p:txBody>
          <a:bodyPr/>
          <a:lstStyle/>
          <a:p>
            <a:r>
              <a:rPr lang="he-IL" dirty="0"/>
              <a:t>סיגריה אלקטרונית היא מתקן אידוי המדמה את פעולת העישון. והיא מכילה ניקוטין נוזלי.</a:t>
            </a:r>
          </a:p>
        </p:txBody>
      </p:sp>
      <p:sp>
        <p:nvSpPr>
          <p:cNvPr id="4" name="מציין מיקום תוכן 2">
            <a:extLst>
              <a:ext uri="{FF2B5EF4-FFF2-40B4-BE49-F238E27FC236}">
                <a16:creationId xmlns:a16="http://schemas.microsoft.com/office/drawing/2014/main" id="{A06F3CA1-20FC-4DE9-BCA2-91A3DCCDEDFC}"/>
              </a:ext>
            </a:extLst>
          </p:cNvPr>
          <p:cNvSpPr txBox="1">
            <a:spLocks/>
          </p:cNvSpPr>
          <p:nvPr/>
        </p:nvSpPr>
        <p:spPr>
          <a:xfrm>
            <a:off x="-426720" y="2221865"/>
            <a:ext cx="4638040" cy="1740535"/>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t>אין כל הבדל</a:t>
            </a:r>
          </a:p>
        </p:txBody>
      </p:sp>
      <p:sp>
        <p:nvSpPr>
          <p:cNvPr id="5" name="מציין מיקום תוכן 2">
            <a:extLst>
              <a:ext uri="{FF2B5EF4-FFF2-40B4-BE49-F238E27FC236}">
                <a16:creationId xmlns:a16="http://schemas.microsoft.com/office/drawing/2014/main" id="{F47E64EF-046E-4142-B139-BA2504F6750A}"/>
              </a:ext>
            </a:extLst>
          </p:cNvPr>
          <p:cNvSpPr txBox="1">
            <a:spLocks/>
          </p:cNvSpPr>
          <p:nvPr/>
        </p:nvSpPr>
        <p:spPr>
          <a:xfrm>
            <a:off x="2763520" y="4314825"/>
            <a:ext cx="4638040" cy="1740535"/>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t>סיגריה אלקטרונית לא מהווה סיכון לבני נוער להתחלת עישון</a:t>
            </a:r>
          </a:p>
        </p:txBody>
      </p:sp>
    </p:spTree>
    <p:extLst>
      <p:ext uri="{BB962C8B-B14F-4D97-AF65-F5344CB8AC3E}">
        <p14:creationId xmlns:p14="http://schemas.microsoft.com/office/powerpoint/2010/main" val="3619983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5AAC0F-15E1-4A40-9BCF-3996F1366FCB}"/>
              </a:ext>
            </a:extLst>
          </p:cNvPr>
          <p:cNvSpPr>
            <a:spLocks noGrp="1"/>
          </p:cNvSpPr>
          <p:nvPr>
            <p:ph type="title"/>
          </p:nvPr>
        </p:nvSpPr>
        <p:spPr/>
        <p:txBody>
          <a:bodyPr/>
          <a:lstStyle/>
          <a:p>
            <a:pPr algn="ctr"/>
            <a:r>
              <a:rPr lang="he-IL" dirty="0">
                <a:cs typeface="+mn-cs"/>
              </a:rPr>
              <a:t>מהן הסכנות בסיגריה אלקטרונית בעיקר לבני נוער?</a:t>
            </a:r>
          </a:p>
        </p:txBody>
      </p:sp>
      <p:sp>
        <p:nvSpPr>
          <p:cNvPr id="3" name="מציין מיקום תוכן 2">
            <a:extLst>
              <a:ext uri="{FF2B5EF4-FFF2-40B4-BE49-F238E27FC236}">
                <a16:creationId xmlns:a16="http://schemas.microsoft.com/office/drawing/2014/main" id="{28288EFC-958C-40BB-9E36-CC90FD6B0290}"/>
              </a:ext>
            </a:extLst>
          </p:cNvPr>
          <p:cNvSpPr>
            <a:spLocks noGrp="1"/>
          </p:cNvSpPr>
          <p:nvPr>
            <p:ph idx="1"/>
          </p:nvPr>
        </p:nvSpPr>
        <p:spPr>
          <a:xfrm>
            <a:off x="6990080" y="2221865"/>
            <a:ext cx="4638040" cy="1740535"/>
          </a:xfrm>
        </p:spPr>
        <p:txBody>
          <a:bodyPr/>
          <a:lstStyle/>
          <a:p>
            <a:r>
              <a:rPr lang="he-IL" dirty="0"/>
              <a:t>בגלל שהניקוטין בצורת נוזל הוא לא מסוכן</a:t>
            </a:r>
          </a:p>
        </p:txBody>
      </p:sp>
      <p:sp>
        <p:nvSpPr>
          <p:cNvPr id="4" name="מציין מיקום תוכן 2">
            <a:extLst>
              <a:ext uri="{FF2B5EF4-FFF2-40B4-BE49-F238E27FC236}">
                <a16:creationId xmlns:a16="http://schemas.microsoft.com/office/drawing/2014/main" id="{A06F3CA1-20FC-4DE9-BCA2-91A3DCCDEDFC}"/>
              </a:ext>
            </a:extLst>
          </p:cNvPr>
          <p:cNvSpPr txBox="1">
            <a:spLocks/>
          </p:cNvSpPr>
          <p:nvPr/>
        </p:nvSpPr>
        <p:spPr>
          <a:xfrm>
            <a:off x="838200" y="2132489"/>
            <a:ext cx="3190240" cy="1740535"/>
          </a:xfrm>
          <a:prstGeom prst="rect">
            <a:avLst/>
          </a:prstGeom>
        </p:spPr>
        <p:txBody>
          <a:bodyPr vert="horz" lIns="91440" tIns="45720" rIns="91440" bIns="45720" rtlCol="1">
            <a:normAutofit fontScale="850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t>הניקוטין הנמצא בנוזלי המילוי של הסיגריה האלקטרונית ממכר מאוד. הטעמים מאוד אטרקטיביים ומהווים גירוי להתחלת עישון.</a:t>
            </a:r>
          </a:p>
        </p:txBody>
      </p:sp>
      <p:sp>
        <p:nvSpPr>
          <p:cNvPr id="5" name="מציין מיקום תוכן 2">
            <a:extLst>
              <a:ext uri="{FF2B5EF4-FFF2-40B4-BE49-F238E27FC236}">
                <a16:creationId xmlns:a16="http://schemas.microsoft.com/office/drawing/2014/main" id="{F47E64EF-046E-4142-B139-BA2504F6750A}"/>
              </a:ext>
            </a:extLst>
          </p:cNvPr>
          <p:cNvSpPr txBox="1">
            <a:spLocks/>
          </p:cNvSpPr>
          <p:nvPr/>
        </p:nvSpPr>
        <p:spPr>
          <a:xfrm>
            <a:off x="3312160" y="4500562"/>
            <a:ext cx="4638040" cy="1740535"/>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t>אין כל סכנה כי היא מהווה תחליף לעישון סיגריית טבק</a:t>
            </a:r>
          </a:p>
        </p:txBody>
      </p:sp>
    </p:spTree>
    <p:extLst>
      <p:ext uri="{BB962C8B-B14F-4D97-AF65-F5344CB8AC3E}">
        <p14:creationId xmlns:p14="http://schemas.microsoft.com/office/powerpoint/2010/main" val="9418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5AAC0F-15E1-4A40-9BCF-3996F1366FCB}"/>
              </a:ext>
            </a:extLst>
          </p:cNvPr>
          <p:cNvSpPr>
            <a:spLocks noGrp="1"/>
          </p:cNvSpPr>
          <p:nvPr>
            <p:ph type="title"/>
          </p:nvPr>
        </p:nvSpPr>
        <p:spPr/>
        <p:txBody>
          <a:bodyPr/>
          <a:lstStyle/>
          <a:p>
            <a:pPr algn="ctr"/>
            <a:r>
              <a:rPr lang="he-IL" dirty="0">
                <a:cs typeface="+mn-cs"/>
              </a:rPr>
              <a:t>מדוע סיגריות אלקטרוניות מגבירות את הסיכוי  של בני נוער להתחיל לעשן?</a:t>
            </a:r>
          </a:p>
        </p:txBody>
      </p:sp>
      <p:sp>
        <p:nvSpPr>
          <p:cNvPr id="3" name="מציין מיקום תוכן 2">
            <a:extLst>
              <a:ext uri="{FF2B5EF4-FFF2-40B4-BE49-F238E27FC236}">
                <a16:creationId xmlns:a16="http://schemas.microsoft.com/office/drawing/2014/main" id="{28288EFC-958C-40BB-9E36-CC90FD6B0290}"/>
              </a:ext>
            </a:extLst>
          </p:cNvPr>
          <p:cNvSpPr>
            <a:spLocks noGrp="1"/>
          </p:cNvSpPr>
          <p:nvPr>
            <p:ph idx="1"/>
          </p:nvPr>
        </p:nvSpPr>
        <p:spPr>
          <a:xfrm>
            <a:off x="6990080" y="2221865"/>
            <a:ext cx="4638040" cy="1740535"/>
          </a:xfrm>
        </p:spPr>
        <p:txBody>
          <a:bodyPr/>
          <a:lstStyle/>
          <a:p>
            <a:r>
              <a:rPr lang="he-IL" dirty="0"/>
              <a:t>סיגריה אלקטרונית אינה מהווה גורם להתחלת עישון בקרב בני נוער</a:t>
            </a:r>
          </a:p>
        </p:txBody>
      </p:sp>
      <p:sp>
        <p:nvSpPr>
          <p:cNvPr id="4" name="מציין מיקום תוכן 2">
            <a:extLst>
              <a:ext uri="{FF2B5EF4-FFF2-40B4-BE49-F238E27FC236}">
                <a16:creationId xmlns:a16="http://schemas.microsoft.com/office/drawing/2014/main" id="{A06F3CA1-20FC-4DE9-BCA2-91A3DCCDEDFC}"/>
              </a:ext>
            </a:extLst>
          </p:cNvPr>
          <p:cNvSpPr txBox="1">
            <a:spLocks/>
          </p:cNvSpPr>
          <p:nvPr/>
        </p:nvSpPr>
        <p:spPr>
          <a:xfrm>
            <a:off x="838200" y="2132489"/>
            <a:ext cx="3190240" cy="1740535"/>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t>סיגריה אלקטרונית היא אמצעי לגמילה מעישון</a:t>
            </a:r>
          </a:p>
        </p:txBody>
      </p:sp>
      <p:sp>
        <p:nvSpPr>
          <p:cNvPr id="5" name="מציין מיקום תוכן 2">
            <a:extLst>
              <a:ext uri="{FF2B5EF4-FFF2-40B4-BE49-F238E27FC236}">
                <a16:creationId xmlns:a16="http://schemas.microsoft.com/office/drawing/2014/main" id="{F47E64EF-046E-4142-B139-BA2504F6750A}"/>
              </a:ext>
            </a:extLst>
          </p:cNvPr>
          <p:cNvSpPr txBox="1">
            <a:spLocks/>
          </p:cNvSpPr>
          <p:nvPr/>
        </p:nvSpPr>
        <p:spPr>
          <a:xfrm>
            <a:off x="3312160" y="4500562"/>
            <a:ext cx="4638040" cy="1740535"/>
          </a:xfrm>
          <a:prstGeom prst="rect">
            <a:avLst/>
          </a:prstGeom>
        </p:spPr>
        <p:txBody>
          <a:bodyPr vert="horz" lIns="91440" tIns="45720" rIns="91440" bIns="45720" rtlCol="1">
            <a:normAutofit fontScale="925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t>הניקוטין שנמצא בנוזלי המילוי של הסיגריה מאוד ממכר והטעמים אטרקטיביים עבור בני נוער ומניעים אותם להתחלת עישון</a:t>
            </a:r>
          </a:p>
        </p:txBody>
      </p:sp>
    </p:spTree>
    <p:extLst>
      <p:ext uri="{BB962C8B-B14F-4D97-AF65-F5344CB8AC3E}">
        <p14:creationId xmlns:p14="http://schemas.microsoft.com/office/powerpoint/2010/main" val="3903861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2719FA-D1F6-4926-BF68-1AF1525F30AE}"/>
              </a:ext>
            </a:extLst>
          </p:cNvPr>
          <p:cNvSpPr>
            <a:spLocks noGrp="1"/>
          </p:cNvSpPr>
          <p:nvPr>
            <p:ph type="title"/>
          </p:nvPr>
        </p:nvSpPr>
        <p:spPr>
          <a:xfrm>
            <a:off x="1009650" y="669925"/>
            <a:ext cx="10515600" cy="1325563"/>
          </a:xfrm>
        </p:spPr>
        <p:txBody>
          <a:bodyPr>
            <a:normAutofit/>
          </a:bodyPr>
          <a:lstStyle/>
          <a:p>
            <a:pPr algn="ctr"/>
            <a:r>
              <a:rPr lang="he-IL" dirty="0">
                <a:cs typeface="+mn-cs"/>
              </a:rPr>
              <a:t>חברו את הפאזל המצורף וגלו את הסיסמה שמסתתרת</a:t>
            </a:r>
          </a:p>
        </p:txBody>
      </p:sp>
      <p:sp>
        <p:nvSpPr>
          <p:cNvPr id="3" name="מציין מיקום תוכן 2">
            <a:extLst>
              <a:ext uri="{FF2B5EF4-FFF2-40B4-BE49-F238E27FC236}">
                <a16:creationId xmlns:a16="http://schemas.microsoft.com/office/drawing/2014/main" id="{458A68C3-9670-4267-A036-9E18427CDFD1}"/>
              </a:ext>
            </a:extLst>
          </p:cNvPr>
          <p:cNvSpPr>
            <a:spLocks noGrp="1"/>
          </p:cNvSpPr>
          <p:nvPr>
            <p:ph idx="1"/>
          </p:nvPr>
        </p:nvSpPr>
        <p:spPr>
          <a:xfrm>
            <a:off x="676275" y="2790825"/>
            <a:ext cx="10515600" cy="1050925"/>
          </a:xfrm>
        </p:spPr>
        <p:txBody>
          <a:bodyPr/>
          <a:lstStyle/>
          <a:p>
            <a:r>
              <a:rPr lang="en-US" dirty="0">
                <a:hlinkClick r:id="rId2"/>
              </a:rPr>
              <a:t>https://www.jigsawplanet.com/?rc=play&amp;pid=3be575aade7f</a:t>
            </a:r>
            <a:endParaRPr lang="en-US" dirty="0"/>
          </a:p>
          <a:p>
            <a:endParaRPr lang="he-IL" dirty="0"/>
          </a:p>
        </p:txBody>
      </p:sp>
    </p:spTree>
    <p:extLst>
      <p:ext uri="{BB962C8B-B14F-4D97-AF65-F5344CB8AC3E}">
        <p14:creationId xmlns:p14="http://schemas.microsoft.com/office/powerpoint/2010/main" val="3441159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8186D15-7DB7-4FD2-9900-A4F9A48DC92F}"/>
              </a:ext>
            </a:extLst>
          </p:cNvPr>
          <p:cNvSpPr>
            <a:spLocks noGrp="1"/>
          </p:cNvSpPr>
          <p:nvPr>
            <p:ph type="title"/>
          </p:nvPr>
        </p:nvSpPr>
        <p:spPr>
          <a:xfrm>
            <a:off x="838200" y="680085"/>
            <a:ext cx="10515600" cy="1325563"/>
          </a:xfrm>
        </p:spPr>
        <p:txBody>
          <a:bodyPr>
            <a:normAutofit fontScale="90000"/>
          </a:bodyPr>
          <a:lstStyle/>
          <a:p>
            <a:pPr algn="ctr"/>
            <a:r>
              <a:rPr lang="he-IL" dirty="0">
                <a:cs typeface="+mn-cs"/>
              </a:rPr>
              <a:t>גיא, נועה, נופר ועמית החליטו לחזור לשוחח עם יאיר, אבא של גיא על הדברים שגילו ולמדו בדרך.</a:t>
            </a:r>
          </a:p>
        </p:txBody>
      </p:sp>
      <p:sp>
        <p:nvSpPr>
          <p:cNvPr id="3" name="מציין מיקום תוכן 2">
            <a:extLst>
              <a:ext uri="{FF2B5EF4-FFF2-40B4-BE49-F238E27FC236}">
                <a16:creationId xmlns:a16="http://schemas.microsoft.com/office/drawing/2014/main" id="{9ADFFC96-A43E-43E8-8FE8-5A705AB06F2D}"/>
              </a:ext>
            </a:extLst>
          </p:cNvPr>
          <p:cNvSpPr>
            <a:spLocks noGrp="1"/>
          </p:cNvSpPr>
          <p:nvPr>
            <p:ph idx="1"/>
          </p:nvPr>
        </p:nvSpPr>
        <p:spPr>
          <a:xfrm>
            <a:off x="838200" y="2821305"/>
            <a:ext cx="10515600" cy="2207895"/>
          </a:xfrm>
        </p:spPr>
        <p:txBody>
          <a:bodyPr/>
          <a:lstStyle/>
          <a:p>
            <a:r>
              <a:rPr lang="he-IL" dirty="0"/>
              <a:t>הם שיתפו אותו בכל הידע שצברו עד כה. יאיר אמר להם שיש עוד נושא חשוב שכדאי שיקראו עליו - המניפולציות של תעשיות הטבק או במילים אחרות איך התעשייה נכנסת לכם לכיס וגורמת לכם לקנות מוצרי טבק. קראו את המידע בעמוד הבא.</a:t>
            </a:r>
          </a:p>
        </p:txBody>
      </p:sp>
    </p:spTree>
    <p:extLst>
      <p:ext uri="{BB962C8B-B14F-4D97-AF65-F5344CB8AC3E}">
        <p14:creationId xmlns:p14="http://schemas.microsoft.com/office/powerpoint/2010/main" val="341919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9951E27F-D339-4FDF-9363-78587A1555DE}"/>
              </a:ext>
            </a:extLst>
          </p:cNvPr>
          <p:cNvSpPr>
            <a:spLocks noGrp="1"/>
          </p:cNvSpPr>
          <p:nvPr>
            <p:ph type="subTitle" idx="1"/>
          </p:nvPr>
        </p:nvSpPr>
        <p:spPr>
          <a:xfrm>
            <a:off x="73367" y="495070"/>
            <a:ext cx="8261008" cy="5486860"/>
          </a:xfrm>
        </p:spPr>
        <p:txBody>
          <a:bodyPr vert="horz" lIns="91440" tIns="45720" rIns="91440" bIns="45720" rtlCol="0">
            <a:noAutofit/>
          </a:bodyPr>
          <a:lstStyle/>
          <a:p>
            <a:pPr rtl="1">
              <a:lnSpc>
                <a:spcPct val="107000"/>
              </a:lnSpc>
              <a:spcAft>
                <a:spcPts val="800"/>
              </a:spcAft>
            </a:pPr>
            <a:r>
              <a:rPr lang="he-IL" sz="3200" dirty="0">
                <a:effectLst/>
                <a:latin typeface="Calibri" panose="020F0502020204030204" pitchFamily="34" charset="0"/>
                <a:ea typeface="Calibri" panose="020F0502020204030204" pitchFamily="34" charset="0"/>
                <a:cs typeface="Arial" panose="020B0604020202020204" pitchFamily="34" charset="0"/>
              </a:rPr>
              <a:t> </a:t>
            </a:r>
            <a:r>
              <a:rPr lang="he-IL" sz="32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כיצד תעשיית הטבק מנסה לפתות אותנו לעשן?</a:t>
            </a:r>
          </a:p>
          <a:p>
            <a:pPr algn="r" rtl="1">
              <a:lnSpc>
                <a:spcPct val="107000"/>
              </a:lnSpc>
              <a:spcAft>
                <a:spcPts val="800"/>
              </a:spcAft>
            </a:pPr>
            <a:r>
              <a:rPr lang="he-IL" dirty="0">
                <a:effectLst/>
                <a:latin typeface="Calibri" panose="020F0502020204030204" pitchFamily="34" charset="0"/>
                <a:ea typeface="Calibri" panose="020F0502020204030204" pitchFamily="34" charset="0"/>
                <a:cs typeface="Arial" panose="020B0604020202020204" pitchFamily="34" charset="0"/>
              </a:rPr>
              <a:t>לתעשיית הטבק יש אינטרס כלכלי מובהק, מבחינתם ככל שיהיו יותר מעשנים כך הם יזכו לרווח כלכלי גבוה יותר. לפיכך, תעשיית הטבק עושה כל שביכולתה כדי למשוך אותנו להשתמש במוצרי טבק וניקוטין. מצד שני, חלה הגבלה על פרסום מוצרי עישון.</a:t>
            </a:r>
            <a:endParaRPr lang="en-US"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dirty="0">
                <a:effectLst/>
                <a:latin typeface="Calibri" panose="020F0502020204030204" pitchFamily="34" charset="0"/>
                <a:ea typeface="Calibri" panose="020F0502020204030204" pitchFamily="34" charset="0"/>
                <a:cs typeface="Arial" panose="020B0604020202020204" pitchFamily="34" charset="0"/>
              </a:rPr>
              <a:t>אם כך, איך תעשיית הטבק משכנעת אותנו לעשן? היא עושה זאת באופן סמוי, בפרסום עקיף ובפיתויים שונים שחשוב לזהות ולהיות מודעים אליהם, למשל:</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buFont typeface="Symbol" panose="05050102010706020507" pitchFamily="18" charset="2"/>
              <a:buChar char=""/>
            </a:pPr>
            <a:r>
              <a:rPr lang="he-IL" dirty="0">
                <a:effectLst/>
                <a:latin typeface="Calibri" panose="020F0502020204030204" pitchFamily="34" charset="0"/>
                <a:ea typeface="Calibri" panose="020F0502020204030204" pitchFamily="34" charset="0"/>
                <a:cs typeface="Arial" panose="020B0604020202020204" pitchFamily="34" charset="0"/>
              </a:rPr>
              <a:t>פיתוח מוצרי טבק וניקוטין בטעמים אטרקטיביים כמו דובדבנים, מסטיק וממתקים אחרים.</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buFont typeface="Symbol" panose="05050102010706020507" pitchFamily="18" charset="2"/>
              <a:buChar char=""/>
            </a:pPr>
            <a:r>
              <a:rPr lang="he-IL" dirty="0">
                <a:effectLst/>
                <a:latin typeface="Calibri" panose="020F0502020204030204" pitchFamily="34" charset="0"/>
                <a:ea typeface="Calibri" panose="020F0502020204030204" pitchFamily="34" charset="0"/>
                <a:cs typeface="Arial" panose="020B0604020202020204" pitchFamily="34" charset="0"/>
              </a:rPr>
              <a:t>עיצוב צעיר ומיוחד של המוצרים, למשל - מוצרים הנראים כמו </a:t>
            </a:r>
            <a:r>
              <a:rPr lang="en-US" dirty="0">
                <a:effectLst/>
                <a:latin typeface="Calibri" panose="020F0502020204030204" pitchFamily="34" charset="0"/>
                <a:ea typeface="Calibri" panose="020F0502020204030204" pitchFamily="34" charset="0"/>
                <a:cs typeface="Arial" panose="020B0604020202020204" pitchFamily="34" charset="0"/>
              </a:rPr>
              <a:t>USB</a:t>
            </a:r>
            <a:r>
              <a:rPr lang="he-IL" dirty="0">
                <a:effectLst/>
                <a:latin typeface="Calibri" panose="020F0502020204030204" pitchFamily="34" charset="0"/>
                <a:ea typeface="Calibri" panose="020F0502020204030204" pitchFamily="34" charset="0"/>
                <a:cs typeface="Arial" panose="020B0604020202020204" pitchFamily="34" charset="0"/>
              </a:rPr>
              <a:t> או ממתק.</a:t>
            </a:r>
            <a:endParaRPr lang="en-US" dirty="0">
              <a:effectLst/>
              <a:latin typeface="Calibri" panose="020F0502020204030204" pitchFamily="34" charset="0"/>
              <a:ea typeface="Calibri" panose="020F0502020204030204" pitchFamily="34" charset="0"/>
              <a:cs typeface="Arial" panose="020B0604020202020204" pitchFamily="34" charset="0"/>
            </a:endParaRPr>
          </a:p>
          <a:p>
            <a:pPr algn="r"/>
            <a:endParaRPr lang="en-US" dirty="0">
              <a:solidFill>
                <a:schemeClr val="tx1">
                  <a:lumMod val="85000"/>
                  <a:lumOff val="15000"/>
                </a:schemeClr>
              </a:solidFill>
            </a:endParaRPr>
          </a:p>
        </p:txBody>
      </p:sp>
      <p:pic>
        <p:nvPicPr>
          <p:cNvPr id="5" name="תמונה 4" descr="תמונה שמכילה טקסט, שלט, עצור&#10;&#10;התיאור נוצר באופן אוטומטי">
            <a:extLst>
              <a:ext uri="{FF2B5EF4-FFF2-40B4-BE49-F238E27FC236}">
                <a16:creationId xmlns:a16="http://schemas.microsoft.com/office/drawing/2014/main" id="{42B979DB-2C7A-426C-9AE3-99468FBC0848}"/>
              </a:ext>
            </a:extLst>
          </p:cNvPr>
          <p:cNvPicPr>
            <a:picLocks noChangeAspect="1"/>
          </p:cNvPicPr>
          <p:nvPr/>
        </p:nvPicPr>
        <p:blipFill rotWithShape="1">
          <a:blip r:embed="rId2">
            <a:extLst>
              <a:ext uri="{28A0092B-C50C-407E-A947-70E740481C1C}">
                <a14:useLocalDpi xmlns:a14="http://schemas.microsoft.com/office/drawing/2010/main" val="0"/>
              </a:ext>
            </a:extLst>
          </a:blip>
          <a:srcRect l="14862"/>
          <a:stretch/>
        </p:blipFill>
        <p:spPr>
          <a:xfrm>
            <a:off x="8401050" y="3429000"/>
            <a:ext cx="3790950" cy="3429000"/>
          </a:xfrm>
          <a:custGeom>
            <a:avLst/>
            <a:gdLst/>
            <a:ahLst/>
            <a:cxnLst/>
            <a:rect l="l" t="t" r="r" b="b"/>
            <a:pathLst>
              <a:path w="4390035" h="3429000">
                <a:moveTo>
                  <a:pt x="73290" y="0"/>
                </a:moveTo>
                <a:lnTo>
                  <a:pt x="4390035" y="0"/>
                </a:lnTo>
                <a:lnTo>
                  <a:pt x="4390035" y="3429000"/>
                </a:lnTo>
                <a:lnTo>
                  <a:pt x="436073" y="3429000"/>
                </a:lnTo>
                <a:lnTo>
                  <a:pt x="427332" y="3410468"/>
                </a:lnTo>
                <a:cubicBezTo>
                  <a:pt x="419323" y="3391643"/>
                  <a:pt x="413863" y="3372861"/>
                  <a:pt x="421685" y="3366814"/>
                </a:cubicBezTo>
                <a:cubicBezTo>
                  <a:pt x="417583" y="3332384"/>
                  <a:pt x="433681" y="3294011"/>
                  <a:pt x="423663" y="3247798"/>
                </a:cubicBezTo>
                <a:cubicBezTo>
                  <a:pt x="421194" y="3188032"/>
                  <a:pt x="418245" y="3205513"/>
                  <a:pt x="412524" y="3110724"/>
                </a:cubicBezTo>
                <a:cubicBezTo>
                  <a:pt x="404022" y="3069386"/>
                  <a:pt x="436006" y="3027577"/>
                  <a:pt x="419732" y="3004503"/>
                </a:cubicBezTo>
                <a:cubicBezTo>
                  <a:pt x="407578" y="2949657"/>
                  <a:pt x="388511" y="2896851"/>
                  <a:pt x="363651" y="2842588"/>
                </a:cubicBezTo>
                <a:cubicBezTo>
                  <a:pt x="332103" y="2797699"/>
                  <a:pt x="331554" y="2711800"/>
                  <a:pt x="263212" y="2651456"/>
                </a:cubicBezTo>
                <a:cubicBezTo>
                  <a:pt x="235935" y="2585326"/>
                  <a:pt x="214760" y="2535145"/>
                  <a:pt x="194330" y="2484251"/>
                </a:cubicBezTo>
                <a:cubicBezTo>
                  <a:pt x="184580" y="2468441"/>
                  <a:pt x="154039" y="2380429"/>
                  <a:pt x="140630" y="2346096"/>
                </a:cubicBezTo>
                <a:cubicBezTo>
                  <a:pt x="76681" y="2257531"/>
                  <a:pt x="91260" y="2243719"/>
                  <a:pt x="77185" y="2144811"/>
                </a:cubicBezTo>
                <a:cubicBezTo>
                  <a:pt x="66953" y="2112233"/>
                  <a:pt x="67414" y="2096078"/>
                  <a:pt x="50887" y="2061697"/>
                </a:cubicBezTo>
                <a:lnTo>
                  <a:pt x="27133" y="1969379"/>
                </a:lnTo>
                <a:lnTo>
                  <a:pt x="29988" y="1961973"/>
                </a:lnTo>
                <a:lnTo>
                  <a:pt x="31559" y="1961231"/>
                </a:lnTo>
                <a:lnTo>
                  <a:pt x="14905" y="1880268"/>
                </a:lnTo>
                <a:cubicBezTo>
                  <a:pt x="12271" y="1874644"/>
                  <a:pt x="-805" y="1860096"/>
                  <a:pt x="2188" y="1847922"/>
                </a:cubicBezTo>
                <a:lnTo>
                  <a:pt x="21879" y="1779161"/>
                </a:lnTo>
                <a:lnTo>
                  <a:pt x="27968" y="1733684"/>
                </a:lnTo>
                <a:cubicBezTo>
                  <a:pt x="25035" y="1726530"/>
                  <a:pt x="21617" y="1619937"/>
                  <a:pt x="16511" y="1614373"/>
                </a:cubicBezTo>
                <a:cubicBezTo>
                  <a:pt x="47946" y="1547691"/>
                  <a:pt x="4394" y="1556097"/>
                  <a:pt x="12613" y="1479987"/>
                </a:cubicBezTo>
                <a:cubicBezTo>
                  <a:pt x="15110" y="1387360"/>
                  <a:pt x="4986" y="1320420"/>
                  <a:pt x="4190" y="1214801"/>
                </a:cubicBezTo>
                <a:cubicBezTo>
                  <a:pt x="3611" y="1152457"/>
                  <a:pt x="-6268" y="1080052"/>
                  <a:pt x="6503" y="966549"/>
                </a:cubicBezTo>
                <a:cubicBezTo>
                  <a:pt x="10182" y="901722"/>
                  <a:pt x="25065" y="884915"/>
                  <a:pt x="20609" y="845066"/>
                </a:cubicBezTo>
                <a:cubicBezTo>
                  <a:pt x="20199" y="816540"/>
                  <a:pt x="19791" y="788014"/>
                  <a:pt x="19381" y="759488"/>
                </a:cubicBezTo>
                <a:lnTo>
                  <a:pt x="21672" y="741102"/>
                </a:lnTo>
                <a:lnTo>
                  <a:pt x="30720" y="737125"/>
                </a:lnTo>
                <a:lnTo>
                  <a:pt x="23211" y="691098"/>
                </a:lnTo>
                <a:cubicBezTo>
                  <a:pt x="25461" y="680873"/>
                  <a:pt x="43338" y="650431"/>
                  <a:pt x="42062" y="637700"/>
                </a:cubicBezTo>
                <a:cubicBezTo>
                  <a:pt x="23297" y="593852"/>
                  <a:pt x="30263" y="601340"/>
                  <a:pt x="41571" y="540174"/>
                </a:cubicBezTo>
                <a:cubicBezTo>
                  <a:pt x="35397" y="519975"/>
                  <a:pt x="35174" y="428356"/>
                  <a:pt x="46636" y="415352"/>
                </a:cubicBezTo>
                <a:cubicBezTo>
                  <a:pt x="48960" y="401821"/>
                  <a:pt x="44602" y="386587"/>
                  <a:pt x="56977" y="379461"/>
                </a:cubicBezTo>
                <a:cubicBezTo>
                  <a:pt x="71829" y="368123"/>
                  <a:pt x="47958" y="323384"/>
                  <a:pt x="65759" y="328645"/>
                </a:cubicBezTo>
                <a:cubicBezTo>
                  <a:pt x="49386" y="296830"/>
                  <a:pt x="65237" y="231983"/>
                  <a:pt x="72589" y="203608"/>
                </a:cubicBezTo>
                <a:cubicBezTo>
                  <a:pt x="75524" y="153257"/>
                  <a:pt x="77980" y="142710"/>
                  <a:pt x="78370" y="105992"/>
                </a:cubicBezTo>
                <a:cubicBezTo>
                  <a:pt x="80828" y="104127"/>
                  <a:pt x="70890" y="52128"/>
                  <a:pt x="70125" y="25135"/>
                </a:cubicBezTo>
                <a:close/>
              </a:path>
            </a:pathLst>
          </a:custGeom>
        </p:spPr>
      </p:pic>
      <p:pic>
        <p:nvPicPr>
          <p:cNvPr id="7" name="תמונה 6">
            <a:extLst>
              <a:ext uri="{FF2B5EF4-FFF2-40B4-BE49-F238E27FC236}">
                <a16:creationId xmlns:a16="http://schemas.microsoft.com/office/drawing/2014/main" id="{4E8BB943-14FD-43DF-AB20-D07F1E5715AE}"/>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l="16056" r="-2" b="-2"/>
          <a:stretch/>
        </p:blipFill>
        <p:spPr>
          <a:xfrm>
            <a:off x="8401050" y="-17"/>
            <a:ext cx="3790949" cy="3432349"/>
          </a:xfrm>
          <a:custGeom>
            <a:avLst/>
            <a:gdLst/>
            <a:ahLst/>
            <a:cxnLst/>
            <a:rect l="l" t="t" r="r" b="b"/>
            <a:pathLst>
              <a:path w="4349068" h="3428999">
                <a:moveTo>
                  <a:pt x="711944" y="0"/>
                </a:moveTo>
                <a:lnTo>
                  <a:pt x="4349068" y="0"/>
                </a:lnTo>
                <a:lnTo>
                  <a:pt x="4349068" y="3428999"/>
                </a:lnTo>
                <a:lnTo>
                  <a:pt x="32307" y="3428999"/>
                </a:lnTo>
                <a:lnTo>
                  <a:pt x="34693" y="3410051"/>
                </a:lnTo>
                <a:cubicBezTo>
                  <a:pt x="37039" y="3395347"/>
                  <a:pt x="38143" y="3381819"/>
                  <a:pt x="32792" y="3373027"/>
                </a:cubicBezTo>
                <a:cubicBezTo>
                  <a:pt x="29961" y="3298527"/>
                  <a:pt x="20335" y="3290617"/>
                  <a:pt x="14318" y="3222737"/>
                </a:cubicBezTo>
                <a:cubicBezTo>
                  <a:pt x="11384" y="3146284"/>
                  <a:pt x="-6116" y="3184007"/>
                  <a:pt x="2241" y="3118188"/>
                </a:cubicBezTo>
                <a:cubicBezTo>
                  <a:pt x="16306" y="3109217"/>
                  <a:pt x="34183" y="3024732"/>
                  <a:pt x="27952" y="3003808"/>
                </a:cubicBezTo>
                <a:cubicBezTo>
                  <a:pt x="27563" y="2966753"/>
                  <a:pt x="27366" y="2989870"/>
                  <a:pt x="27149" y="2944921"/>
                </a:cubicBezTo>
                <a:lnTo>
                  <a:pt x="41941" y="2877744"/>
                </a:lnTo>
                <a:cubicBezTo>
                  <a:pt x="36258" y="2880724"/>
                  <a:pt x="54303" y="2822146"/>
                  <a:pt x="53926" y="2807161"/>
                </a:cubicBezTo>
                <a:cubicBezTo>
                  <a:pt x="56083" y="2775643"/>
                  <a:pt x="30060" y="2769288"/>
                  <a:pt x="53334" y="2752347"/>
                </a:cubicBezTo>
                <a:lnTo>
                  <a:pt x="60008" y="2748299"/>
                </a:lnTo>
                <a:cubicBezTo>
                  <a:pt x="60210" y="2745962"/>
                  <a:pt x="60411" y="2743625"/>
                  <a:pt x="60613" y="2741288"/>
                </a:cubicBezTo>
                <a:cubicBezTo>
                  <a:pt x="60116" y="2737657"/>
                  <a:pt x="58269" y="2735847"/>
                  <a:pt x="53819" y="2737160"/>
                </a:cubicBezTo>
                <a:cubicBezTo>
                  <a:pt x="70191" y="2705347"/>
                  <a:pt x="64153" y="2699356"/>
                  <a:pt x="66799" y="2659631"/>
                </a:cubicBezTo>
                <a:cubicBezTo>
                  <a:pt x="77943" y="2612127"/>
                  <a:pt x="64846" y="2628594"/>
                  <a:pt x="86795" y="2573336"/>
                </a:cubicBezTo>
                <a:cubicBezTo>
                  <a:pt x="96119" y="2559732"/>
                  <a:pt x="108676" y="2541339"/>
                  <a:pt x="108890" y="2528057"/>
                </a:cubicBezTo>
                <a:lnTo>
                  <a:pt x="137074" y="2489594"/>
                </a:lnTo>
                <a:cubicBezTo>
                  <a:pt x="138076" y="2487774"/>
                  <a:pt x="138422" y="2473350"/>
                  <a:pt x="137897" y="2468303"/>
                </a:cubicBezTo>
                <a:lnTo>
                  <a:pt x="155171" y="2460480"/>
                </a:lnTo>
                <a:lnTo>
                  <a:pt x="147972" y="2423535"/>
                </a:lnTo>
                <a:lnTo>
                  <a:pt x="155293" y="2404394"/>
                </a:lnTo>
                <a:cubicBezTo>
                  <a:pt x="172891" y="2392610"/>
                  <a:pt x="160687" y="2347474"/>
                  <a:pt x="168818" y="2324643"/>
                </a:cubicBezTo>
                <a:cubicBezTo>
                  <a:pt x="169390" y="2297698"/>
                  <a:pt x="193082" y="2284202"/>
                  <a:pt x="198340" y="2255535"/>
                </a:cubicBezTo>
                <a:cubicBezTo>
                  <a:pt x="214268" y="2249648"/>
                  <a:pt x="228319" y="2207828"/>
                  <a:pt x="217338" y="2184679"/>
                </a:cubicBezTo>
                <a:lnTo>
                  <a:pt x="242924" y="2093132"/>
                </a:lnTo>
                <a:cubicBezTo>
                  <a:pt x="264937" y="2084587"/>
                  <a:pt x="280562" y="1985868"/>
                  <a:pt x="290446" y="1950235"/>
                </a:cubicBezTo>
                <a:cubicBezTo>
                  <a:pt x="308239" y="1920183"/>
                  <a:pt x="350073" y="1898905"/>
                  <a:pt x="361001" y="1861568"/>
                </a:cubicBezTo>
                <a:cubicBezTo>
                  <a:pt x="367163" y="1810687"/>
                  <a:pt x="352049" y="1869507"/>
                  <a:pt x="356015" y="1809499"/>
                </a:cubicBezTo>
                <a:cubicBezTo>
                  <a:pt x="355145" y="1754297"/>
                  <a:pt x="367821" y="1767680"/>
                  <a:pt x="375846" y="1693716"/>
                </a:cubicBezTo>
                <a:cubicBezTo>
                  <a:pt x="374712" y="1654244"/>
                  <a:pt x="382062" y="1627007"/>
                  <a:pt x="381776" y="1605195"/>
                </a:cubicBezTo>
                <a:cubicBezTo>
                  <a:pt x="389848" y="1568952"/>
                  <a:pt x="392552" y="1564518"/>
                  <a:pt x="396301" y="1516217"/>
                </a:cubicBezTo>
                <a:cubicBezTo>
                  <a:pt x="401397" y="1488452"/>
                  <a:pt x="428137" y="1457870"/>
                  <a:pt x="409866" y="1429841"/>
                </a:cubicBezTo>
                <a:cubicBezTo>
                  <a:pt x="422203" y="1412325"/>
                  <a:pt x="460064" y="1413592"/>
                  <a:pt x="442210" y="1380081"/>
                </a:cubicBezTo>
                <a:cubicBezTo>
                  <a:pt x="464590" y="1394128"/>
                  <a:pt x="443394" y="1335176"/>
                  <a:pt x="463662" y="1334891"/>
                </a:cubicBezTo>
                <a:cubicBezTo>
                  <a:pt x="480316" y="1336427"/>
                  <a:pt x="515162" y="1194568"/>
                  <a:pt x="519523" y="1185551"/>
                </a:cubicBezTo>
                <a:cubicBezTo>
                  <a:pt x="527731" y="1149210"/>
                  <a:pt x="536547" y="1148087"/>
                  <a:pt x="542909" y="1111168"/>
                </a:cubicBezTo>
                <a:cubicBezTo>
                  <a:pt x="555522" y="1057226"/>
                  <a:pt x="531818" y="1022543"/>
                  <a:pt x="543055" y="993353"/>
                </a:cubicBezTo>
                <a:cubicBezTo>
                  <a:pt x="559986" y="960214"/>
                  <a:pt x="580459" y="867450"/>
                  <a:pt x="592544" y="813953"/>
                </a:cubicBezTo>
                <a:cubicBezTo>
                  <a:pt x="604272" y="746430"/>
                  <a:pt x="608119" y="666470"/>
                  <a:pt x="613420" y="588218"/>
                </a:cubicBezTo>
                <a:cubicBezTo>
                  <a:pt x="604962" y="475380"/>
                  <a:pt x="590630" y="536119"/>
                  <a:pt x="596055" y="376479"/>
                </a:cubicBezTo>
                <a:lnTo>
                  <a:pt x="605018" y="280992"/>
                </a:lnTo>
                <a:cubicBezTo>
                  <a:pt x="604854" y="276227"/>
                  <a:pt x="610771" y="223140"/>
                  <a:pt x="610608" y="218374"/>
                </a:cubicBezTo>
                <a:lnTo>
                  <a:pt x="604880" y="188178"/>
                </a:lnTo>
                <a:lnTo>
                  <a:pt x="630913" y="152404"/>
                </a:lnTo>
                <a:cubicBezTo>
                  <a:pt x="640688" y="136342"/>
                  <a:pt x="647365" y="122048"/>
                  <a:pt x="663530" y="91810"/>
                </a:cubicBezTo>
                <a:lnTo>
                  <a:pt x="705264" y="3016"/>
                </a:lnTo>
                <a:close/>
              </a:path>
            </a:pathLst>
          </a:custGeom>
        </p:spPr>
      </p:pic>
    </p:spTree>
    <p:extLst>
      <p:ext uri="{BB962C8B-B14F-4D97-AF65-F5344CB8AC3E}">
        <p14:creationId xmlns:p14="http://schemas.microsoft.com/office/powerpoint/2010/main" val="989164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9951E27F-D339-4FDF-9363-78587A1555DE}"/>
              </a:ext>
            </a:extLst>
          </p:cNvPr>
          <p:cNvSpPr>
            <a:spLocks noGrp="1"/>
          </p:cNvSpPr>
          <p:nvPr>
            <p:ph type="subTitle" idx="1"/>
          </p:nvPr>
        </p:nvSpPr>
        <p:spPr>
          <a:xfrm>
            <a:off x="140041" y="372111"/>
            <a:ext cx="8261008" cy="5486860"/>
          </a:xfrm>
        </p:spPr>
        <p:txBody>
          <a:bodyPr vert="horz" lIns="91440" tIns="45720" rIns="91440" bIns="45720" rtlCol="0">
            <a:noAutofit/>
          </a:bodyPr>
          <a:lstStyle/>
          <a:p>
            <a:pPr marL="342900" lvl="0" indent="-342900" algn="r" rtl="1">
              <a:lnSpc>
                <a:spcPct val="107000"/>
              </a:lnSpc>
              <a:buFont typeface="Symbol" panose="05050102010706020507" pitchFamily="18" charset="2"/>
              <a:buChar char=""/>
            </a:pPr>
            <a:r>
              <a:rPr lang="he-IL" sz="2800" dirty="0">
                <a:effectLst/>
                <a:latin typeface="Calibri" panose="020F0502020204030204" pitchFamily="34" charset="0"/>
                <a:ea typeface="Calibri" panose="020F0502020204030204" pitchFamily="34" charset="0"/>
                <a:cs typeface="Arial" panose="020B0604020202020204" pitchFamily="34" charset="0"/>
              </a:rPr>
              <a:t>קידום מוצרים כחלופות "פחות מזיקות" לעומת סיגריות רגילות, בהיעדר עדויות מדעיות אובייקטיביות שעליהן מתבססים.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buFont typeface="Symbol" panose="05050102010706020507" pitchFamily="18" charset="2"/>
              <a:buChar char=""/>
            </a:pPr>
            <a:r>
              <a:rPr lang="he-IL" sz="2800" dirty="0">
                <a:effectLst/>
                <a:latin typeface="Calibri" panose="020F0502020204030204" pitchFamily="34" charset="0"/>
                <a:ea typeface="Calibri" panose="020F0502020204030204" pitchFamily="34" charset="0"/>
                <a:cs typeface="Arial" panose="020B0604020202020204" pitchFamily="34" charset="0"/>
              </a:rPr>
              <a:t>מתן חסויות לידוענים ולתחרויות של מותגים כדי לפרסם את מוצרי הטבק והניקוטין.</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buFont typeface="Symbol" panose="05050102010706020507" pitchFamily="18" charset="2"/>
              <a:buChar char=""/>
            </a:pPr>
            <a:r>
              <a:rPr lang="he-IL" sz="2800" dirty="0">
                <a:effectLst/>
                <a:latin typeface="Calibri" panose="020F0502020204030204" pitchFamily="34" charset="0"/>
                <a:ea typeface="Calibri" panose="020F0502020204030204" pitchFamily="34" charset="0"/>
                <a:cs typeface="Arial" panose="020B0604020202020204" pitchFamily="34" charset="0"/>
              </a:rPr>
              <a:t>מכירה של סיגריות בודדות ומוצרי טבק וניקוטין אחרים ליד בתי ספר ובמרכזי בילוי של צעירים.</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spcAft>
                <a:spcPts val="800"/>
              </a:spcAft>
              <a:buFont typeface="Symbol" panose="05050102010706020507" pitchFamily="18" charset="2"/>
              <a:buChar char=""/>
            </a:pPr>
            <a:r>
              <a:rPr lang="he-IL" sz="2800" dirty="0">
                <a:effectLst/>
                <a:latin typeface="Calibri" panose="020F0502020204030204" pitchFamily="34" charset="0"/>
                <a:ea typeface="Calibri" panose="020F0502020204030204" pitchFamily="34" charset="0"/>
                <a:cs typeface="Arial" panose="020B0604020202020204" pitchFamily="34" charset="0"/>
              </a:rPr>
              <a:t>פרסום עקיף ולא מודע של סיגריות בסרטים, בטלוויזיה, ברשת.</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algn="ctr" rtl="1">
              <a:lnSpc>
                <a:spcPct val="107000"/>
              </a:lnSpc>
              <a:spcAft>
                <a:spcPts val="800"/>
              </a:spcAft>
            </a:pPr>
            <a:r>
              <a:rPr lang="he-IL" sz="2800" b="1" dirty="0">
                <a:solidFill>
                  <a:srgbClr val="FF0000"/>
                </a:solidFill>
                <a:effectLst/>
                <a:latin typeface="Calibri" panose="020F0502020204030204" pitchFamily="34" charset="0"/>
                <a:ea typeface="Calibri" panose="020F0502020204030204" pitchFamily="34" charset="0"/>
              </a:rPr>
              <a:t>בואו לא נאפשר לעשן לבלבל לנו את הראייה –  נזהה ונהיה מודעים גם לפרסומת סמויה!</a:t>
            </a:r>
            <a:endParaRPr lang="en-US" sz="2800" dirty="0">
              <a:solidFill>
                <a:srgbClr val="FF0000"/>
              </a:solidFill>
              <a:effectLst/>
              <a:latin typeface="Calibri" panose="020F0502020204030204" pitchFamily="34" charset="0"/>
              <a:ea typeface="Calibri" panose="020F0502020204030204" pitchFamily="34" charset="0"/>
            </a:endParaRPr>
          </a:p>
          <a:p>
            <a:pPr indent="-228600" algn="r">
              <a:buFont typeface="Arial" panose="020B0604020202020204" pitchFamily="34" charset="0"/>
              <a:buChar char="•"/>
            </a:pPr>
            <a:endParaRPr lang="en-US" sz="2800" dirty="0">
              <a:solidFill>
                <a:schemeClr val="tx1">
                  <a:lumMod val="85000"/>
                  <a:lumOff val="15000"/>
                </a:schemeClr>
              </a:solidFill>
            </a:endParaRPr>
          </a:p>
        </p:txBody>
      </p:sp>
      <p:pic>
        <p:nvPicPr>
          <p:cNvPr id="5" name="תמונה 4" descr="תמונה שמכילה טקסט, שלט, עצור&#10;&#10;התיאור נוצר באופן אוטומטי">
            <a:extLst>
              <a:ext uri="{FF2B5EF4-FFF2-40B4-BE49-F238E27FC236}">
                <a16:creationId xmlns:a16="http://schemas.microsoft.com/office/drawing/2014/main" id="{42B979DB-2C7A-426C-9AE3-99468FBC0848}"/>
              </a:ext>
            </a:extLst>
          </p:cNvPr>
          <p:cNvPicPr>
            <a:picLocks noChangeAspect="1"/>
          </p:cNvPicPr>
          <p:nvPr/>
        </p:nvPicPr>
        <p:blipFill rotWithShape="1">
          <a:blip r:embed="rId2">
            <a:extLst>
              <a:ext uri="{28A0092B-C50C-407E-A947-70E740481C1C}">
                <a14:useLocalDpi xmlns:a14="http://schemas.microsoft.com/office/drawing/2010/main" val="0"/>
              </a:ext>
            </a:extLst>
          </a:blip>
          <a:srcRect l="14862"/>
          <a:stretch/>
        </p:blipFill>
        <p:spPr>
          <a:xfrm>
            <a:off x="8401050" y="3429000"/>
            <a:ext cx="3790950" cy="3429000"/>
          </a:xfrm>
          <a:custGeom>
            <a:avLst/>
            <a:gdLst/>
            <a:ahLst/>
            <a:cxnLst/>
            <a:rect l="l" t="t" r="r" b="b"/>
            <a:pathLst>
              <a:path w="4390035" h="3429000">
                <a:moveTo>
                  <a:pt x="73290" y="0"/>
                </a:moveTo>
                <a:lnTo>
                  <a:pt x="4390035" y="0"/>
                </a:lnTo>
                <a:lnTo>
                  <a:pt x="4390035" y="3429000"/>
                </a:lnTo>
                <a:lnTo>
                  <a:pt x="436073" y="3429000"/>
                </a:lnTo>
                <a:lnTo>
                  <a:pt x="427332" y="3410468"/>
                </a:lnTo>
                <a:cubicBezTo>
                  <a:pt x="419323" y="3391643"/>
                  <a:pt x="413863" y="3372861"/>
                  <a:pt x="421685" y="3366814"/>
                </a:cubicBezTo>
                <a:cubicBezTo>
                  <a:pt x="417583" y="3332384"/>
                  <a:pt x="433681" y="3294011"/>
                  <a:pt x="423663" y="3247798"/>
                </a:cubicBezTo>
                <a:cubicBezTo>
                  <a:pt x="421194" y="3188032"/>
                  <a:pt x="418245" y="3205513"/>
                  <a:pt x="412524" y="3110724"/>
                </a:cubicBezTo>
                <a:cubicBezTo>
                  <a:pt x="404022" y="3069386"/>
                  <a:pt x="436006" y="3027577"/>
                  <a:pt x="419732" y="3004503"/>
                </a:cubicBezTo>
                <a:cubicBezTo>
                  <a:pt x="407578" y="2949657"/>
                  <a:pt x="388511" y="2896851"/>
                  <a:pt x="363651" y="2842588"/>
                </a:cubicBezTo>
                <a:cubicBezTo>
                  <a:pt x="332103" y="2797699"/>
                  <a:pt x="331554" y="2711800"/>
                  <a:pt x="263212" y="2651456"/>
                </a:cubicBezTo>
                <a:cubicBezTo>
                  <a:pt x="235935" y="2585326"/>
                  <a:pt x="214760" y="2535145"/>
                  <a:pt x="194330" y="2484251"/>
                </a:cubicBezTo>
                <a:cubicBezTo>
                  <a:pt x="184580" y="2468441"/>
                  <a:pt x="154039" y="2380429"/>
                  <a:pt x="140630" y="2346096"/>
                </a:cubicBezTo>
                <a:cubicBezTo>
                  <a:pt x="76681" y="2257531"/>
                  <a:pt x="91260" y="2243719"/>
                  <a:pt x="77185" y="2144811"/>
                </a:cubicBezTo>
                <a:cubicBezTo>
                  <a:pt x="66953" y="2112233"/>
                  <a:pt x="67414" y="2096078"/>
                  <a:pt x="50887" y="2061697"/>
                </a:cubicBezTo>
                <a:lnTo>
                  <a:pt x="27133" y="1969379"/>
                </a:lnTo>
                <a:lnTo>
                  <a:pt x="29988" y="1961973"/>
                </a:lnTo>
                <a:lnTo>
                  <a:pt x="31559" y="1961231"/>
                </a:lnTo>
                <a:lnTo>
                  <a:pt x="14905" y="1880268"/>
                </a:lnTo>
                <a:cubicBezTo>
                  <a:pt x="12271" y="1874644"/>
                  <a:pt x="-805" y="1860096"/>
                  <a:pt x="2188" y="1847922"/>
                </a:cubicBezTo>
                <a:lnTo>
                  <a:pt x="21879" y="1779161"/>
                </a:lnTo>
                <a:lnTo>
                  <a:pt x="27968" y="1733684"/>
                </a:lnTo>
                <a:cubicBezTo>
                  <a:pt x="25035" y="1726530"/>
                  <a:pt x="21617" y="1619937"/>
                  <a:pt x="16511" y="1614373"/>
                </a:cubicBezTo>
                <a:cubicBezTo>
                  <a:pt x="47946" y="1547691"/>
                  <a:pt x="4394" y="1556097"/>
                  <a:pt x="12613" y="1479987"/>
                </a:cubicBezTo>
                <a:cubicBezTo>
                  <a:pt x="15110" y="1387360"/>
                  <a:pt x="4986" y="1320420"/>
                  <a:pt x="4190" y="1214801"/>
                </a:cubicBezTo>
                <a:cubicBezTo>
                  <a:pt x="3611" y="1152457"/>
                  <a:pt x="-6268" y="1080052"/>
                  <a:pt x="6503" y="966549"/>
                </a:cubicBezTo>
                <a:cubicBezTo>
                  <a:pt x="10182" y="901722"/>
                  <a:pt x="25065" y="884915"/>
                  <a:pt x="20609" y="845066"/>
                </a:cubicBezTo>
                <a:cubicBezTo>
                  <a:pt x="20199" y="816540"/>
                  <a:pt x="19791" y="788014"/>
                  <a:pt x="19381" y="759488"/>
                </a:cubicBezTo>
                <a:lnTo>
                  <a:pt x="21672" y="741102"/>
                </a:lnTo>
                <a:lnTo>
                  <a:pt x="30720" y="737125"/>
                </a:lnTo>
                <a:lnTo>
                  <a:pt x="23211" y="691098"/>
                </a:lnTo>
                <a:cubicBezTo>
                  <a:pt x="25461" y="680873"/>
                  <a:pt x="43338" y="650431"/>
                  <a:pt x="42062" y="637700"/>
                </a:cubicBezTo>
                <a:cubicBezTo>
                  <a:pt x="23297" y="593852"/>
                  <a:pt x="30263" y="601340"/>
                  <a:pt x="41571" y="540174"/>
                </a:cubicBezTo>
                <a:cubicBezTo>
                  <a:pt x="35397" y="519975"/>
                  <a:pt x="35174" y="428356"/>
                  <a:pt x="46636" y="415352"/>
                </a:cubicBezTo>
                <a:cubicBezTo>
                  <a:pt x="48960" y="401821"/>
                  <a:pt x="44602" y="386587"/>
                  <a:pt x="56977" y="379461"/>
                </a:cubicBezTo>
                <a:cubicBezTo>
                  <a:pt x="71829" y="368123"/>
                  <a:pt x="47958" y="323384"/>
                  <a:pt x="65759" y="328645"/>
                </a:cubicBezTo>
                <a:cubicBezTo>
                  <a:pt x="49386" y="296830"/>
                  <a:pt x="65237" y="231983"/>
                  <a:pt x="72589" y="203608"/>
                </a:cubicBezTo>
                <a:cubicBezTo>
                  <a:pt x="75524" y="153257"/>
                  <a:pt x="77980" y="142710"/>
                  <a:pt x="78370" y="105992"/>
                </a:cubicBezTo>
                <a:cubicBezTo>
                  <a:pt x="80828" y="104127"/>
                  <a:pt x="70890" y="52128"/>
                  <a:pt x="70125" y="25135"/>
                </a:cubicBezTo>
                <a:close/>
              </a:path>
            </a:pathLst>
          </a:custGeom>
        </p:spPr>
      </p:pic>
      <p:pic>
        <p:nvPicPr>
          <p:cNvPr id="7" name="תמונה 6">
            <a:extLst>
              <a:ext uri="{FF2B5EF4-FFF2-40B4-BE49-F238E27FC236}">
                <a16:creationId xmlns:a16="http://schemas.microsoft.com/office/drawing/2014/main" id="{4E8BB943-14FD-43DF-AB20-D07F1E5715AE}"/>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l="16056" r="-2" b="-2"/>
          <a:stretch/>
        </p:blipFill>
        <p:spPr>
          <a:xfrm>
            <a:off x="8401050" y="-17"/>
            <a:ext cx="3790949" cy="3432349"/>
          </a:xfrm>
          <a:custGeom>
            <a:avLst/>
            <a:gdLst/>
            <a:ahLst/>
            <a:cxnLst/>
            <a:rect l="l" t="t" r="r" b="b"/>
            <a:pathLst>
              <a:path w="4349068" h="3428999">
                <a:moveTo>
                  <a:pt x="711944" y="0"/>
                </a:moveTo>
                <a:lnTo>
                  <a:pt x="4349068" y="0"/>
                </a:lnTo>
                <a:lnTo>
                  <a:pt x="4349068" y="3428999"/>
                </a:lnTo>
                <a:lnTo>
                  <a:pt x="32307" y="3428999"/>
                </a:lnTo>
                <a:lnTo>
                  <a:pt x="34693" y="3410051"/>
                </a:lnTo>
                <a:cubicBezTo>
                  <a:pt x="37039" y="3395347"/>
                  <a:pt x="38143" y="3381819"/>
                  <a:pt x="32792" y="3373027"/>
                </a:cubicBezTo>
                <a:cubicBezTo>
                  <a:pt x="29961" y="3298527"/>
                  <a:pt x="20335" y="3290617"/>
                  <a:pt x="14318" y="3222737"/>
                </a:cubicBezTo>
                <a:cubicBezTo>
                  <a:pt x="11384" y="3146284"/>
                  <a:pt x="-6116" y="3184007"/>
                  <a:pt x="2241" y="3118188"/>
                </a:cubicBezTo>
                <a:cubicBezTo>
                  <a:pt x="16306" y="3109217"/>
                  <a:pt x="34183" y="3024732"/>
                  <a:pt x="27952" y="3003808"/>
                </a:cubicBezTo>
                <a:cubicBezTo>
                  <a:pt x="27563" y="2966753"/>
                  <a:pt x="27366" y="2989870"/>
                  <a:pt x="27149" y="2944921"/>
                </a:cubicBezTo>
                <a:lnTo>
                  <a:pt x="41941" y="2877744"/>
                </a:lnTo>
                <a:cubicBezTo>
                  <a:pt x="36258" y="2880724"/>
                  <a:pt x="54303" y="2822146"/>
                  <a:pt x="53926" y="2807161"/>
                </a:cubicBezTo>
                <a:cubicBezTo>
                  <a:pt x="56083" y="2775643"/>
                  <a:pt x="30060" y="2769288"/>
                  <a:pt x="53334" y="2752347"/>
                </a:cubicBezTo>
                <a:lnTo>
                  <a:pt x="60008" y="2748299"/>
                </a:lnTo>
                <a:cubicBezTo>
                  <a:pt x="60210" y="2745962"/>
                  <a:pt x="60411" y="2743625"/>
                  <a:pt x="60613" y="2741288"/>
                </a:cubicBezTo>
                <a:cubicBezTo>
                  <a:pt x="60116" y="2737657"/>
                  <a:pt x="58269" y="2735847"/>
                  <a:pt x="53819" y="2737160"/>
                </a:cubicBezTo>
                <a:cubicBezTo>
                  <a:pt x="70191" y="2705347"/>
                  <a:pt x="64153" y="2699356"/>
                  <a:pt x="66799" y="2659631"/>
                </a:cubicBezTo>
                <a:cubicBezTo>
                  <a:pt x="77943" y="2612127"/>
                  <a:pt x="64846" y="2628594"/>
                  <a:pt x="86795" y="2573336"/>
                </a:cubicBezTo>
                <a:cubicBezTo>
                  <a:pt x="96119" y="2559732"/>
                  <a:pt x="108676" y="2541339"/>
                  <a:pt x="108890" y="2528057"/>
                </a:cubicBezTo>
                <a:lnTo>
                  <a:pt x="137074" y="2489594"/>
                </a:lnTo>
                <a:cubicBezTo>
                  <a:pt x="138076" y="2487774"/>
                  <a:pt x="138422" y="2473350"/>
                  <a:pt x="137897" y="2468303"/>
                </a:cubicBezTo>
                <a:lnTo>
                  <a:pt x="155171" y="2460480"/>
                </a:lnTo>
                <a:lnTo>
                  <a:pt x="147972" y="2423535"/>
                </a:lnTo>
                <a:lnTo>
                  <a:pt x="155293" y="2404394"/>
                </a:lnTo>
                <a:cubicBezTo>
                  <a:pt x="172891" y="2392610"/>
                  <a:pt x="160687" y="2347474"/>
                  <a:pt x="168818" y="2324643"/>
                </a:cubicBezTo>
                <a:cubicBezTo>
                  <a:pt x="169390" y="2297698"/>
                  <a:pt x="193082" y="2284202"/>
                  <a:pt x="198340" y="2255535"/>
                </a:cubicBezTo>
                <a:cubicBezTo>
                  <a:pt x="214268" y="2249648"/>
                  <a:pt x="228319" y="2207828"/>
                  <a:pt x="217338" y="2184679"/>
                </a:cubicBezTo>
                <a:lnTo>
                  <a:pt x="242924" y="2093132"/>
                </a:lnTo>
                <a:cubicBezTo>
                  <a:pt x="264937" y="2084587"/>
                  <a:pt x="280562" y="1985868"/>
                  <a:pt x="290446" y="1950235"/>
                </a:cubicBezTo>
                <a:cubicBezTo>
                  <a:pt x="308239" y="1920183"/>
                  <a:pt x="350073" y="1898905"/>
                  <a:pt x="361001" y="1861568"/>
                </a:cubicBezTo>
                <a:cubicBezTo>
                  <a:pt x="367163" y="1810687"/>
                  <a:pt x="352049" y="1869507"/>
                  <a:pt x="356015" y="1809499"/>
                </a:cubicBezTo>
                <a:cubicBezTo>
                  <a:pt x="355145" y="1754297"/>
                  <a:pt x="367821" y="1767680"/>
                  <a:pt x="375846" y="1693716"/>
                </a:cubicBezTo>
                <a:cubicBezTo>
                  <a:pt x="374712" y="1654244"/>
                  <a:pt x="382062" y="1627007"/>
                  <a:pt x="381776" y="1605195"/>
                </a:cubicBezTo>
                <a:cubicBezTo>
                  <a:pt x="389848" y="1568952"/>
                  <a:pt x="392552" y="1564518"/>
                  <a:pt x="396301" y="1516217"/>
                </a:cubicBezTo>
                <a:cubicBezTo>
                  <a:pt x="401397" y="1488452"/>
                  <a:pt x="428137" y="1457870"/>
                  <a:pt x="409866" y="1429841"/>
                </a:cubicBezTo>
                <a:cubicBezTo>
                  <a:pt x="422203" y="1412325"/>
                  <a:pt x="460064" y="1413592"/>
                  <a:pt x="442210" y="1380081"/>
                </a:cubicBezTo>
                <a:cubicBezTo>
                  <a:pt x="464590" y="1394128"/>
                  <a:pt x="443394" y="1335176"/>
                  <a:pt x="463662" y="1334891"/>
                </a:cubicBezTo>
                <a:cubicBezTo>
                  <a:pt x="480316" y="1336427"/>
                  <a:pt x="515162" y="1194568"/>
                  <a:pt x="519523" y="1185551"/>
                </a:cubicBezTo>
                <a:cubicBezTo>
                  <a:pt x="527731" y="1149210"/>
                  <a:pt x="536547" y="1148087"/>
                  <a:pt x="542909" y="1111168"/>
                </a:cubicBezTo>
                <a:cubicBezTo>
                  <a:pt x="555522" y="1057226"/>
                  <a:pt x="531818" y="1022543"/>
                  <a:pt x="543055" y="993353"/>
                </a:cubicBezTo>
                <a:cubicBezTo>
                  <a:pt x="559986" y="960214"/>
                  <a:pt x="580459" y="867450"/>
                  <a:pt x="592544" y="813953"/>
                </a:cubicBezTo>
                <a:cubicBezTo>
                  <a:pt x="604272" y="746430"/>
                  <a:pt x="608119" y="666470"/>
                  <a:pt x="613420" y="588218"/>
                </a:cubicBezTo>
                <a:cubicBezTo>
                  <a:pt x="604962" y="475380"/>
                  <a:pt x="590630" y="536119"/>
                  <a:pt x="596055" y="376479"/>
                </a:cubicBezTo>
                <a:lnTo>
                  <a:pt x="605018" y="280992"/>
                </a:lnTo>
                <a:cubicBezTo>
                  <a:pt x="604854" y="276227"/>
                  <a:pt x="610771" y="223140"/>
                  <a:pt x="610608" y="218374"/>
                </a:cubicBezTo>
                <a:lnTo>
                  <a:pt x="604880" y="188178"/>
                </a:lnTo>
                <a:lnTo>
                  <a:pt x="630913" y="152404"/>
                </a:lnTo>
                <a:cubicBezTo>
                  <a:pt x="640688" y="136342"/>
                  <a:pt x="647365" y="122048"/>
                  <a:pt x="663530" y="91810"/>
                </a:cubicBezTo>
                <a:lnTo>
                  <a:pt x="705264" y="3016"/>
                </a:lnTo>
                <a:close/>
              </a:path>
            </a:pathLst>
          </a:custGeom>
        </p:spPr>
      </p:pic>
    </p:spTree>
    <p:extLst>
      <p:ext uri="{BB962C8B-B14F-4D97-AF65-F5344CB8AC3E}">
        <p14:creationId xmlns:p14="http://schemas.microsoft.com/office/powerpoint/2010/main" val="3084503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8186D15-7DB7-4FD2-9900-A4F9A48DC92F}"/>
              </a:ext>
            </a:extLst>
          </p:cNvPr>
          <p:cNvSpPr>
            <a:spLocks noGrp="1"/>
          </p:cNvSpPr>
          <p:nvPr>
            <p:ph type="title"/>
          </p:nvPr>
        </p:nvSpPr>
        <p:spPr/>
        <p:txBody>
          <a:bodyPr>
            <a:normAutofit/>
          </a:bodyPr>
          <a:lstStyle/>
          <a:p>
            <a:pPr algn="ctr"/>
            <a:endParaRPr lang="he-IL" dirty="0">
              <a:cs typeface="+mn-cs"/>
            </a:endParaRPr>
          </a:p>
        </p:txBody>
      </p:sp>
      <p:sp>
        <p:nvSpPr>
          <p:cNvPr id="3" name="מציין מיקום תוכן 2">
            <a:extLst>
              <a:ext uri="{FF2B5EF4-FFF2-40B4-BE49-F238E27FC236}">
                <a16:creationId xmlns:a16="http://schemas.microsoft.com/office/drawing/2014/main" id="{9ADFFC96-A43E-43E8-8FE8-5A705AB06F2D}"/>
              </a:ext>
            </a:extLst>
          </p:cNvPr>
          <p:cNvSpPr>
            <a:spLocks noGrp="1"/>
          </p:cNvSpPr>
          <p:nvPr>
            <p:ph idx="1"/>
          </p:nvPr>
        </p:nvSpPr>
        <p:spPr>
          <a:xfrm>
            <a:off x="838200" y="2766218"/>
            <a:ext cx="10515600" cy="1325563"/>
          </a:xfrm>
        </p:spPr>
        <p:txBody>
          <a:bodyPr>
            <a:normAutofit lnSpcReduction="10000"/>
          </a:bodyPr>
          <a:lstStyle/>
          <a:p>
            <a:r>
              <a:rPr lang="he-IL" dirty="0"/>
              <a:t>הבנו שהעלאת המודעות למניפולציות של חברות הטבק, בקרב בני הנוער, יכולה לסייע להם לעמוד מול הפיתוי לעשן </a:t>
            </a:r>
          </a:p>
          <a:p>
            <a:pPr marL="0" indent="0">
              <a:buNone/>
            </a:pPr>
            <a:r>
              <a:rPr lang="he-IL" dirty="0"/>
              <a:t>                                          ידע = ?</a:t>
            </a:r>
          </a:p>
        </p:txBody>
      </p:sp>
    </p:spTree>
    <p:extLst>
      <p:ext uri="{BB962C8B-B14F-4D97-AF65-F5344CB8AC3E}">
        <p14:creationId xmlns:p14="http://schemas.microsoft.com/office/powerpoint/2010/main" val="1857934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C69CC1C-A3F0-4132-908E-008105ED77E7}"/>
              </a:ext>
            </a:extLst>
          </p:cNvPr>
          <p:cNvSpPr>
            <a:spLocks noGrp="1"/>
          </p:cNvSpPr>
          <p:nvPr>
            <p:ph type="title"/>
          </p:nvPr>
        </p:nvSpPr>
        <p:spPr>
          <a:xfrm>
            <a:off x="838200" y="593725"/>
            <a:ext cx="10515600" cy="1325563"/>
          </a:xfrm>
        </p:spPr>
        <p:txBody>
          <a:bodyPr/>
          <a:lstStyle/>
          <a:p>
            <a:pPr algn="ctr"/>
            <a:r>
              <a:rPr lang="he-IL" dirty="0">
                <a:cs typeface="+mn-cs"/>
              </a:rPr>
              <a:t>סוף המסע...</a:t>
            </a:r>
            <a:br>
              <a:rPr lang="he-IL" dirty="0">
                <a:cs typeface="+mn-cs"/>
              </a:rPr>
            </a:br>
            <a:r>
              <a:rPr lang="he-IL" dirty="0">
                <a:cs typeface="+mn-cs"/>
              </a:rPr>
              <a:t>מגלים את האמת על עולם העישון</a:t>
            </a:r>
          </a:p>
        </p:txBody>
      </p:sp>
      <p:sp>
        <p:nvSpPr>
          <p:cNvPr id="3" name="מציין מיקום תוכן 2">
            <a:extLst>
              <a:ext uri="{FF2B5EF4-FFF2-40B4-BE49-F238E27FC236}">
                <a16:creationId xmlns:a16="http://schemas.microsoft.com/office/drawing/2014/main" id="{AC6D8632-F4D5-427C-976B-856708B9439C}"/>
              </a:ext>
            </a:extLst>
          </p:cNvPr>
          <p:cNvSpPr>
            <a:spLocks noGrp="1"/>
          </p:cNvSpPr>
          <p:nvPr>
            <p:ph idx="1"/>
          </p:nvPr>
        </p:nvSpPr>
        <p:spPr>
          <a:xfrm>
            <a:off x="838200" y="3008312"/>
            <a:ext cx="10515600" cy="2508250"/>
          </a:xfrm>
        </p:spPr>
        <p:txBody>
          <a:bodyPr/>
          <a:lstStyle/>
          <a:p>
            <a:r>
              <a:rPr lang="he-IL" dirty="0"/>
              <a:t> גיא, עמית, נופר ונועה חזרו לכיתה עם מודעות על השפעות העישון ומוצריו. הם הסבירו לתלמידים על הסכנות ועל הנזקים שגורם העישון. הם החליטו להצטרף לקבוצת העמיתים הבית ספרית ולהיות מובילי </a:t>
            </a:r>
            <a:r>
              <a:rPr lang="he-IL" dirty="0" err="1"/>
              <a:t>דיעה</a:t>
            </a:r>
            <a:r>
              <a:rPr lang="he-IL" dirty="0"/>
              <a:t> בנושא הזה.                                             </a:t>
            </a:r>
          </a:p>
          <a:p>
            <a:pPr algn="ctr"/>
            <a:r>
              <a:rPr lang="he-IL" dirty="0"/>
              <a:t>בהצלחה !</a:t>
            </a:r>
          </a:p>
        </p:txBody>
      </p:sp>
    </p:spTree>
    <p:extLst>
      <p:ext uri="{BB962C8B-B14F-4D97-AF65-F5344CB8AC3E}">
        <p14:creationId xmlns:p14="http://schemas.microsoft.com/office/powerpoint/2010/main" val="2967671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1CD5B93B-B69C-4540-95D3-88BF85BC9EC3}"/>
              </a:ext>
            </a:extLst>
          </p:cNvPr>
          <p:cNvSpPr>
            <a:spLocks noGrp="1"/>
          </p:cNvSpPr>
          <p:nvPr>
            <p:ph type="subTitle" idx="1"/>
          </p:nvPr>
        </p:nvSpPr>
        <p:spPr>
          <a:xfrm>
            <a:off x="1457325" y="975360"/>
            <a:ext cx="9144000" cy="4530090"/>
          </a:xfrm>
        </p:spPr>
        <p:txBody>
          <a:bodyPr>
            <a:normAutofit/>
          </a:bodyPr>
          <a:lstStyle/>
          <a:p>
            <a:r>
              <a:rPr lang="he-IL" dirty="0"/>
              <a:t>כלל חשוב:</a:t>
            </a:r>
          </a:p>
          <a:p>
            <a:r>
              <a:rPr lang="he-IL" dirty="0"/>
              <a:t>לפני שאתם מעשנים ומכניסים חומר לגופכם עצרו.</a:t>
            </a:r>
          </a:p>
          <a:p>
            <a:r>
              <a:rPr lang="he-IL" dirty="0"/>
              <a:t>קראו על החומר, לימדו אותו והפעילו שיקול דעת.</a:t>
            </a:r>
          </a:p>
          <a:p>
            <a:r>
              <a:rPr lang="he-IL" dirty="0"/>
              <a:t>חשבו: האם כדאי לכם לעשן?</a:t>
            </a:r>
          </a:p>
          <a:p>
            <a:r>
              <a:rPr lang="he-IL" dirty="0"/>
              <a:t>חשבו שוב: האם באמת כדאי לכם לעשן?</a:t>
            </a:r>
          </a:p>
          <a:p>
            <a:r>
              <a:rPr lang="he-IL" dirty="0"/>
              <a:t>הכי חשוב - חשבו על עצמכם ושמרו על עצמכם.</a:t>
            </a:r>
          </a:p>
        </p:txBody>
      </p:sp>
    </p:spTree>
    <p:extLst>
      <p:ext uri="{BB962C8B-B14F-4D97-AF65-F5344CB8AC3E}">
        <p14:creationId xmlns:p14="http://schemas.microsoft.com/office/powerpoint/2010/main" val="1020721847"/>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1165</Words>
  <Application>Microsoft Office PowerPoint</Application>
  <PresentationFormat>מסך רחב</PresentationFormat>
  <Paragraphs>91</Paragraphs>
  <Slides>20</Slides>
  <Notes>0</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20</vt:i4>
      </vt:variant>
    </vt:vector>
  </HeadingPairs>
  <TitlesOfParts>
    <vt:vector size="28" baseType="lpstr">
      <vt:lpstr>Arial</vt:lpstr>
      <vt:lpstr>Calibri</vt:lpstr>
      <vt:lpstr>Calibri Light</vt:lpstr>
      <vt:lpstr>David</vt:lpstr>
      <vt:lpstr>Source Sans Pro</vt:lpstr>
      <vt:lpstr>Symbol</vt:lpstr>
      <vt:lpstr>Times New Roman</vt:lpstr>
      <vt:lpstr>ערכת נושא Office</vt:lpstr>
      <vt:lpstr>גיא, עמית, נועה ונופר מגלים את האמת על עולם העישון</vt:lpstr>
      <vt:lpstr>הצגת המשתתפים</vt:lpstr>
      <vt:lpstr>תלמידי כיתה ט' יוצאים ללמוד ולגלות את נזקי העישון</vt:lpstr>
      <vt:lpstr>גיא, נועה, נופר ועמית יצאו לדרך.</vt:lpstr>
      <vt:lpstr>ענו על השאלון המצורף וגלו את נזקי העישון</vt:lpstr>
      <vt:lpstr>מפגש כיתתי בפארק</vt:lpstr>
      <vt:lpstr>מצגת של PowerPoint‏</vt:lpstr>
      <vt:lpstr>מצגת של PowerPoint‏</vt:lpstr>
      <vt:lpstr>משחק שאלות-נרגילה</vt:lpstr>
      <vt:lpstr>סיגריה אלקטרונית</vt:lpstr>
      <vt:lpstr>מה ההבדל בין סיגריה אלקטרונית לסיגריות רגילות (טבק)?</vt:lpstr>
      <vt:lpstr>מהן הסכנות בסיגריה אלקטרונית בעיקר לבני נוער?</vt:lpstr>
      <vt:lpstr>מדוע סיגריות אלקטרוניות מגבירות את הסיכוי  של בני נוער להתחיל לעשן?</vt:lpstr>
      <vt:lpstr>חברו את הפאזל המצורף וגלו את הסיסמה שמסתתרת</vt:lpstr>
      <vt:lpstr>גיא, נועה, נופר ועמית החליטו לחזור לשוחח עם יאיר, אבא של גיא על הדברים שגילו ולמדו בדרך.</vt:lpstr>
      <vt:lpstr>מצגת של PowerPoint‏</vt:lpstr>
      <vt:lpstr>מצגת של PowerPoint‏</vt:lpstr>
      <vt:lpstr>מצגת של PowerPoint‏</vt:lpstr>
      <vt:lpstr>סוף המסע... מגלים את האמת על עולם העישון</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kalid</dc:creator>
  <cp:lastModifiedBy>איריס וכטל</cp:lastModifiedBy>
  <cp:revision>37</cp:revision>
  <dcterms:created xsi:type="dcterms:W3CDTF">2021-05-05T18:39:49Z</dcterms:created>
  <dcterms:modified xsi:type="dcterms:W3CDTF">2021-05-27T11:02:50Z</dcterms:modified>
</cp:coreProperties>
</file>