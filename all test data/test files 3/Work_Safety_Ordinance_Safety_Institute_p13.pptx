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>
        <p:scale>
          <a:sx n="69" d="100"/>
          <a:sy n="69" d="100"/>
        </p:scale>
        <p:origin x="-34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15DF72FF-A388-44CF-9289-DFE21181DC2E}" type="datetimeFigureOut">
              <a:rPr lang="he-IL" smtClean="0"/>
              <a:t>כ"ט/תשרי/תשע"ח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E64E8F7-CEF6-4AED-9864-0157DF745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6224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DF507-5351-4040-B8EC-4269D74A9E95}" type="slidenum">
              <a:rPr lang="he-IL" smtClean="0"/>
              <a:t>23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36292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DF507-5351-4040-B8EC-4269D74A9E95}" type="slidenum">
              <a:rPr lang="he-IL" smtClean="0"/>
              <a:t>24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78105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DF507-5351-4040-B8EC-4269D74A9E95}" type="slidenum">
              <a:rPr lang="he-IL" smtClean="0"/>
              <a:t>30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0017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DF507-5351-4040-B8EC-4269D74A9E95}" type="slidenum">
              <a:rPr lang="he-IL" smtClean="0"/>
              <a:t>39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0423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7438E1-117D-44FB-AC24-B79D899BA877}" type="datetimeFigureOut">
              <a:rPr lang="he-IL" smtClean="0"/>
              <a:t>כ"ט/תשרי/תשע"ח</a:t>
            </a:fld>
            <a:endParaRPr lang="he-I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e-I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  <p:pic>
        <p:nvPicPr>
          <p:cNvPr id="7" name="Picture 9" descr="OSH160901_PreTEMP-0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75019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7438E1-117D-44FB-AC24-B79D899BA877}" type="datetimeFigureOut">
              <a:rPr lang="he-IL" smtClean="0"/>
              <a:t>כ"ט/תשרי/תשע"ח</a:t>
            </a:fld>
            <a:endParaRPr lang="he-I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e-I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  <p:pic>
        <p:nvPicPr>
          <p:cNvPr id="7" name="Picture 9" descr="OSH160901_PreTEMP-0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934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7438E1-117D-44FB-AC24-B79D899BA877}" type="datetimeFigureOut">
              <a:rPr lang="he-IL" smtClean="0"/>
              <a:t>כ"ט/תשרי/תשע"ח</a:t>
            </a:fld>
            <a:endParaRPr lang="he-I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e-IL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  <p:pic>
        <p:nvPicPr>
          <p:cNvPr id="7" name="Picture 9" descr="OSH160901_PreTEMP-0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361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7438E1-117D-44FB-AC24-B79D899BA877}" type="datetimeFigureOut">
              <a:rPr lang="he-IL" smtClean="0"/>
              <a:t>כ"ט/תשרי/תשע"ח</a:t>
            </a:fld>
            <a:endParaRPr lang="he-I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e-I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  <p:pic>
        <p:nvPicPr>
          <p:cNvPr id="5" name="Picture 9" descr="OSH160901_PreTEMP-0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0748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 descr="OSH160901_PreTEMP-0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54174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FDFFF"/>
            </a:gs>
            <a:gs pos="100000">
              <a:srgbClr val="DBFFE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 smtClean="0"/>
              <a:t>לחץ כדי לשנות סגנון כותרת בסיס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altLang="en-US" smtClean="0"/>
              <a:t>לחץ כדי לשנות סגנון טקסט בסיס</a:t>
            </a:r>
          </a:p>
          <a:p>
            <a:pPr lvl="1"/>
            <a:r>
              <a:rPr lang="he-IL" altLang="en-US" smtClean="0"/>
              <a:t>רמה שניה</a:t>
            </a:r>
          </a:p>
          <a:p>
            <a:pPr lvl="2"/>
            <a:r>
              <a:rPr lang="he-IL" altLang="en-US" smtClean="0"/>
              <a:t>רמה שלישית</a:t>
            </a:r>
          </a:p>
          <a:p>
            <a:pPr lvl="3"/>
            <a:r>
              <a:rPr lang="he-IL" altLang="en-US" smtClean="0"/>
              <a:t>רמה רביעית</a:t>
            </a:r>
          </a:p>
          <a:p>
            <a:pPr lvl="4"/>
            <a:r>
              <a:rPr lang="he-IL" altLang="en-US" smtClean="0"/>
              <a:t>רמה חמישית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>
              <a:defRPr sz="1400" b="0">
                <a:cs typeface="+mn-cs"/>
              </a:defRPr>
            </a:lvl1pPr>
          </a:lstStyle>
          <a:p>
            <a:fld id="{4E7438E1-117D-44FB-AC24-B79D899BA877}" type="datetimeFigureOut">
              <a:rPr lang="he-IL" smtClean="0"/>
              <a:t>כ"ט/תשרי/תשע"ח</a:t>
            </a:fld>
            <a:endParaRPr lang="he-IL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>
              <a:defRPr sz="1400" b="0">
                <a:cs typeface="+mn-cs"/>
              </a:defRPr>
            </a:lvl1pPr>
          </a:lstStyle>
          <a:p>
            <a:endParaRPr lang="he-IL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1">
              <a:defRPr sz="1400" b="0"/>
            </a:lvl1pPr>
          </a:lstStyle>
          <a:p>
            <a:fld id="{DAF22AC9-109E-4E4D-92F9-530E51D9A3A2}" type="slidenum">
              <a:rPr lang="he-IL" smtClean="0"/>
              <a:t>‹#›</a:t>
            </a:fld>
            <a:endParaRPr lang="he-IL"/>
          </a:p>
        </p:txBody>
      </p:sp>
      <p:pic>
        <p:nvPicPr>
          <p:cNvPr id="7" name="Picture 9" descr="OSH160901_PreTEMP-07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19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Times New Roman" pitchFamily="18" charset="0"/>
        </a:defRPr>
      </a:lvl1pPr>
      <a:lvl2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 (Hebrew)" charset="0"/>
        </a:defRPr>
      </a:lvl6pPr>
      <a:lvl7pPr marL="9144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 (Hebrew)" charset="0"/>
        </a:defRPr>
      </a:lvl7pPr>
      <a:lvl8pPr marL="13716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 (Hebrew)" charset="0"/>
        </a:defRPr>
      </a:lvl8pPr>
      <a:lvl9pPr marL="1828800" algn="ctr" rtl="1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Times New Roman (Hebrew)" charset="0"/>
        </a:defRPr>
      </a:lvl9pPr>
    </p:titleStyle>
    <p:bodyStyle>
      <a:lvl1pPr marL="342900" indent="-342900" algn="r" rtl="1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Times New Roman" pitchFamily="18" charset="0"/>
        </a:defRPr>
      </a:lvl1pPr>
      <a:lvl2pPr marL="742950" indent="-285750" algn="r" rtl="1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Times New Roman (Hebrew)" charset="0"/>
          <a:cs typeface="Times New Roman" pitchFamily="18" charset="0"/>
        </a:defRPr>
      </a:lvl2pPr>
      <a:lvl3pPr marL="1143000" indent="-228600" algn="r" rtl="1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Times New Roman (Hebrew)" charset="0"/>
          <a:cs typeface="Times New Roman" pitchFamily="18" charset="0"/>
        </a:defRPr>
      </a:lvl3pPr>
      <a:lvl4pPr marL="1600200" indent="-228600" algn="r" rtl="1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Times New Roman (Hebrew)" charset="0"/>
          <a:cs typeface="Times New Roman" pitchFamily="18" charset="0"/>
        </a:defRPr>
      </a:lvl4pPr>
      <a:lvl5pPr marL="2057400" indent="-228600" algn="r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" pitchFamily="18" charset="0"/>
        </a:defRPr>
      </a:lvl5pPr>
      <a:lvl6pPr marL="2514600" indent="-228600" algn="r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../Documents/&#1502;&#1510;&#1490;&#1493;&#1514;%20&#1506;&#1491;&#1499;&#1493;&#1503;%2012.2011/&#1502;&#1510;&#1490;&#1493;&#1514;/&#1495;&#1493;&#1511;&#1497;&#1501;%20&#1493;&#1514;&#1511;&#1504;&#1493;&#1514;/&#1508;&#1511;&#1493;&#1491;&#1514;%20&#1492;&#1489;&#1496;&#1497;&#1495;&#1493;&#1514;%201970.doc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../Documents/&#1502;&#1510;&#1490;&#1493;&#1514;%20&#1506;&#1491;&#1499;&#1493;&#1503;%2012.2011/&#1502;&#1510;&#1490;&#1493;&#1514;/&#1495;&#1493;&#1511;&#1497;&#1501;%20&#1493;&#1514;&#1511;&#1504;&#1493;&#1514;/&#1508;&#1511;&#1493;&#1491;&#1514;%20&#1492;&#1489;&#1496;&#1497;&#1495;&#1493;&#1514;%201970.doc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../Documents/&#1502;&#1510;&#1490;&#1493;&#1514;%20&#1506;&#1491;&#1499;&#1493;&#1503;%2012.2011/&#1502;&#1510;&#1490;&#1493;&#1514;/&#1495;&#1493;&#1511;&#1497;&#1501;%20&#1493;&#1514;&#1511;&#1504;&#1493;&#1514;/&#1514;&#1511;&#1504;&#1493;&#1514;%20&#1492;&#1489;&#1496;&#1497;&#1495;&#1493;&#1514;%20&#1489;&#1506;&#1489;&#1493;&#1491;&#1492;%20&#1506;&#1494;&#1512;&#1492;%20&#1512;&#1488;&#1513;&#1493;&#1504;&#1492;%201988.pdf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sviva.gov.il/Enviroment/Static/Binaries/law/HOMRIM51_0.pdf" TargetMode="External"/><Relationship Id="rId3" Type="http://schemas.openxmlformats.org/officeDocument/2006/relationships/hyperlink" Target="http://www.sviva.gov.il/Enviroment/Static/Binaries/law/raash06_0.pdf" TargetMode="External"/><Relationship Id="rId7" Type="http://schemas.openxmlformats.org/officeDocument/2006/relationships/hyperlink" Target="http://www.sviva.gov.il/Enviroment/Static/Binaries/law/HOMRIM50_0.pdf" TargetMode="External"/><Relationship Id="rId2" Type="http://schemas.openxmlformats.org/officeDocument/2006/relationships/hyperlink" Target="https://www.osh.org.il/uploadfiles/takanot_gehut_maabado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sh.org.il/uploadfiles/takanot_matahot_240402.pdf" TargetMode="External"/><Relationship Id="rId11" Type="http://schemas.openxmlformats.org/officeDocument/2006/relationships/hyperlink" Target="http://www.sviva.gov.il/Enviroment/Static/Binaries/law/HOMRIM55_0.pdf" TargetMode="External"/><Relationship Id="rId5" Type="http://schemas.openxmlformats.org/officeDocument/2006/relationships/hyperlink" Target="https://www.osh.org.il/uploadfiles/takanot_matahot.pdf" TargetMode="External"/><Relationship Id="rId10" Type="http://schemas.openxmlformats.org/officeDocument/2006/relationships/hyperlink" Target="http://www.sviva.gov.il/Enviroment/Static/Binaries/law/HOMRIM54_0.pdf" TargetMode="External"/><Relationship Id="rId4" Type="http://schemas.openxmlformats.org/officeDocument/2006/relationships/hyperlink" Target="http://www.sviva.gov.il/Enviroment/Static/Binaries/law/HOMRIM45_1.pdf" TargetMode="External"/><Relationship Id="rId9" Type="http://schemas.openxmlformats.org/officeDocument/2006/relationships/hyperlink" Target="http://www.sviva.gov.il/Enviroment/Static/Binaries/law/HOMRIM52_0.pdf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sh.org.il/uploadfiles/takanot_memisim_aromatiim.pdf" TargetMode="External"/><Relationship Id="rId7" Type="http://schemas.openxmlformats.org/officeDocument/2006/relationships/hyperlink" Target="http://www.sviva.gov.il/Enviroment/Static/Binaries/law/HOMRIM59_0.pdf" TargetMode="External"/><Relationship Id="rId2" Type="http://schemas.openxmlformats.org/officeDocument/2006/relationships/hyperlink" Target="http://www.sviva.gov.il/Enviroment/Static/Binaries/law/HOMRIM56_0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sh.org.il/uploadfiles/takanot_lazer_6438.pdf" TargetMode="External"/><Relationship Id="rId5" Type="http://schemas.openxmlformats.org/officeDocument/2006/relationships/hyperlink" Target="http://www.sviva.gov.il/Enviroment/Static/Binaries/law/HOMRIM58_0.pdf" TargetMode="External"/><Relationship Id="rId4" Type="http://schemas.openxmlformats.org/officeDocument/2006/relationships/hyperlink" Target="../Documents/&#1502;&#1510;&#1490;&#1493;&#1514;%20&#1506;&#1491;&#1499;&#1493;&#1503;%2012.2011/&#1502;&#1510;&#1490;&#1493;&#1514;/&#1495;&#1493;&#1511;&#1497;&#1501;%20&#1493;&#1514;&#1511;&#1504;&#1493;&#1514;/&#1514;&#1511;&#1504;&#1493;&#1514;%20&#1492;&#1506;&#1489;&#1493;&#1491;&#1492;%20&#1506;&#1501;%20&#1495;&#1493;&#1502;&#1512;&#1497;%20&#1492;&#1491;&#1489;&#1512;&#1492;%20&#1494;&#1512;&#1495;&#1504;&#1497;&#1501;%201992.doc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-2116" y="0"/>
            <a:ext cx="9144000" cy="173067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he-IL" b="1" dirty="0" smtClean="0">
                <a:solidFill>
                  <a:srgbClr val="7030A0"/>
                </a:solidFill>
              </a:rPr>
              <a:t>פקודת הבטיחות בעבודה </a:t>
            </a:r>
            <a:br>
              <a:rPr lang="he-IL" b="1" dirty="0" smtClean="0">
                <a:solidFill>
                  <a:srgbClr val="7030A0"/>
                </a:solidFill>
              </a:rPr>
            </a:br>
            <a:r>
              <a:rPr lang="he-IL" b="1" dirty="0" smtClean="0">
                <a:solidFill>
                  <a:srgbClr val="7030A0"/>
                </a:solidFill>
              </a:rPr>
              <a:t>(נוסח חדש), </a:t>
            </a:r>
            <a:r>
              <a:rPr lang="he-IL" b="1" dirty="0" err="1" smtClean="0">
                <a:solidFill>
                  <a:srgbClr val="7030A0"/>
                </a:solidFill>
              </a:rPr>
              <a:t>התש"ל</a:t>
            </a:r>
            <a:r>
              <a:rPr lang="he-IL" b="1" dirty="0" smtClean="0">
                <a:solidFill>
                  <a:srgbClr val="7030A0"/>
                </a:solidFill>
              </a:rPr>
              <a:t> - 1970</a:t>
            </a:r>
            <a:endParaRPr lang="he-IL" b="1" dirty="0">
              <a:solidFill>
                <a:srgbClr val="7030A0"/>
              </a:solidFill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-180528" y="4725144"/>
            <a:ext cx="8964488" cy="1752600"/>
          </a:xfrm>
        </p:spPr>
        <p:txBody>
          <a:bodyPr/>
          <a:lstStyle/>
          <a:p>
            <a:r>
              <a:rPr lang="he-IL" b="1" dirty="0" smtClean="0">
                <a:solidFill>
                  <a:srgbClr val="FF0000"/>
                </a:solidFill>
              </a:rPr>
              <a:t>אלי </a:t>
            </a:r>
            <a:r>
              <a:rPr lang="he-IL" b="1" dirty="0" err="1" smtClean="0">
                <a:solidFill>
                  <a:srgbClr val="FF0000"/>
                </a:solidFill>
              </a:rPr>
              <a:t>פינסלר</a:t>
            </a:r>
            <a:r>
              <a:rPr lang="he-IL" b="1" dirty="0" smtClean="0">
                <a:solidFill>
                  <a:srgbClr val="FF0000"/>
                </a:solidFill>
              </a:rPr>
              <a:t> – יועץ, מרצה וממונה בטיחות מוסמך</a:t>
            </a:r>
          </a:p>
          <a:p>
            <a:r>
              <a:rPr lang="he-IL" b="1" dirty="0" smtClean="0">
                <a:solidFill>
                  <a:srgbClr val="FF0000"/>
                </a:solidFill>
              </a:rPr>
              <a:t>נייד: 052-4220271</a:t>
            </a:r>
            <a:r>
              <a:rPr lang="en-US" b="1" dirty="0" smtClean="0">
                <a:solidFill>
                  <a:srgbClr val="FF0000"/>
                </a:solidFill>
              </a:rPr>
              <a:t>;</a:t>
            </a:r>
            <a:r>
              <a:rPr lang="he-IL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E-mail: elipinsler@gmail.com</a:t>
            </a:r>
            <a:endParaRPr lang="he-IL" b="1" dirty="0">
              <a:solidFill>
                <a:srgbClr val="FF0000"/>
              </a:solidFill>
            </a:endParaRPr>
          </a:p>
        </p:txBody>
      </p:sp>
      <p:pic>
        <p:nvPicPr>
          <p:cNvPr id="4" name="Picture 3" descr="C:\Program Files\Common Files\Microsoft Shared\Clipart\cagcat50\BS00975_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534" y="2421219"/>
            <a:ext cx="45847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455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e-IL" dirty="0" smtClean="0"/>
              <a:t>מושגים / הגדרות</a:t>
            </a:r>
          </a:p>
          <a:p>
            <a:endParaRPr lang="he-IL" dirty="0"/>
          </a:p>
          <a:p>
            <a:r>
              <a:rPr lang="he-IL" dirty="0" smtClean="0"/>
              <a:t>רקע</a:t>
            </a:r>
          </a:p>
          <a:p>
            <a:endParaRPr lang="he-IL" dirty="0"/>
          </a:p>
          <a:p>
            <a:r>
              <a:rPr lang="he-IL" dirty="0" smtClean="0"/>
              <a:t>היסטוריית </a:t>
            </a:r>
            <a:r>
              <a:rPr lang="he-IL" dirty="0" err="1" smtClean="0"/>
              <a:t>הפב"ט</a:t>
            </a:r>
            <a:endParaRPr lang="he-IL" dirty="0" smtClean="0"/>
          </a:p>
          <a:p>
            <a:endParaRPr lang="he-IL" dirty="0"/>
          </a:p>
          <a:p>
            <a:r>
              <a:rPr lang="he-IL" dirty="0" smtClean="0"/>
              <a:t>הרכב החוק</a:t>
            </a:r>
          </a:p>
          <a:p>
            <a:endParaRPr lang="he-IL" dirty="0"/>
          </a:p>
          <a:p>
            <a:r>
              <a:rPr lang="he-IL" dirty="0" smtClean="0"/>
              <a:t>פירוט החוק</a:t>
            </a:r>
          </a:p>
          <a:p>
            <a:endParaRPr lang="he-IL" dirty="0"/>
          </a:p>
          <a:p>
            <a:r>
              <a:rPr lang="he-IL" dirty="0" smtClean="0"/>
              <a:t>תקנות הבטיחות בעבודה</a:t>
            </a:r>
            <a:endParaRPr lang="he-IL" dirty="0"/>
          </a:p>
        </p:txBody>
      </p:sp>
      <p:sp>
        <p:nvSpPr>
          <p:cNvPr id="5" name="כותרת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he-IL" sz="3600" b="1" dirty="0" smtClean="0"/>
              <a:t>פקודת הבטיחות בעבודה (נוסח חדש), </a:t>
            </a:r>
            <a:r>
              <a:rPr lang="he-IL" sz="3600" b="1" dirty="0" err="1" smtClean="0"/>
              <a:t>התש"ל</a:t>
            </a:r>
            <a:r>
              <a:rPr lang="he-IL" sz="3600" b="1" dirty="0" smtClean="0"/>
              <a:t> - 1970</a:t>
            </a:r>
            <a:endParaRPr lang="he-IL" sz="3600" b="1" dirty="0"/>
          </a:p>
        </p:txBody>
      </p:sp>
    </p:spTree>
    <p:extLst>
      <p:ext uri="{BB962C8B-B14F-4D97-AF65-F5344CB8AC3E}">
        <p14:creationId xmlns:p14="http://schemas.microsoft.com/office/powerpoint/2010/main" val="86082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 smtClean="0"/>
              <a:t>מושגים / הגדרות</a:t>
            </a:r>
            <a:endParaRPr lang="he-IL" b="1" dirty="0"/>
          </a:p>
        </p:txBody>
      </p:sp>
      <p:pic>
        <p:nvPicPr>
          <p:cNvPr id="6" name="מציין מיקום תוכן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1988840"/>
            <a:ext cx="3232373" cy="3694141"/>
          </a:xfrm>
        </p:spPr>
      </p:pic>
    </p:spTree>
    <p:extLst>
      <p:ext uri="{BB962C8B-B14F-4D97-AF65-F5344CB8AC3E}">
        <p14:creationId xmlns:p14="http://schemas.microsoft.com/office/powerpoint/2010/main" val="240636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4400" y="260648"/>
            <a:ext cx="8050088" cy="1143000"/>
          </a:xfrm>
        </p:spPr>
        <p:txBody>
          <a:bodyPr/>
          <a:lstStyle/>
          <a:p>
            <a:pPr algn="r"/>
            <a:r>
              <a:rPr lang="he-IL" b="1" dirty="0" smtClean="0"/>
              <a:t>חוק / חקיקה / משפט</a:t>
            </a:r>
            <a:endParaRPr lang="he-IL" b="1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1328" y="2708920"/>
            <a:ext cx="8632931" cy="1872208"/>
          </a:xfrm>
        </p:spPr>
        <p:txBody>
          <a:bodyPr>
            <a:normAutofit lnSpcReduction="10000"/>
          </a:bodyPr>
          <a:lstStyle/>
          <a:p>
            <a:r>
              <a:rPr lang="he-IL" altLang="he-IL" sz="4000" b="1" dirty="0">
                <a:solidFill>
                  <a:srgbClr val="FF0000"/>
                </a:solidFill>
              </a:rPr>
              <a:t>חוק</a:t>
            </a:r>
            <a:r>
              <a:rPr lang="he-IL" altLang="he-IL" dirty="0"/>
              <a:t> </a:t>
            </a:r>
            <a:r>
              <a:rPr lang="he-IL" altLang="he-IL" dirty="0" smtClean="0"/>
              <a:t>-</a:t>
            </a:r>
            <a:r>
              <a:rPr lang="he-IL" altLang="he-IL" sz="2400" b="1" dirty="0" smtClean="0"/>
              <a:t>(</a:t>
            </a:r>
            <a:r>
              <a:rPr lang="he-IL" altLang="he-IL" sz="2400" b="1" dirty="0"/>
              <a:t>מונח משפטי המגדיר מהו חוק מדינה), </a:t>
            </a:r>
            <a:r>
              <a:rPr lang="he-IL" altLang="he-IL" sz="2800" b="1" dirty="0">
                <a:solidFill>
                  <a:srgbClr val="0000CC"/>
                </a:solidFill>
              </a:rPr>
              <a:t>הוא הוראה רשמית מחייבת, מנוסח בכתב, באופן משפטי אחיד וברור, מחייב את כלל התושבים וניתן לאכיפה. חוקים נחקקים על ידי הגוף המחוקק במערכת השלטון </a:t>
            </a:r>
            <a:r>
              <a:rPr lang="he-IL" altLang="he-IL" sz="2800" b="1" dirty="0" smtClean="0">
                <a:solidFill>
                  <a:srgbClr val="0000CC"/>
                </a:solidFill>
              </a:rPr>
              <a:t>במדינה, בארץ, ע"י הכנסת.</a:t>
            </a:r>
            <a:endParaRPr lang="he-IL" altLang="he-IL" sz="2800" b="1" dirty="0">
              <a:solidFill>
                <a:srgbClr val="0000CC"/>
              </a:solidFill>
            </a:endParaRPr>
          </a:p>
          <a:p>
            <a:pPr lvl="8"/>
            <a:endParaRPr lang="he-IL" dirty="0"/>
          </a:p>
        </p:txBody>
      </p:sp>
      <p:sp>
        <p:nvSpPr>
          <p:cNvPr id="4" name="TextBox 3"/>
          <p:cNvSpPr txBox="1"/>
          <p:nvPr/>
        </p:nvSpPr>
        <p:spPr>
          <a:xfrm>
            <a:off x="2021491" y="4581128"/>
            <a:ext cx="691276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55600" indent="-355600">
              <a:buFont typeface="Arial" panose="020B0604020202020204" pitchFamily="34" charset="0"/>
              <a:buChar char="•"/>
            </a:pPr>
            <a:r>
              <a:rPr lang="he-IL" sz="2800" b="1" dirty="0">
                <a:solidFill>
                  <a:schemeClr val="accent6">
                    <a:lumMod val="75000"/>
                  </a:schemeClr>
                </a:solidFill>
              </a:rPr>
              <a:t>תהליך יצירתו של החוק קרוי</a:t>
            </a:r>
            <a:r>
              <a:rPr lang="he-IL" sz="2800" dirty="0"/>
              <a:t> </a:t>
            </a:r>
            <a:r>
              <a:rPr lang="he-IL" sz="3200" b="1" dirty="0">
                <a:solidFill>
                  <a:srgbClr val="FF0000"/>
                </a:solidFill>
              </a:rPr>
              <a:t>חקיקה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9483" y="5373216"/>
            <a:ext cx="698477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71463" indent="-271463">
              <a:buFont typeface="Arial" panose="020B0604020202020204" pitchFamily="34" charset="0"/>
              <a:buChar char="•"/>
            </a:pPr>
            <a:r>
              <a:rPr lang="he-IL" sz="2800" b="1" dirty="0">
                <a:solidFill>
                  <a:srgbClr val="7030A0"/>
                </a:solidFill>
              </a:rPr>
              <a:t>התחום העוסק בחוק ובשפיטה מכונה </a:t>
            </a:r>
            <a:r>
              <a:rPr lang="he-IL" sz="3200" b="1" dirty="0" smtClean="0">
                <a:solidFill>
                  <a:srgbClr val="FF0000"/>
                </a:solidFill>
              </a:rPr>
              <a:t>משפט</a:t>
            </a:r>
            <a:endParaRPr lang="he-IL" sz="3200" b="1" dirty="0">
              <a:solidFill>
                <a:srgbClr val="FF0000"/>
              </a:solidFill>
            </a:endParaRP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" y="0"/>
            <a:ext cx="4611215" cy="270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25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988875" y="0"/>
            <a:ext cx="5122912" cy="1143000"/>
          </a:xfrm>
        </p:spPr>
        <p:txBody>
          <a:bodyPr/>
          <a:lstStyle/>
          <a:p>
            <a:r>
              <a:rPr lang="he-IL" b="1" dirty="0" smtClean="0"/>
              <a:t>תקנה / הוראה</a:t>
            </a:r>
            <a:endParaRPr lang="he-IL" b="1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93204" y="2780928"/>
            <a:ext cx="8229600" cy="1540768"/>
          </a:xfrm>
        </p:spPr>
        <p:txBody>
          <a:bodyPr/>
          <a:lstStyle/>
          <a:p>
            <a:r>
              <a:rPr lang="he-IL" altLang="he-IL" sz="4400" b="1" kern="0" dirty="0">
                <a:solidFill>
                  <a:srgbClr val="FF0000"/>
                </a:solidFill>
                <a:latin typeface="Arial Narrow"/>
                <a:ea typeface="+mj-ea"/>
                <a:cs typeface="Arial" pitchFamily="34" charset="0"/>
              </a:rPr>
              <a:t>תקנה</a:t>
            </a:r>
            <a:r>
              <a:rPr lang="he-IL" altLang="he-IL" sz="4400" kern="0" dirty="0">
                <a:solidFill>
                  <a:srgbClr val="000000"/>
                </a:solidFill>
                <a:latin typeface="Arial Narrow"/>
                <a:ea typeface="+mj-ea"/>
                <a:cs typeface="Arial" pitchFamily="34" charset="0"/>
              </a:rPr>
              <a:t> – </a:t>
            </a:r>
            <a:r>
              <a:rPr lang="he-IL" altLang="he-IL" sz="4000" b="1" kern="0" dirty="0">
                <a:solidFill>
                  <a:srgbClr val="000000"/>
                </a:solidFill>
                <a:latin typeface="Arial Narrow"/>
                <a:ea typeface="+mj-ea"/>
                <a:cs typeface="Arial" pitchFamily="34" charset="0"/>
              </a:rPr>
              <a:t>כלל / דרישה חוקתית שיש לפעול על-פיהם</a:t>
            </a:r>
            <a:endParaRPr lang="he-IL" sz="4000" dirty="0"/>
          </a:p>
        </p:txBody>
      </p:sp>
      <p:sp>
        <p:nvSpPr>
          <p:cNvPr id="4" name="מלבן 3"/>
          <p:cNvSpPr/>
          <p:nvPr/>
        </p:nvSpPr>
        <p:spPr>
          <a:xfrm>
            <a:off x="179512" y="3356991"/>
            <a:ext cx="9143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he-IL" altLang="he-IL" sz="3200" b="1" dirty="0">
              <a:latin typeface="Times New Roman" pitchFamily="18" charset="0"/>
              <a:cs typeface="Times New Roman (Hebrew)" charset="0"/>
            </a:endParaRPr>
          </a:p>
        </p:txBody>
      </p:sp>
      <p:sp>
        <p:nvSpPr>
          <p:cNvPr id="7" name="מלבן 6"/>
          <p:cNvSpPr/>
          <p:nvPr/>
        </p:nvSpPr>
        <p:spPr>
          <a:xfrm>
            <a:off x="755576" y="4797152"/>
            <a:ext cx="813690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he-IL" altLang="he-IL" sz="4400" b="1" dirty="0" smtClean="0">
                <a:solidFill>
                  <a:srgbClr val="FF0000"/>
                </a:solidFill>
                <a:latin typeface="Times New Roman" pitchFamily="18" charset="0"/>
                <a:cs typeface="Times New Roman (Hebrew)" charset="0"/>
              </a:rPr>
              <a:t>הוראות </a:t>
            </a:r>
            <a:r>
              <a:rPr lang="he-IL" altLang="he-IL" sz="4400" b="1" dirty="0">
                <a:solidFill>
                  <a:srgbClr val="FF0000"/>
                </a:solidFill>
                <a:latin typeface="Times New Roman" pitchFamily="18" charset="0"/>
                <a:cs typeface="Times New Roman (Hebrew)" charset="0"/>
              </a:rPr>
              <a:t>עבודה </a:t>
            </a:r>
            <a:r>
              <a:rPr lang="he-IL" altLang="he-IL" sz="4400" dirty="0">
                <a:solidFill>
                  <a:srgbClr val="000000"/>
                </a:solidFill>
                <a:latin typeface="Times New Roman" pitchFamily="18" charset="0"/>
                <a:cs typeface="Times New Roman (Hebrew)" charset="0"/>
              </a:rPr>
              <a:t>/ </a:t>
            </a:r>
            <a:r>
              <a:rPr lang="he-IL" altLang="he-IL" sz="4400" b="1" dirty="0">
                <a:solidFill>
                  <a:srgbClr val="0000CC"/>
                </a:solidFill>
                <a:latin typeface="Times New Roman" pitchFamily="18" charset="0"/>
                <a:cs typeface="Times New Roman (Hebrew)" charset="0"/>
              </a:rPr>
              <a:t>נהלים </a:t>
            </a:r>
            <a:r>
              <a:rPr lang="he-IL" altLang="he-IL" sz="4400" b="1" dirty="0" smtClean="0">
                <a:solidFill>
                  <a:srgbClr val="0000CC"/>
                </a:solidFill>
                <a:latin typeface="Times New Roman" pitchFamily="18" charset="0"/>
                <a:cs typeface="Times New Roman (Hebrew)" charset="0"/>
              </a:rPr>
              <a:t>-</a:t>
            </a:r>
            <a:r>
              <a:rPr lang="he-IL" altLang="he-IL" sz="4400" b="1" dirty="0" smtClean="0">
                <a:latin typeface="Times New Roman" pitchFamily="18" charset="0"/>
                <a:cs typeface="Times New Roman (Hebrew)" charset="0"/>
              </a:rPr>
              <a:t>מסגרת </a:t>
            </a:r>
            <a:r>
              <a:rPr lang="he-IL" altLang="he-IL" sz="4400" b="1" dirty="0">
                <a:latin typeface="Times New Roman" pitchFamily="18" charset="0"/>
                <a:cs typeface="Times New Roman (Hebrew)" charset="0"/>
              </a:rPr>
              <a:t>לביצוע </a:t>
            </a:r>
            <a:r>
              <a:rPr lang="he-IL" altLang="he-IL" sz="4400" b="1" dirty="0" smtClean="0">
                <a:latin typeface="Times New Roman" pitchFamily="18" charset="0"/>
                <a:cs typeface="Times New Roman (Hebrew)" charset="0"/>
              </a:rPr>
              <a:t>תהליכי </a:t>
            </a:r>
            <a:r>
              <a:rPr lang="he-IL" altLang="he-IL" sz="4400" b="1" dirty="0">
                <a:latin typeface="Times New Roman" pitchFamily="18" charset="0"/>
                <a:cs typeface="Times New Roman (Hebrew)" charset="0"/>
              </a:rPr>
              <a:t>בעבודה </a:t>
            </a: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0648"/>
            <a:ext cx="3316287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מלבן 8"/>
          <p:cNvSpPr/>
          <p:nvPr/>
        </p:nvSpPr>
        <p:spPr>
          <a:xfrm>
            <a:off x="539552" y="2708573"/>
            <a:ext cx="8352928" cy="151251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/>
          <p:cNvSpPr/>
          <p:nvPr/>
        </p:nvSpPr>
        <p:spPr>
          <a:xfrm>
            <a:off x="539552" y="4797152"/>
            <a:ext cx="8352928" cy="151216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945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541368" y="0"/>
            <a:ext cx="2602632" cy="1143000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lang="he-IL" b="1" dirty="0" smtClean="0"/>
              <a:t>צו</a:t>
            </a:r>
            <a:endParaRPr lang="he-IL" b="1" dirty="0"/>
          </a:p>
        </p:txBody>
      </p:sp>
      <p:sp>
        <p:nvSpPr>
          <p:cNvPr id="6" name="מציין מיקום תוכן 5"/>
          <p:cNvSpPr>
            <a:spLocks noGrp="1"/>
          </p:cNvSpPr>
          <p:nvPr>
            <p:ph idx="1"/>
          </p:nvPr>
        </p:nvSpPr>
        <p:spPr>
          <a:xfrm>
            <a:off x="636888" y="2060848"/>
            <a:ext cx="8147248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he-IL" altLang="he-IL" sz="4400" b="1" dirty="0" smtClean="0">
                <a:solidFill>
                  <a:srgbClr val="FF0000"/>
                </a:solidFill>
                <a:latin typeface="Times New Roman" pitchFamily="18" charset="0"/>
                <a:cs typeface="Times New Roman (Hebrew)" charset="0"/>
              </a:rPr>
              <a:t>צו</a:t>
            </a:r>
            <a:r>
              <a:rPr lang="he-IL" altLang="he-IL" sz="3200" b="1" dirty="0" smtClean="0">
                <a:solidFill>
                  <a:srgbClr val="FF0000"/>
                </a:solidFill>
                <a:latin typeface="Times New Roman" pitchFamily="18" charset="0"/>
                <a:cs typeface="Times New Roman (Hebrew)" charset="0"/>
              </a:rPr>
              <a:t>-</a:t>
            </a: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הוא </a:t>
            </a:r>
            <a:r>
              <a:rPr lang="he-IL" altLang="he-IL" sz="3200" b="1" dirty="0">
                <a:latin typeface="Times New Roman" pitchFamily="18" charset="0"/>
                <a:cs typeface="Times New Roman (Hebrew)" charset="0"/>
              </a:rPr>
              <a:t>הוראה הניתנת על </a:t>
            </a: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ידי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 </a:t>
            </a:r>
            <a:r>
              <a:rPr lang="he-IL" altLang="he-IL" sz="3200" b="1" dirty="0">
                <a:latin typeface="Times New Roman" pitchFamily="18" charset="0"/>
                <a:cs typeface="Times New Roman (Hebrew)" charset="0"/>
              </a:rPr>
              <a:t>אדם או גוף המוסמך לכך ולרוב </a:t>
            </a: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הוא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 </a:t>
            </a:r>
            <a:r>
              <a:rPr lang="he-IL" altLang="he-IL" sz="3200" b="1" dirty="0">
                <a:latin typeface="Times New Roman" pitchFamily="18" charset="0"/>
                <a:cs typeface="Times New Roman (Hebrew)" charset="0"/>
              </a:rPr>
              <a:t>חייב להתבצע בלא צורך באישור </a:t>
            </a: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או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 </a:t>
            </a:r>
            <a:r>
              <a:rPr lang="he-IL" altLang="he-IL" sz="3200" b="1" dirty="0">
                <a:latin typeface="Times New Roman" pitchFamily="18" charset="0"/>
                <a:cs typeface="Times New Roman (Hebrew)" charset="0"/>
              </a:rPr>
              <a:t>דיון. תחום עניינו של הצו משתנה </a:t>
            </a:r>
            <a:endParaRPr lang="he-IL" altLang="he-IL" sz="3200" b="1" dirty="0" smtClean="0">
              <a:latin typeface="Times New Roman" pitchFamily="18" charset="0"/>
              <a:cs typeface="Times New Roman (Hebrew)" charset="0"/>
            </a:endParaRP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he-IL" altLang="he-IL" b="1" dirty="0">
                <a:latin typeface="Times New Roman" pitchFamily="18" charset="0"/>
                <a:cs typeface="Times New Roman (Hebrew)" charset="0"/>
              </a:rPr>
              <a:t> </a:t>
            </a: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בהתאם </a:t>
            </a:r>
            <a:r>
              <a:rPr lang="he-IL" altLang="he-IL" sz="3200" b="1" dirty="0">
                <a:latin typeface="Times New Roman" pitchFamily="18" charset="0"/>
                <a:cs typeface="Times New Roman (Hebrew)" charset="0"/>
              </a:rPr>
              <a:t>למצב. לרוב, לראשי מדינות כמו נשיאים </a:t>
            </a: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או</a:t>
            </a: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 </a:t>
            </a:r>
            <a:r>
              <a:rPr lang="he-IL" altLang="he-IL" sz="3200" b="1" dirty="0">
                <a:latin typeface="Times New Roman" pitchFamily="18" charset="0"/>
                <a:cs typeface="Times New Roman (Hebrew)" charset="0"/>
              </a:rPr>
              <a:t>ראשי ממשלה יש זכות להוציא צווים ועל אלו לא </a:t>
            </a:r>
            <a:endParaRPr lang="he-IL" altLang="he-IL" sz="3200" b="1" dirty="0" smtClean="0">
              <a:latin typeface="Times New Roman" pitchFamily="18" charset="0"/>
              <a:cs typeface="Times New Roman (Hebrew)" charset="0"/>
            </a:endParaRPr>
          </a:p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he-IL" altLang="he-IL" b="1" dirty="0">
                <a:latin typeface="Times New Roman" pitchFamily="18" charset="0"/>
                <a:cs typeface="Times New Roman (Hebrew)" charset="0"/>
              </a:rPr>
              <a:t> </a:t>
            </a:r>
            <a:r>
              <a:rPr lang="he-IL" altLang="he-IL" sz="3200" b="1" dirty="0" smtClean="0">
                <a:latin typeface="Times New Roman" pitchFamily="18" charset="0"/>
                <a:cs typeface="Times New Roman (Hebrew)" charset="0"/>
              </a:rPr>
              <a:t>להתנגש </a:t>
            </a:r>
            <a:r>
              <a:rPr lang="he-IL" altLang="he-IL" sz="3200" b="1" dirty="0">
                <a:latin typeface="Times New Roman" pitchFamily="18" charset="0"/>
                <a:cs typeface="Times New Roman (Hebrew)" charset="0"/>
              </a:rPr>
              <a:t>עם החוקה או חוקים של אותה מדינה. 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88" y="260648"/>
            <a:ext cx="2688336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72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045424" y="-16042"/>
            <a:ext cx="2098576" cy="1143000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r>
              <a:rPr lang="he-IL" b="1" dirty="0" smtClean="0">
                <a:solidFill>
                  <a:schemeClr val="bg1"/>
                </a:solidFill>
              </a:rPr>
              <a:t>רקע</a:t>
            </a:r>
            <a:endParaRPr lang="he-IL" b="1" dirty="0">
              <a:solidFill>
                <a:schemeClr val="bg1"/>
              </a:solidFill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he-IL" dirty="0" smtClean="0"/>
              <a:t>מקורות הבטיחות בארץ</a:t>
            </a:r>
          </a:p>
          <a:p>
            <a:endParaRPr lang="he-IL" dirty="0"/>
          </a:p>
          <a:p>
            <a:endParaRPr lang="he-IL" dirty="0"/>
          </a:p>
          <a:p>
            <a:pPr marL="0" indent="0">
              <a:buNone/>
            </a:pPr>
            <a:r>
              <a:rPr lang="he-IL" dirty="0" smtClean="0"/>
              <a:t>2. פקודת הבטיחות בעבודה – </a:t>
            </a:r>
            <a:r>
              <a:rPr lang="he-IL" dirty="0" err="1" smtClean="0"/>
              <a:t>פב"ט</a:t>
            </a:r>
            <a:endParaRPr lang="he-IL" dirty="0" smtClean="0"/>
          </a:p>
          <a:p>
            <a:pPr marL="514350" indent="-514350">
              <a:buFont typeface="+mj-lt"/>
              <a:buAutoNum type="arabicPeriod"/>
            </a:pPr>
            <a:endParaRPr lang="he-IL" dirty="0"/>
          </a:p>
          <a:p>
            <a:pPr marL="514350" indent="-514350">
              <a:buFont typeface="+mj-lt"/>
              <a:buAutoNum type="arabicPeriod"/>
            </a:pPr>
            <a:endParaRPr lang="he-IL" dirty="0" smtClean="0"/>
          </a:p>
          <a:p>
            <a:pPr marL="0" indent="0">
              <a:buNone/>
            </a:pPr>
            <a:r>
              <a:rPr lang="he-IL" dirty="0" smtClean="0"/>
              <a:t>3. היסטוריית </a:t>
            </a:r>
            <a:r>
              <a:rPr lang="he-IL" dirty="0" err="1" smtClean="0"/>
              <a:t>פב"ט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5631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he-IL" altLang="he-IL" b="1" u="sng" smtClean="0">
                <a:cs typeface="Guttman Yad" pitchFamily="2" charset="-79"/>
              </a:rPr>
              <a:t>פקודת הבטיחות</a:t>
            </a:r>
          </a:p>
          <a:p>
            <a:pPr eaLnBrk="1" hangingPunct="1">
              <a:buFontTx/>
              <a:buNone/>
            </a:pPr>
            <a:r>
              <a:rPr lang="he-IL" altLang="he-IL" b="1" u="sng" smtClean="0">
                <a:cs typeface="Guttman Yad" pitchFamily="2" charset="-79"/>
              </a:rPr>
              <a:t> בעבודה</a:t>
            </a:r>
            <a:endParaRPr lang="en-US" altLang="he-IL" b="1" u="sng" smtClean="0">
              <a:cs typeface="Guttman Yad" pitchFamily="2" charset="-79"/>
            </a:endParaRPr>
          </a:p>
        </p:txBody>
      </p:sp>
      <p:pic>
        <p:nvPicPr>
          <p:cNvPr id="12292" name="Picture 5" descr="http://www.atheists.org/flash.line/tenco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050" y="2743200"/>
            <a:ext cx="274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Text Box 6"/>
          <p:cNvSpPr txBox="1">
            <a:spLocks noChangeArrowheads="1"/>
          </p:cNvSpPr>
          <p:nvPr/>
        </p:nvSpPr>
        <p:spPr bwMode="auto">
          <a:xfrm>
            <a:off x="0" y="1371600"/>
            <a:ext cx="4572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 Narrow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he-IL" altLang="he-IL" b="1" u="sng" smtClean="0">
                <a:solidFill>
                  <a:srgbClr val="000000"/>
                </a:solidFill>
                <a:latin typeface="Times New Roman" pitchFamily="18" charset="0"/>
                <a:cs typeface="Guttman Yad" pitchFamily="2" charset="-79"/>
              </a:rPr>
              <a:t>חוק ארגון הפיקוח על העבודה</a:t>
            </a:r>
            <a:endParaRPr lang="en-US" altLang="he-IL" b="1" u="sng" smtClean="0">
              <a:solidFill>
                <a:srgbClr val="000000"/>
              </a:solidFill>
              <a:latin typeface="Times New Roman" pitchFamily="18" charset="0"/>
              <a:cs typeface="Guttman Yad" pitchFamily="2" charset="-79"/>
            </a:endParaRPr>
          </a:p>
        </p:txBody>
      </p:sp>
      <p:sp>
        <p:nvSpPr>
          <p:cNvPr id="12294" name="Line 7"/>
          <p:cNvSpPr>
            <a:spLocks noChangeShapeType="1"/>
          </p:cNvSpPr>
          <p:nvPr/>
        </p:nvSpPr>
        <p:spPr bwMode="auto">
          <a:xfrm flipH="1">
            <a:off x="5715000" y="2133600"/>
            <a:ext cx="1524000" cy="1295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he-IL" sz="24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295" name="Line 8"/>
          <p:cNvSpPr>
            <a:spLocks noChangeShapeType="1"/>
          </p:cNvSpPr>
          <p:nvPr/>
        </p:nvSpPr>
        <p:spPr bwMode="auto">
          <a:xfrm>
            <a:off x="1447800" y="2438400"/>
            <a:ext cx="1524000" cy="9906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he-IL" sz="24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2296" name="Text Box 9"/>
          <p:cNvSpPr txBox="1">
            <a:spLocks noChangeArrowheads="1"/>
          </p:cNvSpPr>
          <p:nvPr/>
        </p:nvSpPr>
        <p:spPr bwMode="auto">
          <a:xfrm>
            <a:off x="6553200" y="3810000"/>
            <a:ext cx="2209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 Narrow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he-IL" altLang="he-IL" sz="2400" b="1" smtClean="0">
                <a:solidFill>
                  <a:srgbClr val="000000"/>
                </a:solidFill>
                <a:latin typeface="Times New Roman" pitchFamily="18" charset="0"/>
                <a:cs typeface="David" pitchFamily="34" charset="-79"/>
              </a:rPr>
              <a:t>חוק ה</a:t>
            </a:r>
            <a:r>
              <a:rPr lang="he-IL" altLang="he-IL" sz="2400" smtClean="0">
                <a:solidFill>
                  <a:srgbClr val="000000"/>
                </a:solidFill>
                <a:latin typeface="Times New Roman" pitchFamily="18" charset="0"/>
                <a:cs typeface="David" pitchFamily="34" charset="-79"/>
              </a:rPr>
              <a:t>  </a:t>
            </a:r>
            <a:r>
              <a:rPr lang="he-IL" altLang="he-IL" sz="2400" b="1" smtClean="0">
                <a:solidFill>
                  <a:srgbClr val="0000CC"/>
                </a:solidFill>
                <a:latin typeface="Times New Roman" pitchFamily="18" charset="0"/>
                <a:cs typeface="David" pitchFamily="34" charset="-79"/>
              </a:rPr>
              <a:t>"</a:t>
            </a:r>
            <a:r>
              <a:rPr lang="he-IL" altLang="he-IL" sz="3600" b="1" smtClean="0">
                <a:solidFill>
                  <a:srgbClr val="0000CC"/>
                </a:solidFill>
                <a:latin typeface="Times New Roman" pitchFamily="18" charset="0"/>
                <a:cs typeface="David" pitchFamily="34" charset="-79"/>
              </a:rPr>
              <a:t>מה"</a:t>
            </a:r>
            <a:endParaRPr lang="en-US" altLang="he-IL" sz="3600" b="1" smtClean="0">
              <a:solidFill>
                <a:srgbClr val="0000CC"/>
              </a:solidFill>
              <a:latin typeface="Times New Roman" pitchFamily="18" charset="0"/>
              <a:cs typeface="David" pitchFamily="34" charset="-79"/>
            </a:endParaRPr>
          </a:p>
        </p:txBody>
      </p:sp>
      <p:sp>
        <p:nvSpPr>
          <p:cNvPr id="12297" name="Text Box 10"/>
          <p:cNvSpPr txBox="1">
            <a:spLocks noChangeArrowheads="1"/>
          </p:cNvSpPr>
          <p:nvPr/>
        </p:nvSpPr>
        <p:spPr bwMode="auto">
          <a:xfrm>
            <a:off x="381000" y="3886200"/>
            <a:ext cx="2438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Arial Narrow" pitchFamily="34" charset="0"/>
                <a:cs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 Narrow" pitchFamily="34" charset="0"/>
                <a:ea typeface="Times New Roman (Hebrew)" charset="0"/>
                <a:cs typeface="Arial" pitchFamily="34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he-IL" altLang="he-IL" sz="2400" b="1" smtClean="0">
                <a:solidFill>
                  <a:srgbClr val="000000"/>
                </a:solidFill>
                <a:latin typeface="Times New Roman" pitchFamily="18" charset="0"/>
                <a:cs typeface="David" pitchFamily="34" charset="-79"/>
              </a:rPr>
              <a:t>חוק ה</a:t>
            </a:r>
            <a:r>
              <a:rPr lang="he-IL" altLang="he-IL" sz="2400" smtClean="0">
                <a:solidFill>
                  <a:srgbClr val="000000"/>
                </a:solidFill>
                <a:latin typeface="Times New Roman" pitchFamily="18" charset="0"/>
                <a:cs typeface="David" pitchFamily="34" charset="-79"/>
              </a:rPr>
              <a:t> </a:t>
            </a:r>
            <a:r>
              <a:rPr lang="he-IL" altLang="he-IL" sz="3600" b="1" smtClean="0">
                <a:solidFill>
                  <a:srgbClr val="0000CC"/>
                </a:solidFill>
                <a:latin typeface="Times New Roman" pitchFamily="18" charset="0"/>
                <a:cs typeface="David" pitchFamily="34" charset="-79"/>
              </a:rPr>
              <a:t>"מי"</a:t>
            </a:r>
            <a:endParaRPr lang="en-US" altLang="he-IL" sz="3600" b="1" smtClean="0">
              <a:solidFill>
                <a:srgbClr val="0000CC"/>
              </a:solidFill>
              <a:latin typeface="Times New Roman" pitchFamily="18" charset="0"/>
              <a:cs typeface="David" pitchFamily="34" charset="-79"/>
            </a:endParaRPr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047284-5CAC-4C35-AE32-DDA938E15DE9}" type="slidenum">
              <a:rPr lang="en-US" altLang="he-IL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he-IL" dirty="0">
              <a:solidFill>
                <a:srgbClr val="000000"/>
              </a:solidFill>
            </a:endParaRPr>
          </a:p>
        </p:txBody>
      </p:sp>
      <p:sp>
        <p:nvSpPr>
          <p:cNvPr id="3" name="כותרת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8606396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649663" y="2557463"/>
            <a:ext cx="5146675" cy="1362075"/>
          </a:xfrm>
        </p:spPr>
        <p:txBody>
          <a:bodyPr/>
          <a:lstStyle/>
          <a:p>
            <a:pPr algn="ctr">
              <a:defRPr/>
            </a:pPr>
            <a:r>
              <a:rPr lang="he-IL" dirty="0" smtClean="0"/>
              <a:t>ניזונים מהחוקה</a:t>
            </a:r>
            <a:br>
              <a:rPr lang="he-IL" dirty="0" smtClean="0"/>
            </a:br>
            <a:r>
              <a:rPr lang="he-IL" dirty="0" smtClean="0"/>
              <a:t> הבריטית</a:t>
            </a:r>
            <a:endParaRPr lang="he-IL" dirty="0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55650" y="0"/>
            <a:ext cx="8137525" cy="1500188"/>
          </a:xfrm>
        </p:spPr>
        <p:txBody>
          <a:bodyPr/>
          <a:lstStyle/>
          <a:p>
            <a:r>
              <a:rPr lang="he-IL" altLang="he-IL" sz="4800" b="1" smtClean="0"/>
              <a:t>שני חוקי היסוד בבטיחות - בארץ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782BD1-E6AF-46B2-8B83-E02247D06E1C}" type="slidenum">
              <a:rPr lang="en-US" altLang="he-IL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altLang="he-IL">
              <a:solidFill>
                <a:srgbClr val="000000"/>
              </a:solidFill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133600"/>
            <a:ext cx="2857500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392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43200"/>
            <a:ext cx="8153400" cy="2209800"/>
          </a:xfrm>
        </p:spPr>
        <p:txBody>
          <a:bodyPr/>
          <a:lstStyle/>
          <a:p>
            <a:pPr algn="r" eaLnBrk="1" hangingPunct="1"/>
            <a:r>
              <a:rPr lang="he-IL" altLang="he-IL" sz="36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פקודת הבטיחות בעבודה היא חוק ארכאי : בשמה המקורי, משנת 1946, היא נקראה פקודת בתי החרושת. היא התבססה על חוק בתי החרושת הבריטי, אשר </a:t>
            </a:r>
            <a:r>
              <a:rPr lang="he-IL" altLang="he-IL" sz="3600" b="1" dirty="0" err="1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הוחק</a:t>
            </a:r>
            <a:r>
              <a:rPr lang="he-IL" altLang="he-IL" sz="36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כעשור קודם לכן, ותכליתו הייתה הגנה על עובדי </a:t>
            </a:r>
            <a:r>
              <a:rPr lang="he-IL" altLang="he-IL" sz="3600" b="1" dirty="0" err="1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הטכסטיל</a:t>
            </a:r>
            <a:r>
              <a:rPr lang="he-IL" altLang="he-IL" sz="36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, ענף שהחל אז להתפתח באנגליה.</a:t>
            </a:r>
            <a:br>
              <a:rPr lang="he-IL" altLang="he-IL" sz="36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altLang="he-IL" sz="36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/>
            </a:r>
            <a:br>
              <a:rPr lang="he-IL" altLang="he-IL" sz="3600" b="1" dirty="0" smtClean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endParaRPr lang="en-US" altLang="he-IL" sz="3600" b="1" dirty="0" smtClean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016316-7A6F-42B3-89C5-A485540F12E2}" type="slidenum">
              <a:rPr lang="en-US" altLang="he-IL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altLang="he-IL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46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altLang="he-IL" sz="3600" b="1" kern="0" dirty="0">
                <a:solidFill>
                  <a:srgbClr val="000000"/>
                </a:solidFill>
                <a:latin typeface="Arial" pitchFamily="34" charset="0"/>
                <a:ea typeface="+mj-ea"/>
                <a:cs typeface="Arial" pitchFamily="34" charset="0"/>
              </a:rPr>
              <a:t>שמה הומר לשם הנוכחי בשנת 1962 ונוסח חדש (דהיינו קיבוץ כל התיקונים לפקודה שהיו עד לאותו מועד ) נעשה בשנת 1970.</a:t>
            </a:r>
            <a:br>
              <a:rPr lang="he-IL" altLang="he-IL" sz="3600" b="1" kern="0" dirty="0">
                <a:solidFill>
                  <a:srgbClr val="000000"/>
                </a:solidFill>
                <a:latin typeface="Arial" pitchFamily="34" charset="0"/>
                <a:ea typeface="+mj-ea"/>
                <a:cs typeface="Arial" pitchFamily="34" charset="0"/>
              </a:rPr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6039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 smtClean="0"/>
              <a:t>היסטוריית </a:t>
            </a:r>
            <a:r>
              <a:rPr lang="he-IL" b="1" dirty="0" err="1" smtClean="0"/>
              <a:t>הפב"ט</a:t>
            </a:r>
            <a:endParaRPr lang="he-IL" b="1" dirty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132856"/>
            <a:ext cx="87884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07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he-IL" dirty="0" smtClean="0"/>
              <a:t>שלב א' – החוק המקורי</a:t>
            </a:r>
          </a:p>
          <a:p>
            <a:endParaRPr lang="he-IL" dirty="0"/>
          </a:p>
          <a:p>
            <a:pPr marL="0" indent="0" algn="ctr">
              <a:buNone/>
            </a:pPr>
            <a:r>
              <a:rPr lang="he-IL" sz="4000" b="1" dirty="0" smtClean="0">
                <a:latin typeface="Guttman Yad" panose="02010401010101010101" pitchFamily="2" charset="-79"/>
                <a:cs typeface="Guttman Yad" panose="02010401010101010101" pitchFamily="2" charset="-79"/>
              </a:rPr>
              <a:t>פקודת בתי החרושת, 1946</a:t>
            </a:r>
          </a:p>
          <a:p>
            <a:pPr marL="0" indent="0" algn="ctr">
              <a:buNone/>
            </a:pPr>
            <a:endParaRPr lang="he-IL" sz="4000" b="1" dirty="0">
              <a:latin typeface="Guttman Yad" panose="02010401010101010101" pitchFamily="2" charset="-79"/>
              <a:cs typeface="Guttman Yad" panose="02010401010101010101" pitchFamily="2" charset="-79"/>
            </a:endParaRPr>
          </a:p>
          <a:p>
            <a:pPr marL="0" indent="0" algn="ctr">
              <a:buNone/>
            </a:pPr>
            <a:endParaRPr lang="he-IL" sz="4000" b="1" dirty="0" smtClean="0">
              <a:latin typeface="Guttman Yad" panose="02010401010101010101" pitchFamily="2" charset="-79"/>
              <a:cs typeface="Guttman Yad" panose="02010401010101010101" pitchFamily="2" charset="-79"/>
            </a:endParaRPr>
          </a:p>
          <a:p>
            <a:pPr marL="0" indent="0" algn="ctr">
              <a:buNone/>
            </a:pPr>
            <a:r>
              <a:rPr lang="he-IL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פורסם בתאריך: 30.09.1954 , תחת השם:</a:t>
            </a:r>
          </a:p>
          <a:p>
            <a:pPr marL="0" indent="0" algn="ctr">
              <a:buNone/>
            </a:pPr>
            <a:r>
              <a:rPr lang="he-IL" b="1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"פקודת הבטיחות בעבודה, 1954" </a:t>
            </a:r>
            <a:endParaRPr lang="he-IL" b="1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2059" name="Picture 11" descr="C:\Users\pc\Desktop\607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076"/>
            <a:ext cx="9144000" cy="177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870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28192"/>
          </a:xfrm>
        </p:spPr>
      </p:pic>
      <p:sp>
        <p:nvSpPr>
          <p:cNvPr id="5" name="TextBox 4"/>
          <p:cNvSpPr txBox="1"/>
          <p:nvPr/>
        </p:nvSpPr>
        <p:spPr>
          <a:xfrm>
            <a:off x="611560" y="1988840"/>
            <a:ext cx="835292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b="1" dirty="0" smtClean="0"/>
              <a:t>שלב ב' : אושר בכנסת בקריאה שלישית</a:t>
            </a:r>
            <a:endParaRPr lang="he-IL" sz="3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79512" y="3212976"/>
            <a:ext cx="8784976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000" b="1" dirty="0" smtClean="0">
                <a:latin typeface="Guttman Yad" panose="02010401010101010101" pitchFamily="2" charset="-79"/>
                <a:cs typeface="Guttman Yad" panose="02010401010101010101" pitchFamily="2" charset="-79"/>
              </a:rPr>
              <a:t>" חוק לתיקון פקודת בתי החרושת, </a:t>
            </a:r>
            <a:r>
              <a:rPr lang="he-IL" sz="4000" b="1" dirty="0" err="1" smtClean="0">
                <a:latin typeface="Guttman Yad" panose="02010401010101010101" pitchFamily="2" charset="-79"/>
                <a:cs typeface="Guttman Yad" panose="02010401010101010101" pitchFamily="2" charset="-79"/>
              </a:rPr>
              <a:t>התשכ"ג</a:t>
            </a:r>
            <a:r>
              <a:rPr lang="he-IL" sz="4000" b="1" dirty="0" smtClean="0">
                <a:latin typeface="Guttman Yad" panose="02010401010101010101" pitchFamily="2" charset="-79"/>
                <a:cs typeface="Guttman Yad" panose="02010401010101010101" pitchFamily="2" charset="-79"/>
              </a:rPr>
              <a:t> - 1962</a:t>
            </a:r>
            <a:endParaRPr lang="he-IL" sz="4000" b="1" dirty="0">
              <a:latin typeface="Guttman Yad" panose="02010401010101010101" pitchFamily="2" charset="-79"/>
              <a:cs typeface="Guttman Yad" panose="02010401010101010101" pitchFamily="2" charset="-79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28" y="5013176"/>
            <a:ext cx="8352928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b="1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הובא לדיון במליאת הכנסת בתאריך: 24.12.1962</a:t>
            </a:r>
          </a:p>
          <a:p>
            <a:r>
              <a:rPr lang="he-IL" sz="3200" b="1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פורסם בתאריך: 01.01.1963</a:t>
            </a:r>
            <a:endParaRPr lang="he-IL" sz="3200" b="1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3370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 smtClean="0"/>
              <a:t>שלב ג': החוק הנוכחי</a:t>
            </a:r>
          </a:p>
          <a:p>
            <a:pPr marL="0" indent="0">
              <a:buNone/>
            </a:pPr>
            <a:endParaRPr lang="he-IL" dirty="0"/>
          </a:p>
          <a:p>
            <a:pPr marL="0" indent="0" algn="ctr">
              <a:buNone/>
            </a:pPr>
            <a:r>
              <a:rPr lang="he-IL" sz="3600" b="1" dirty="0" smtClean="0">
                <a:latin typeface="Guttman Yad" panose="02010401010101010101" pitchFamily="2" charset="-79"/>
                <a:cs typeface="Guttman Yad" panose="02010401010101010101" pitchFamily="2" charset="-79"/>
              </a:rPr>
              <a:t>פקודת הבטיחות בעבודה (נוסח חדש), </a:t>
            </a:r>
          </a:p>
          <a:p>
            <a:pPr marL="0" indent="0" algn="ctr">
              <a:buNone/>
            </a:pPr>
            <a:r>
              <a:rPr lang="he-IL" sz="3600" b="1" dirty="0" err="1" smtClean="0">
                <a:latin typeface="Guttman Yad" panose="02010401010101010101" pitchFamily="2" charset="-79"/>
                <a:cs typeface="Guttman Yad" panose="02010401010101010101" pitchFamily="2" charset="-79"/>
              </a:rPr>
              <a:t>התש"ל</a:t>
            </a:r>
            <a:r>
              <a:rPr lang="he-IL" sz="3600" b="1" dirty="0" smtClean="0">
                <a:latin typeface="Guttman Yad" panose="02010401010101010101" pitchFamily="2" charset="-79"/>
                <a:cs typeface="Guttman Yad" panose="02010401010101010101" pitchFamily="2" charset="-79"/>
              </a:rPr>
              <a:t> -1970</a:t>
            </a:r>
            <a:r>
              <a:rPr lang="he-IL" sz="3600" b="1" dirty="0" smtClean="0"/>
              <a:t> </a:t>
            </a:r>
          </a:p>
          <a:p>
            <a:pPr marL="0" indent="0" algn="ctr">
              <a:buNone/>
            </a:pPr>
            <a:endParaRPr lang="he-IL" sz="3600" b="1" dirty="0"/>
          </a:p>
          <a:p>
            <a:pPr marL="0" indent="0">
              <a:buNone/>
            </a:pPr>
            <a:r>
              <a:rPr lang="he-IL" b="1" dirty="0" smtClean="0">
                <a:solidFill>
                  <a:srgbClr val="FF0000"/>
                </a:solidFill>
              </a:rPr>
              <a:t>פורסם בתאריך: 30.08.1970</a:t>
            </a:r>
            <a:endParaRPr lang="he-IL" b="1" dirty="0">
              <a:solidFill>
                <a:srgbClr val="FF0000"/>
              </a:solidFill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1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9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2743200"/>
            <a:ext cx="7772400" cy="3062064"/>
          </a:xfrm>
        </p:spPr>
        <p:txBody>
          <a:bodyPr/>
          <a:lstStyle/>
          <a:p>
            <a:pPr eaLnBrk="1" hangingPunct="1"/>
            <a:r>
              <a:rPr lang="he-IL" altLang="he-IL" b="1" dirty="0" smtClean="0">
                <a:cs typeface="David" pitchFamily="34" charset="-79"/>
              </a:rPr>
              <a:t>י פרקים</a:t>
            </a:r>
          </a:p>
          <a:p>
            <a:pPr eaLnBrk="1" hangingPunct="1"/>
            <a:r>
              <a:rPr lang="he-IL" altLang="he-IL" b="1" dirty="0" smtClean="0">
                <a:cs typeface="David" pitchFamily="34" charset="-79"/>
              </a:rPr>
              <a:t>248 סעיפים</a:t>
            </a:r>
          </a:p>
          <a:p>
            <a:pPr eaLnBrk="1" hangingPunct="1"/>
            <a:r>
              <a:rPr lang="he-IL" altLang="he-IL" b="1" dirty="0" smtClean="0">
                <a:cs typeface="David" pitchFamily="34" charset="-79"/>
              </a:rPr>
              <a:t>תוספות</a:t>
            </a:r>
          </a:p>
          <a:p>
            <a:pPr eaLnBrk="1" hangingPunct="1"/>
            <a:r>
              <a:rPr lang="he-IL" altLang="he-IL" b="1" dirty="0" smtClean="0">
                <a:cs typeface="David" pitchFamily="34" charset="-79"/>
              </a:rPr>
              <a:t>תקנות הבטיחות בעבודה</a:t>
            </a:r>
          </a:p>
          <a:p>
            <a:pPr eaLnBrk="1" hangingPunct="1"/>
            <a:r>
              <a:rPr lang="he-IL" altLang="he-IL" b="1" dirty="0" smtClean="0">
                <a:cs typeface="David" pitchFamily="34" charset="-79"/>
              </a:rPr>
              <a:t>צווים</a:t>
            </a:r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DE4636-9C0C-491A-99AE-5319CE231694}" type="slidenum">
              <a:rPr lang="en-US" altLang="he-IL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altLang="he-IL" dirty="0">
              <a:solidFill>
                <a:srgbClr val="000000"/>
              </a:solidFill>
            </a:endParaRPr>
          </a:p>
        </p:txBody>
      </p:sp>
      <p:sp>
        <p:nvSpPr>
          <p:cNvPr id="3" name="כותרת 2"/>
          <p:cNvSpPr>
            <a:spLocks noGrp="1"/>
          </p:cNvSpPr>
          <p:nvPr>
            <p:ph type="title"/>
          </p:nvPr>
        </p:nvSpPr>
        <p:spPr>
          <a:xfrm>
            <a:off x="0" y="1268760"/>
            <a:ext cx="9144000" cy="1008112"/>
          </a:xfrm>
        </p:spPr>
        <p:txBody>
          <a:bodyPr/>
          <a:lstStyle/>
          <a:p>
            <a:pPr marL="342900" lvl="0" indent="-342900" eaLnBrk="1" hangingPunct="1">
              <a:spcBef>
                <a:spcPct val="20000"/>
              </a:spcBef>
            </a:pPr>
            <a:r>
              <a:rPr lang="he-IL" altLang="he-IL" sz="3200" b="1" u="sng" dirty="0" smtClean="0">
                <a:solidFill>
                  <a:srgbClr val="000000"/>
                </a:solidFill>
                <a:ea typeface="+mn-ea"/>
                <a:cs typeface="David" pitchFamily="34" charset="-79"/>
              </a:rPr>
              <a:t/>
            </a:r>
            <a:br>
              <a:rPr lang="he-IL" altLang="he-IL" sz="3200" b="1" u="sng" dirty="0" smtClean="0">
                <a:solidFill>
                  <a:srgbClr val="000000"/>
                </a:solidFill>
                <a:ea typeface="+mn-ea"/>
                <a:cs typeface="David" pitchFamily="34" charset="-79"/>
              </a:rPr>
            </a:br>
            <a:r>
              <a:rPr lang="he-IL" altLang="he-IL" sz="3200" b="1" u="sng" dirty="0" smtClean="0">
                <a:solidFill>
                  <a:srgbClr val="000000"/>
                </a:solidFill>
                <a:ea typeface="+mn-ea"/>
                <a:cs typeface="David" pitchFamily="34" charset="-79"/>
              </a:rPr>
              <a:t>פקודת </a:t>
            </a:r>
            <a:r>
              <a:rPr lang="he-IL" altLang="he-IL" sz="3200" b="1" u="sng" dirty="0">
                <a:solidFill>
                  <a:srgbClr val="000000"/>
                </a:solidFill>
                <a:ea typeface="+mn-ea"/>
                <a:cs typeface="David" pitchFamily="34" charset="-79"/>
              </a:rPr>
              <a:t>הבטיחות בעבודה, 1954 (נוסח </a:t>
            </a:r>
            <a:r>
              <a:rPr lang="he-IL" altLang="he-IL" sz="3200" b="1" u="sng" dirty="0" smtClean="0">
                <a:solidFill>
                  <a:srgbClr val="000000"/>
                </a:solidFill>
                <a:ea typeface="+mn-ea"/>
                <a:cs typeface="David" pitchFamily="34" charset="-79"/>
              </a:rPr>
              <a:t>חדש</a:t>
            </a:r>
            <a:r>
              <a:rPr lang="he-IL" altLang="he-IL" sz="3200" u="sng" dirty="0" smtClean="0">
                <a:solidFill>
                  <a:srgbClr val="000000"/>
                </a:solidFill>
                <a:ea typeface="+mn-ea"/>
                <a:cs typeface="David" pitchFamily="34" charset="-79"/>
              </a:rPr>
              <a:t>) </a:t>
            </a:r>
            <a:r>
              <a:rPr lang="he-IL" altLang="he-IL" sz="3200" b="1" u="sng" dirty="0" smtClean="0">
                <a:solidFill>
                  <a:srgbClr val="000000"/>
                </a:solidFill>
                <a:ea typeface="+mn-ea"/>
                <a:cs typeface="David" pitchFamily="34" charset="-79"/>
              </a:rPr>
              <a:t>תש"ל </a:t>
            </a:r>
            <a:r>
              <a:rPr lang="he-IL" altLang="he-IL" sz="3200" b="1" u="sng" dirty="0">
                <a:solidFill>
                  <a:srgbClr val="000000"/>
                </a:solidFill>
                <a:ea typeface="+mn-ea"/>
                <a:cs typeface="David" pitchFamily="34" charset="-79"/>
              </a:rPr>
              <a:t>1970 </a:t>
            </a:r>
            <a:br>
              <a:rPr lang="he-IL" altLang="he-IL" sz="3200" b="1" u="sng" dirty="0">
                <a:solidFill>
                  <a:srgbClr val="000000"/>
                </a:solidFill>
                <a:ea typeface="+mn-ea"/>
                <a:cs typeface="David" pitchFamily="34" charset="-79"/>
              </a:rPr>
            </a:br>
            <a:endParaRPr lang="he-IL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300192" y="-30234"/>
            <a:ext cx="2828347" cy="76944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r>
              <a:rPr lang="he-IL" sz="4400" b="1" dirty="0" smtClean="0"/>
              <a:t>הרכב החוק</a:t>
            </a:r>
            <a:endParaRPr lang="he-IL" sz="4400" b="1" dirty="0"/>
          </a:p>
        </p:txBody>
      </p:sp>
    </p:spTree>
    <p:extLst>
      <p:ext uri="{BB962C8B-B14F-4D97-AF65-F5344CB8AC3E}">
        <p14:creationId xmlns:p14="http://schemas.microsoft.com/office/powerpoint/2010/main" val="4184494879"/>
      </p:ext>
    </p:extLst>
  </p:cSld>
  <p:clrMapOvr>
    <a:masterClrMapping/>
  </p:clrMapOvr>
  <p:transition>
    <p:blinds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5949843" y="0"/>
            <a:ext cx="3178696" cy="1143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he-IL" b="1" dirty="0" smtClean="0"/>
              <a:t>פירוט החוק</a:t>
            </a:r>
            <a:endParaRPr lang="he-IL" b="1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9647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e-IL" altLang="he-IL" b="1" u="sng" kern="0" dirty="0">
                <a:solidFill>
                  <a:srgbClr val="000000"/>
                </a:solidFill>
                <a:latin typeface="Arial Narrow"/>
                <a:ea typeface="+mj-ea"/>
                <a:cs typeface="David" pitchFamily="34" charset="-79"/>
              </a:rPr>
              <a:t>פקודת הבטיחות </a:t>
            </a:r>
            <a:r>
              <a:rPr lang="he-IL" altLang="he-IL" b="1" u="sng" kern="0" dirty="0">
                <a:solidFill>
                  <a:srgbClr val="000000"/>
                </a:solidFill>
                <a:latin typeface="Arial Narrow"/>
                <a:ea typeface="+mj-ea"/>
                <a:cs typeface="David" pitchFamily="34" charset="-79"/>
                <a:hlinkClick r:id="rId2" action="ppaction://hlinkfile"/>
              </a:rPr>
              <a:t>בעבודה</a:t>
            </a:r>
            <a:r>
              <a:rPr lang="he-IL" altLang="he-IL" b="1" u="sng" kern="0" dirty="0">
                <a:solidFill>
                  <a:srgbClr val="000000"/>
                </a:solidFill>
                <a:latin typeface="Arial Narrow"/>
                <a:ea typeface="+mj-ea"/>
                <a:cs typeface="David" pitchFamily="34" charset="-79"/>
              </a:rPr>
              <a:t>, 1954 (נוסח חדש</a:t>
            </a:r>
            <a:r>
              <a:rPr lang="he-IL" altLang="he-IL" u="sng" kern="0" dirty="0">
                <a:solidFill>
                  <a:srgbClr val="000000"/>
                </a:solidFill>
                <a:latin typeface="Arial Narrow"/>
                <a:ea typeface="+mj-ea"/>
                <a:cs typeface="David" pitchFamily="34" charset="-79"/>
              </a:rPr>
              <a:t>) </a:t>
            </a:r>
            <a:r>
              <a:rPr lang="he-IL" altLang="he-IL" b="1" u="sng" kern="0" dirty="0">
                <a:solidFill>
                  <a:srgbClr val="000000"/>
                </a:solidFill>
                <a:latin typeface="Arial Narrow"/>
                <a:ea typeface="+mj-ea"/>
                <a:cs typeface="David" pitchFamily="34" charset="-79"/>
              </a:rPr>
              <a:t>תש"ל 1970 </a:t>
            </a:r>
            <a:br>
              <a:rPr lang="he-IL" altLang="he-IL" b="1" u="sng" kern="0" dirty="0">
                <a:solidFill>
                  <a:srgbClr val="000000"/>
                </a:solidFill>
                <a:latin typeface="Arial Narrow"/>
                <a:ea typeface="+mj-ea"/>
                <a:cs typeface="David" pitchFamily="34" charset="-79"/>
              </a:rPr>
            </a:br>
            <a:endParaRPr lang="he-IL" dirty="0"/>
          </a:p>
        </p:txBody>
      </p:sp>
      <p:graphicFrame>
        <p:nvGraphicFramePr>
          <p:cNvPr id="5" name="טבלה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612426"/>
              </p:ext>
            </p:extLst>
          </p:nvPr>
        </p:nvGraphicFramePr>
        <p:xfrm>
          <a:off x="1924050" y="2492895"/>
          <a:ext cx="6464374" cy="2743200"/>
        </p:xfrm>
        <a:graphic>
          <a:graphicData uri="http://schemas.openxmlformats.org/drawingml/2006/table">
            <a:tbl>
              <a:tblPr rtl="1"/>
              <a:tblGrid>
                <a:gridCol w="6464374"/>
              </a:tblGrid>
              <a:tr h="59392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40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פרק א': פרשנות ותחולה</a:t>
                      </a:r>
                      <a:endParaRPr lang="en-US" sz="4000" b="1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392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40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סימן א': פרשנות</a:t>
                      </a:r>
                      <a:endParaRPr lang="en-US" sz="4000" b="1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392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40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הגדרות</a:t>
                      </a:r>
                      <a:endParaRPr lang="en-US" sz="4000" b="1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03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83568" y="2276872"/>
            <a:ext cx="8229600" cy="1143000"/>
          </a:xfrm>
        </p:spPr>
        <p:txBody>
          <a:bodyPr>
            <a:normAutofit fontScale="90000"/>
          </a:bodyPr>
          <a:lstStyle/>
          <a:p>
            <a:pPr algn="r">
              <a:spcBef>
                <a:spcPts val="360"/>
              </a:spcBef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</a:rPr>
              <a:t>"עובד" – </a:t>
            </a:r>
            <a:r>
              <a:rPr lang="he-IL" sz="3600" dirty="0">
                <a:latin typeface="Times New Roman"/>
                <a:ea typeface="Times New Roman"/>
              </a:rPr>
              <a:t>לרבות </a:t>
            </a:r>
            <a:r>
              <a:rPr lang="he-IL" sz="3600" dirty="0" smtClean="0">
                <a:latin typeface="Times New Roman"/>
                <a:ea typeface="Times New Roman"/>
              </a:rPr>
              <a:t>עובד</a:t>
            </a:r>
            <a:br>
              <a:rPr lang="he-IL" sz="3600" dirty="0" smtClean="0">
                <a:latin typeface="Times New Roman"/>
                <a:ea typeface="Times New Roman"/>
              </a:rPr>
            </a:br>
            <a:r>
              <a:rPr lang="he-IL" sz="3600" dirty="0" smtClean="0">
                <a:latin typeface="Times New Roman"/>
                <a:ea typeface="Times New Roman"/>
              </a:rPr>
              <a:t> </a:t>
            </a:r>
            <a:r>
              <a:rPr lang="he-IL" sz="3600" dirty="0">
                <a:latin typeface="Times New Roman"/>
                <a:ea typeface="Times New Roman"/>
              </a:rPr>
              <a:t>עצמאי ומשתקם </a:t>
            </a:r>
            <a:r>
              <a:rPr lang="he-IL" sz="3600" dirty="0" smtClean="0">
                <a:latin typeface="Times New Roman"/>
                <a:ea typeface="Times New Roman"/>
              </a:rPr>
              <a:t>כהגדרתו</a:t>
            </a:r>
            <a:br>
              <a:rPr lang="he-IL" sz="3600" dirty="0" smtClean="0">
                <a:latin typeface="Times New Roman"/>
                <a:ea typeface="Times New Roman"/>
              </a:rPr>
            </a:br>
            <a:r>
              <a:rPr lang="he-IL" sz="3600" dirty="0" smtClean="0">
                <a:latin typeface="Times New Roman"/>
                <a:ea typeface="Times New Roman"/>
              </a:rPr>
              <a:t> </a:t>
            </a:r>
            <a:r>
              <a:rPr lang="he-IL" sz="3600" dirty="0">
                <a:latin typeface="Times New Roman"/>
                <a:ea typeface="Times New Roman"/>
              </a:rPr>
              <a:t>בחוק זכויות לאנשים </a:t>
            </a:r>
            <a:r>
              <a:rPr lang="he-IL" sz="3600" dirty="0" smtClean="0">
                <a:latin typeface="Times New Roman"/>
                <a:ea typeface="Times New Roman"/>
              </a:rPr>
              <a:t>עם</a:t>
            </a:r>
            <a:br>
              <a:rPr lang="he-IL" sz="3600" dirty="0" smtClean="0">
                <a:latin typeface="Times New Roman"/>
                <a:ea typeface="Times New Roman"/>
              </a:rPr>
            </a:br>
            <a:r>
              <a:rPr lang="he-IL" sz="3600" dirty="0" smtClean="0">
                <a:latin typeface="Times New Roman"/>
                <a:ea typeface="Times New Roman"/>
              </a:rPr>
              <a:t> </a:t>
            </a:r>
            <a:r>
              <a:rPr lang="he-IL" sz="3600" dirty="0">
                <a:latin typeface="Times New Roman"/>
                <a:ea typeface="Times New Roman"/>
              </a:rPr>
              <a:t>מוגבלות המועסקים </a:t>
            </a:r>
            <a:r>
              <a:rPr lang="he-IL" sz="3600" dirty="0" smtClean="0">
                <a:latin typeface="Times New Roman"/>
                <a:ea typeface="Times New Roman"/>
              </a:rPr>
              <a:t/>
            </a:r>
            <a:br>
              <a:rPr lang="he-IL" sz="3600" dirty="0" smtClean="0">
                <a:latin typeface="Times New Roman"/>
                <a:ea typeface="Times New Roman"/>
              </a:rPr>
            </a:br>
            <a:r>
              <a:rPr lang="he-IL" sz="3600" dirty="0" smtClean="0">
                <a:latin typeface="Times New Roman"/>
                <a:ea typeface="Times New Roman"/>
              </a:rPr>
              <a:t>כמשתקמים </a:t>
            </a:r>
            <a:r>
              <a:rPr lang="he-IL" sz="3600" dirty="0">
                <a:latin typeface="Times New Roman"/>
                <a:ea typeface="Times New Roman"/>
              </a:rPr>
              <a:t>(הוראת שעה</a:t>
            </a:r>
            <a:r>
              <a:rPr lang="he-IL" sz="3600" dirty="0" smtClean="0">
                <a:latin typeface="Times New Roman"/>
                <a:ea typeface="Times New Roman"/>
              </a:rPr>
              <a:t>),</a:t>
            </a:r>
            <a:br>
              <a:rPr lang="he-IL" sz="3600" dirty="0" smtClean="0">
                <a:latin typeface="Times New Roman"/>
                <a:ea typeface="Times New Roman"/>
              </a:rPr>
            </a:br>
            <a:r>
              <a:rPr lang="he-IL" sz="3600" dirty="0" smtClean="0">
                <a:latin typeface="Times New Roman"/>
                <a:ea typeface="Times New Roman"/>
              </a:rPr>
              <a:t> </a:t>
            </a:r>
            <a:r>
              <a:rPr lang="he-IL" sz="3600" dirty="0">
                <a:latin typeface="Times New Roman"/>
                <a:ea typeface="Times New Roman"/>
              </a:rPr>
              <a:t>התשס"ז-2007;</a:t>
            </a:r>
            <a:r>
              <a:rPr lang="en-US" sz="3600" dirty="0">
                <a:latin typeface="Times New Roman"/>
                <a:ea typeface="Times New Roman"/>
                <a:cs typeface="FrankRuehl"/>
              </a:rPr>
              <a:t/>
            </a:r>
            <a:br>
              <a:rPr lang="en-US" sz="3600" dirty="0">
                <a:latin typeface="Times New Roman"/>
                <a:ea typeface="Times New Roman"/>
                <a:cs typeface="FrankRuehl"/>
              </a:rPr>
            </a:br>
            <a:endParaRPr lang="he-IL" sz="3600" dirty="0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4744"/>
            <a:ext cx="3846501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60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11560" y="126876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he-IL" sz="4000" dirty="0">
                <a:latin typeface="Times New Roman"/>
                <a:ea typeface="Times New Roman"/>
                <a:cs typeface="Times New Roman"/>
              </a:rPr>
              <a:t>"מעסיק"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– לרבות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חבר</a:t>
            </a:r>
          </a:p>
          <a:p>
            <a:pPr marL="0" indent="0">
              <a:buNone/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בני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אדם, מואגד או בלתי מואגד, </a:t>
            </a:r>
            <a:endParaRPr lang="he-IL" dirty="0" smtClean="0"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ונציגו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החוקי של מעסיק שנפטר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;</a:t>
            </a:r>
          </a:p>
          <a:p>
            <a:pPr marL="0" indent="0">
              <a:buNone/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לגבי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חבר של אגודה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שיתופית</a:t>
            </a:r>
          </a:p>
          <a:p>
            <a:pPr marL="0" indent="0">
              <a:buNone/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רשומה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העוסק בעבודה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המבוצעת</a:t>
            </a:r>
          </a:p>
          <a:p>
            <a:pPr marL="0" indent="0">
              <a:buNone/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על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ידי אותה אגודה, יראו </a:t>
            </a:r>
            <a:r>
              <a:rPr lang="he-IL" dirty="0" err="1">
                <a:latin typeface="Times New Roman"/>
                <a:ea typeface="Times New Roman"/>
                <a:cs typeface="Times New Roman"/>
              </a:rPr>
              <a:t>לענין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 </a:t>
            </a:r>
            <a:endParaRPr lang="he-IL" dirty="0" smtClean="0"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פקודה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זו את האגודה כמעסיק של החבר ואת החבר כעובד האגודה, אף-על-פי שהוא מקבל גמול עבודתו, כולו או מקצתו, על ידי השתתפות ברווחי האגודה או בהכנסתה ברוטו;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64219"/>
            <a:ext cx="3888432" cy="290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01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39552" y="476672"/>
            <a:ext cx="8229600" cy="5904656"/>
          </a:xfrm>
        </p:spPr>
        <p:txBody>
          <a:bodyPr>
            <a:normAutofit fontScale="92500" lnSpcReduction="20000"/>
          </a:bodyPr>
          <a:lstStyle/>
          <a:p>
            <a:pPr algn="just">
              <a:spcBef>
                <a:spcPts val="360"/>
              </a:spcBef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endParaRPr lang="he-IL" sz="4400" dirty="0" smtClean="0">
              <a:latin typeface="Times New Roman"/>
              <a:ea typeface="Times New Roman"/>
              <a:cs typeface="Times New Roman"/>
            </a:endParaRPr>
          </a:p>
          <a:p>
            <a:pPr algn="just">
              <a:spcBef>
                <a:spcPts val="360"/>
              </a:spcBef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4400" dirty="0" smtClean="0">
                <a:latin typeface="Times New Roman"/>
                <a:ea typeface="Times New Roman"/>
                <a:cs typeface="Times New Roman"/>
              </a:rPr>
              <a:t>מפעל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הוא חצרים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שבהם</a:t>
            </a:r>
          </a:p>
          <a:p>
            <a:pPr marL="0" indent="0" algn="just">
              <a:spcBef>
                <a:spcPts val="360"/>
              </a:spcBef>
              <a:buNone/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או </a:t>
            </a:r>
            <a:r>
              <a:rPr lang="he-IL" dirty="0" err="1">
                <a:latin typeface="Times New Roman"/>
                <a:ea typeface="Times New Roman"/>
                <a:cs typeface="Times New Roman"/>
              </a:rPr>
              <a:t>בגידרתם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 או מסביב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להם</a:t>
            </a:r>
          </a:p>
          <a:p>
            <a:pPr marL="0" indent="0" algn="just">
              <a:spcBef>
                <a:spcPts val="360"/>
              </a:spcBef>
              <a:buNone/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עובדים בני אדם בעבודת </a:t>
            </a:r>
            <a:endParaRPr lang="he-IL" dirty="0" smtClean="0"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spcBef>
                <a:spcPts val="360"/>
              </a:spcBef>
              <a:buNone/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כפיים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בתהליך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המשמש</a:t>
            </a:r>
          </a:p>
          <a:p>
            <a:pPr marL="0" indent="0" algn="just">
              <a:spcBef>
                <a:spcPts val="360"/>
              </a:spcBef>
              <a:buNone/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לעשיית מצרך או חלק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של</a:t>
            </a:r>
          </a:p>
          <a:p>
            <a:pPr marL="0" indent="0" algn="just">
              <a:spcBef>
                <a:spcPts val="360"/>
              </a:spcBef>
              <a:buNone/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מצרך, שינויו, תיקונו, עיטורו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,</a:t>
            </a:r>
          </a:p>
          <a:p>
            <a:pPr marL="0" indent="0" algn="just">
              <a:spcBef>
                <a:spcPts val="360"/>
              </a:spcBef>
              <a:buNone/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גימורו, ניקויו, רחיצתו, פירוקו, </a:t>
            </a:r>
            <a:endParaRPr lang="he-IL" dirty="0" smtClean="0">
              <a:latin typeface="Times New Roman"/>
              <a:ea typeface="Times New Roman"/>
              <a:cs typeface="Times New Roman"/>
            </a:endParaRPr>
          </a:p>
          <a:p>
            <a:pPr marL="0" indent="0" algn="just">
              <a:spcBef>
                <a:spcPts val="360"/>
              </a:spcBef>
              <a:buNone/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הריסתו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או הכשרתו למכירה,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 </a:t>
            </a:r>
          </a:p>
          <a:p>
            <a:pPr marL="0" indent="0" algn="just">
              <a:spcBef>
                <a:spcPts val="360"/>
              </a:spcBef>
              <a:buNone/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ea typeface="Times New Roman"/>
                <a:cs typeface="Times New Roman"/>
              </a:rPr>
              <a:t> או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הכרוך באלה, ונתקיימו בחצרים שתי אלה:</a:t>
            </a:r>
            <a:endParaRPr lang="en-US" dirty="0">
              <a:latin typeface="Times New Roman"/>
              <a:ea typeface="Times New Roman"/>
              <a:cs typeface="FrankRuehl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  <a:cs typeface="Times New Roman"/>
              </a:rPr>
              <a:t>(1)	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 פעולת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המפעל היא דרך משלח-יד או לשם השתכרות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;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r>
              <a:rPr lang="he-IL" dirty="0" smtClean="0">
                <a:latin typeface="Times New Roman"/>
                <a:cs typeface="Times New Roman"/>
              </a:rPr>
              <a:t>(</a:t>
            </a:r>
            <a:r>
              <a:rPr lang="he-IL" dirty="0">
                <a:latin typeface="Times New Roman"/>
                <a:cs typeface="Times New Roman"/>
              </a:rPr>
              <a:t>2)	</a:t>
            </a:r>
            <a:r>
              <a:rPr lang="he-IL" dirty="0">
                <a:latin typeface="Times New Roman"/>
                <a:cs typeface="+mj-cs"/>
              </a:rPr>
              <a:t>אם מועסקים שם עובדים שכירים – יש למעסיקם זכות גישה או זכות שליטה.</a:t>
            </a:r>
            <a:r>
              <a:rPr lang="en-US" dirty="0">
                <a:cs typeface="+mj-cs"/>
              </a:rPr>
              <a:t> </a:t>
            </a:r>
            <a:endParaRPr lang="he-IL" dirty="0">
              <a:cs typeface="+mj-cs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836712"/>
            <a:ext cx="3528392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09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5721499"/>
          </a:xfrm>
        </p:spPr>
        <p:txBody>
          <a:bodyPr>
            <a:normAutofit fontScale="85000" lnSpcReduction="10000"/>
          </a:bodyPr>
          <a:lstStyle/>
          <a:p>
            <a:pPr marL="53340" marR="396240" indent="0" algn="just">
              <a:spcBef>
                <a:spcPts val="360"/>
              </a:spcBef>
              <a:buNone/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4700" dirty="0" smtClean="0">
                <a:latin typeface="Times New Roman"/>
                <a:cs typeface="Miriam"/>
              </a:rPr>
              <a:t> </a:t>
            </a:r>
            <a:r>
              <a:rPr lang="he-IL" sz="4700" dirty="0" smtClean="0">
                <a:latin typeface="Times New Roman"/>
                <a:cs typeface="+mj-cs"/>
              </a:rPr>
              <a:t>3</a:t>
            </a:r>
            <a:r>
              <a:rPr lang="he-IL" sz="4700" dirty="0">
                <a:latin typeface="Times New Roman"/>
                <a:cs typeface="+mj-cs"/>
              </a:rPr>
              <a:t>.	אף </a:t>
            </a:r>
            <a:r>
              <a:rPr lang="he-IL" sz="4700" dirty="0" err="1">
                <a:latin typeface="Times New Roman"/>
                <a:cs typeface="+mj-cs"/>
              </a:rPr>
              <a:t>החצרים</a:t>
            </a:r>
            <a:r>
              <a:rPr lang="he-IL" sz="4700" dirty="0">
                <a:latin typeface="Times New Roman"/>
                <a:cs typeface="+mj-cs"/>
              </a:rPr>
              <a:t> המנויים להלן</a:t>
            </a:r>
            <a:r>
              <a:rPr lang="he-IL" dirty="0">
                <a:latin typeface="Times New Roman"/>
                <a:cs typeface="Times New Roman"/>
              </a:rPr>
              <a:t>, </a:t>
            </a:r>
            <a:r>
              <a:rPr lang="he-IL" sz="3800" dirty="0">
                <a:latin typeface="Times New Roman"/>
                <a:cs typeface="Times New Roman"/>
              </a:rPr>
              <a:t>שבהם עובדים בני אדם בעבודת כפיים, בכלל מפעל הם, גם אם אינם כן לפי ההגדרה בסעיף 2, ואלה הם:</a:t>
            </a:r>
            <a:r>
              <a:rPr lang="en-US" sz="3800" dirty="0"/>
              <a:t> </a:t>
            </a:r>
            <a:r>
              <a:rPr lang="he-IL" sz="3800" dirty="0">
                <a:latin typeface="Times New Roman"/>
                <a:ea typeface="Times New Roman"/>
                <a:cs typeface="Times New Roman"/>
              </a:rPr>
              <a:t>(1)	מקום שבו נעשית פעולה לשם מטרת נפט כמשמעותה בסעיף 44 לחוק הנפט, תשי"ב-1952;</a:t>
            </a:r>
            <a:endParaRPr lang="en-US" sz="3800" dirty="0">
              <a:latin typeface="Times New Roman"/>
              <a:ea typeface="Times New Roman"/>
              <a:cs typeface="FrankRuehl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800" dirty="0">
                <a:latin typeface="Times New Roman"/>
                <a:ea typeface="Times New Roman"/>
                <a:cs typeface="Times New Roman"/>
              </a:rPr>
              <a:t>(2)	מכרה כמשמעותו בפקודת המכרות;</a:t>
            </a:r>
            <a:endParaRPr lang="en-US" sz="3800" dirty="0">
              <a:latin typeface="Times New Roman"/>
              <a:ea typeface="Times New Roman"/>
              <a:cs typeface="FrankRuehl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800" dirty="0">
                <a:latin typeface="Times New Roman"/>
                <a:ea typeface="Times New Roman"/>
                <a:cs typeface="Times New Roman"/>
              </a:rPr>
              <a:t>(3)	מחצבה;</a:t>
            </a:r>
            <a:endParaRPr lang="en-US" sz="3800" dirty="0">
              <a:latin typeface="Times New Roman"/>
              <a:ea typeface="Times New Roman"/>
              <a:cs typeface="FrankRuehl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800" dirty="0">
                <a:latin typeface="Times New Roman"/>
                <a:ea typeface="Times New Roman"/>
                <a:cs typeface="Times New Roman"/>
              </a:rPr>
              <a:t>(4)	חצרים שבהם עוסקים </a:t>
            </a:r>
            <a:r>
              <a:rPr lang="he-IL" sz="3800" dirty="0" err="1">
                <a:latin typeface="Times New Roman"/>
                <a:ea typeface="Times New Roman"/>
                <a:cs typeface="Times New Roman"/>
              </a:rPr>
              <a:t>באינקול</a:t>
            </a:r>
            <a:r>
              <a:rPr lang="he-IL" sz="3800" dirty="0">
                <a:latin typeface="Times New Roman"/>
                <a:ea typeface="Times New Roman"/>
                <a:cs typeface="Times New Roman"/>
              </a:rPr>
              <a:t>, בקיפול, בגלילה, בהשלמה או באריזה של מטווה או אריג;</a:t>
            </a:r>
            <a:endParaRPr lang="en-US" sz="3800" dirty="0">
              <a:latin typeface="Times New Roman"/>
              <a:ea typeface="Times New Roman"/>
              <a:cs typeface="FrankRuehl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800" dirty="0">
                <a:latin typeface="Times New Roman"/>
                <a:ea typeface="Times New Roman"/>
                <a:cs typeface="Times New Roman"/>
              </a:rPr>
              <a:t>(5)	מספנה או מבדוק יבש, לרבות סביבתם, שבהם בונים, בונים מחדש, מתקנים, מכללים מחדש, מגמרים או מפרקים אניות או כלי שיט אחרים;</a:t>
            </a:r>
            <a:endParaRPr lang="en-US" sz="3800" dirty="0">
              <a:effectLst/>
              <a:latin typeface="Times New Roman"/>
              <a:ea typeface="Times New Roman"/>
              <a:cs typeface="FrankRuehl"/>
            </a:endParaRPr>
          </a:p>
        </p:txBody>
      </p:sp>
    </p:spTree>
    <p:extLst>
      <p:ext uri="{BB962C8B-B14F-4D97-AF65-F5344CB8AC3E}">
        <p14:creationId xmlns:p14="http://schemas.microsoft.com/office/powerpoint/2010/main" val="2248163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92500" lnSpcReduction="20000"/>
          </a:bodyPr>
          <a:lstStyle/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500" dirty="0">
                <a:latin typeface="Times New Roman"/>
                <a:ea typeface="Times New Roman"/>
                <a:cs typeface="+mj-cs"/>
              </a:rPr>
              <a:t>(6)	מקום שבו מבוצע קידוח מים;</a:t>
            </a:r>
            <a:endParaRPr lang="en-US" sz="3500" dirty="0">
              <a:latin typeface="Times New Roman"/>
              <a:ea typeface="Times New Roman"/>
              <a:cs typeface="+mj-cs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500" dirty="0">
                <a:latin typeface="Times New Roman"/>
                <a:ea typeface="Times New Roman"/>
                <a:cs typeface="+mj-cs"/>
              </a:rPr>
              <a:t>(7)	מפעל-מים או מקום אחר שבהם משתמשים בכוח </a:t>
            </a:r>
            <a:r>
              <a:rPr lang="he-IL" sz="3500" dirty="0" err="1">
                <a:latin typeface="Times New Roman"/>
                <a:ea typeface="Times New Roman"/>
                <a:cs typeface="+mj-cs"/>
              </a:rPr>
              <a:t>מיכאני</a:t>
            </a:r>
            <a:r>
              <a:rPr lang="he-IL" sz="3500" dirty="0">
                <a:latin typeface="Times New Roman"/>
                <a:ea typeface="Times New Roman"/>
                <a:cs typeface="+mj-cs"/>
              </a:rPr>
              <a:t> לשם הספקת מים לציבור או בקשר לכך;</a:t>
            </a:r>
            <a:endParaRPr lang="en-US" sz="3500" dirty="0">
              <a:latin typeface="Times New Roman"/>
              <a:ea typeface="Times New Roman"/>
              <a:cs typeface="+mj-cs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500" dirty="0">
                <a:latin typeface="Times New Roman"/>
                <a:ea typeface="Times New Roman"/>
                <a:cs typeface="+mj-cs"/>
              </a:rPr>
              <a:t>(8)	מפעל-ביוב או מפעל-השקיה שבהם משתמשים בכוח </a:t>
            </a:r>
            <a:r>
              <a:rPr lang="he-IL" sz="3500" dirty="0" err="1">
                <a:latin typeface="Times New Roman"/>
                <a:ea typeface="Times New Roman"/>
                <a:cs typeface="+mj-cs"/>
              </a:rPr>
              <a:t>מיכאני</a:t>
            </a:r>
            <a:r>
              <a:rPr lang="he-IL" sz="3500" dirty="0">
                <a:latin typeface="Times New Roman"/>
                <a:ea typeface="Times New Roman"/>
                <a:cs typeface="+mj-cs"/>
              </a:rPr>
              <a:t> וכן תחנת שאיבה המשמשת בקשר למפעל כאמור; </a:t>
            </a:r>
            <a:endParaRPr lang="en-US" sz="3500" dirty="0">
              <a:latin typeface="Times New Roman"/>
              <a:ea typeface="Times New Roman"/>
              <a:cs typeface="+mj-cs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500" dirty="0">
                <a:latin typeface="Times New Roman"/>
                <a:ea typeface="Times New Roman"/>
                <a:cs typeface="+mj-cs"/>
              </a:rPr>
              <a:t>(9)	תחנה הידרולית לייצור כוח;</a:t>
            </a:r>
            <a:endParaRPr lang="en-US" sz="3500" dirty="0">
              <a:latin typeface="Times New Roman"/>
              <a:ea typeface="Times New Roman"/>
              <a:cs typeface="+mj-cs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500" dirty="0">
                <a:latin typeface="Times New Roman"/>
                <a:ea typeface="Times New Roman"/>
                <a:cs typeface="+mj-cs"/>
              </a:rPr>
              <a:t>(10)	חצרים שבהם עוסקים דרך משלח-יד או לשם השתכרות –</a:t>
            </a:r>
            <a:endParaRPr lang="en-US" sz="3500" dirty="0">
              <a:latin typeface="Times New Roman"/>
              <a:ea typeface="Times New Roman"/>
              <a:cs typeface="+mj-cs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500" dirty="0">
                <a:latin typeface="Times New Roman"/>
                <a:ea typeface="Times New Roman"/>
                <a:cs typeface="+mj-cs"/>
              </a:rPr>
              <a:t>(א)	בהדפסה </a:t>
            </a:r>
            <a:r>
              <a:rPr lang="he-IL" sz="3500" dirty="0" err="1">
                <a:latin typeface="Times New Roman"/>
                <a:ea typeface="Times New Roman"/>
                <a:cs typeface="+mj-cs"/>
              </a:rPr>
              <a:t>בדפסות</a:t>
            </a:r>
            <a:r>
              <a:rPr lang="he-IL" sz="3500" dirty="0">
                <a:latin typeface="Times New Roman"/>
                <a:ea typeface="Times New Roman"/>
                <a:cs typeface="+mj-cs"/>
              </a:rPr>
              <a:t>-בלט, </a:t>
            </a:r>
            <a:r>
              <a:rPr lang="he-IL" sz="3500" dirty="0" err="1">
                <a:latin typeface="Times New Roman"/>
                <a:ea typeface="Times New Roman"/>
                <a:cs typeface="+mj-cs"/>
              </a:rPr>
              <a:t>בדפסות</a:t>
            </a:r>
            <a:r>
              <a:rPr lang="he-IL" sz="3500" dirty="0">
                <a:latin typeface="Times New Roman"/>
                <a:ea typeface="Times New Roman"/>
                <a:cs typeface="+mj-cs"/>
              </a:rPr>
              <a:t>-אבן, </a:t>
            </a:r>
            <a:r>
              <a:rPr lang="he-IL" sz="3500" dirty="0" err="1">
                <a:latin typeface="Times New Roman"/>
                <a:ea typeface="Times New Roman"/>
                <a:cs typeface="+mj-cs"/>
              </a:rPr>
              <a:t>בדפסות</a:t>
            </a:r>
            <a:r>
              <a:rPr lang="he-IL" sz="3500" dirty="0">
                <a:latin typeface="Times New Roman"/>
                <a:ea typeface="Times New Roman"/>
                <a:cs typeface="+mj-cs"/>
              </a:rPr>
              <a:t>-שקע או בתהליך אחר בדומה לאלה;</a:t>
            </a:r>
            <a:endParaRPr lang="en-US" sz="3500" dirty="0">
              <a:latin typeface="Times New Roman"/>
              <a:ea typeface="Times New Roman"/>
              <a:cs typeface="+mj-cs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500" dirty="0">
                <a:latin typeface="Times New Roman"/>
                <a:ea typeface="Times New Roman"/>
                <a:cs typeface="+mj-cs"/>
              </a:rPr>
              <a:t>(ב)	בכריכת ספרים;</a:t>
            </a:r>
            <a:endParaRPr lang="en-US" sz="3500" dirty="0">
              <a:latin typeface="Times New Roman"/>
              <a:ea typeface="Times New Roman"/>
              <a:cs typeface="+mj-cs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500" dirty="0">
                <a:latin typeface="Times New Roman"/>
                <a:ea typeface="Times New Roman"/>
                <a:cs typeface="+mj-cs"/>
              </a:rPr>
              <a:t>(ג)	בהפקת סרטים </a:t>
            </a:r>
            <a:r>
              <a:rPr lang="he-IL" sz="3500" dirty="0" err="1">
                <a:latin typeface="Times New Roman"/>
                <a:ea typeface="Times New Roman"/>
                <a:cs typeface="+mj-cs"/>
              </a:rPr>
              <a:t>קינמטוגרפיים</a:t>
            </a:r>
            <a:r>
              <a:rPr lang="he-IL" sz="3500" dirty="0">
                <a:latin typeface="Times New Roman"/>
                <a:ea typeface="Times New Roman"/>
                <a:cs typeface="+mj-cs"/>
              </a:rPr>
              <a:t>;</a:t>
            </a:r>
            <a:endParaRPr lang="en-US" sz="3500" dirty="0">
              <a:latin typeface="Times New Roman"/>
              <a:ea typeface="Times New Roman"/>
              <a:cs typeface="+mj-cs"/>
            </a:endParaRP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6155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0"/>
            <a:ext cx="9252520" cy="6768752"/>
          </a:xfrm>
        </p:spPr>
        <p:txBody>
          <a:bodyPr>
            <a:normAutofit fontScale="85000" lnSpcReduction="10000"/>
          </a:bodyPr>
          <a:lstStyle/>
          <a:p>
            <a:pPr marL="627063" marR="396240" indent="-35560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800" dirty="0">
                <a:latin typeface="Times New Roman"/>
                <a:ea typeface="Times New Roman"/>
                <a:cs typeface="Times New Roman"/>
              </a:rPr>
              <a:t>(11)	חצרים שבהם נעשות עבודות בקשר לעיסוק אחר או למוסד ציבורי, </a:t>
            </a:r>
            <a:r>
              <a:rPr lang="he-IL" sz="3800" dirty="0" err="1">
                <a:latin typeface="Times New Roman"/>
                <a:ea typeface="Times New Roman"/>
                <a:cs typeface="Times New Roman"/>
              </a:rPr>
              <a:t>הכל</a:t>
            </a:r>
            <a:r>
              <a:rPr lang="he-IL" sz="3800" dirty="0">
                <a:latin typeface="Times New Roman"/>
                <a:ea typeface="Times New Roman"/>
                <a:cs typeface="Times New Roman"/>
              </a:rPr>
              <a:t> לפי </a:t>
            </a:r>
            <a:r>
              <a:rPr lang="he-IL" sz="3800" dirty="0" err="1">
                <a:latin typeface="Times New Roman"/>
                <a:ea typeface="Times New Roman"/>
                <a:cs typeface="Times New Roman"/>
              </a:rPr>
              <a:t>הענין</a:t>
            </a:r>
            <a:r>
              <a:rPr lang="he-IL" sz="3800" dirty="0">
                <a:latin typeface="Times New Roman"/>
                <a:ea typeface="Times New Roman"/>
                <a:cs typeface="Times New Roman"/>
              </a:rPr>
              <a:t>, כמפורט להלן:</a:t>
            </a:r>
            <a:endParaRPr lang="en-US" sz="3800" dirty="0">
              <a:latin typeface="Times New Roman"/>
              <a:ea typeface="Times New Roman"/>
              <a:cs typeface="FrankRuehl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800" dirty="0" smtClean="0">
                <a:latin typeface="Times New Roman"/>
                <a:cs typeface="Times New Roman"/>
              </a:rPr>
              <a:t>(</a:t>
            </a:r>
            <a:r>
              <a:rPr lang="he-IL" sz="3800" dirty="0">
                <a:latin typeface="Times New Roman"/>
                <a:cs typeface="Times New Roman"/>
              </a:rPr>
              <a:t>א)	הדפסה כאמור בפסקה (10)(א) או כריכת ספרים – בכרוך לעיסוק אחר שמנהלים אותו דרך משלח-יד או לשם השתכרות, או בכרוך למוסד ציבורי או לשירות ציבורי;</a:t>
            </a:r>
            <a:r>
              <a:rPr lang="en-US" sz="3800" dirty="0"/>
              <a:t> </a:t>
            </a:r>
            <a:endParaRPr lang="en-US" sz="3800" dirty="0">
              <a:latin typeface="Times New Roman"/>
              <a:ea typeface="Times New Roman"/>
              <a:cs typeface="FrankRuehl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3800" dirty="0" smtClean="0">
                <a:latin typeface="Times New Roman"/>
                <a:cs typeface="Times New Roman"/>
              </a:rPr>
              <a:t>(</a:t>
            </a:r>
            <a:r>
              <a:rPr lang="he-IL" sz="3800" dirty="0">
                <a:latin typeface="Times New Roman"/>
                <a:cs typeface="Times New Roman"/>
              </a:rPr>
              <a:t>ב)	ייצור, בניה מחדש, תיקון, החסנה, תחזוקה או ניקוי של רכב, קטרים, כלי טיס או אמצעי תחבורה אחרים – כעזר לעסק תחבורה או לעסק תעשייתי או מסחרי אחר</a:t>
            </a:r>
            <a:r>
              <a:rPr lang="he-IL" sz="3800" dirty="0" smtClean="0">
                <a:latin typeface="Times New Roman"/>
                <a:cs typeface="Times New Roman"/>
              </a:rPr>
              <a:t>;</a:t>
            </a:r>
            <a:endParaRPr lang="en-US" sz="3800" dirty="0" smtClean="0">
              <a:latin typeface="Times New Roman"/>
              <a:cs typeface="Times New Roman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en-US" sz="3800" dirty="0" smtClean="0"/>
              <a:t> </a:t>
            </a:r>
            <a:r>
              <a:rPr lang="he-IL" sz="3800" dirty="0">
                <a:latin typeface="Times New Roman"/>
                <a:ea typeface="Times New Roman"/>
                <a:cs typeface="Times New Roman"/>
              </a:rPr>
              <a:t>(ג)	עשיה, התאמה או תיקון של תלבושות, תפאורות או מיטלטלין אחרים – לצרכי הפקה או הצגה, דרך משלח-יד או לשם השתכרות, של סרטים </a:t>
            </a:r>
            <a:r>
              <a:rPr lang="he-IL" sz="3800" dirty="0" err="1">
                <a:latin typeface="Times New Roman"/>
                <a:ea typeface="Times New Roman"/>
                <a:cs typeface="Times New Roman"/>
              </a:rPr>
              <a:t>קינמטוגרפיים</a:t>
            </a:r>
            <a:r>
              <a:rPr lang="he-IL" sz="3800" dirty="0">
                <a:latin typeface="Times New Roman"/>
                <a:ea typeface="Times New Roman"/>
                <a:cs typeface="Times New Roman"/>
              </a:rPr>
              <a:t> או הצגות תיאטרוניות, למעט במה או חדר הלבשה של תיאטרון שנעשים בהם תיאומים ותיקונים באקראי בלבד;</a:t>
            </a:r>
            <a:endParaRPr lang="en-US" sz="3800" dirty="0">
              <a:latin typeface="Times New Roman"/>
              <a:ea typeface="Times New Roman"/>
              <a:cs typeface="FrankRuehl"/>
            </a:endParaRP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984194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11560" y="-243408"/>
            <a:ext cx="8229600" cy="6264696"/>
          </a:xfrm>
        </p:spPr>
        <p:txBody>
          <a:bodyPr>
            <a:noAutofit/>
          </a:bodyPr>
          <a:lstStyle/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endParaRPr lang="en-US" dirty="0">
              <a:latin typeface="Times New Roman"/>
              <a:ea typeface="Times New Roman"/>
              <a:cs typeface="+mj-cs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cs typeface="+mj-cs"/>
              </a:rPr>
              <a:t>(</a:t>
            </a:r>
            <a:r>
              <a:rPr lang="he-IL" dirty="0">
                <a:latin typeface="Times New Roman"/>
                <a:cs typeface="+mj-cs"/>
              </a:rPr>
              <a:t>ד)	עשיית רשתות או תיקונן – בכרוך לדיג;</a:t>
            </a:r>
            <a:r>
              <a:rPr lang="en-US" dirty="0">
                <a:cs typeface="+mj-cs"/>
              </a:rPr>
              <a:t> </a:t>
            </a:r>
            <a:r>
              <a:rPr lang="he-IL" dirty="0">
                <a:latin typeface="Times New Roman"/>
                <a:ea typeface="Times New Roman"/>
                <a:cs typeface="+mj-cs"/>
              </a:rPr>
              <a:t>(ה)	עשיית מצרכים ממתכת או מעץ או תיקונם – בכרוך לעיסוק אחר שמנהלים אותו דרך משלח-יד או לשם השתכרות או בכרוך למוסד ציבורי או לשירות ציבורי;</a:t>
            </a:r>
            <a:endParaRPr lang="en-US" dirty="0">
              <a:latin typeface="Times New Roman"/>
              <a:ea typeface="Times New Roman"/>
              <a:cs typeface="+mj-cs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  <a:cs typeface="+mj-cs"/>
              </a:rPr>
              <a:t>(ו)	עשיית מצרכים או הכנתם – בכרוך לבניה או בניה הנדסית, ואין הם חצרים שבהם נעשית בניה או בניה הנדסית;</a:t>
            </a:r>
            <a:endParaRPr lang="en-US" dirty="0">
              <a:latin typeface="Times New Roman"/>
              <a:ea typeface="Times New Roman"/>
              <a:cs typeface="+mj-cs"/>
            </a:endParaRPr>
          </a:p>
          <a:p>
            <a:pPr>
              <a:lnSpc>
                <a:spcPts val="800"/>
              </a:lnSpc>
            </a:pPr>
            <a:endParaRPr lang="en-US" dirty="0">
              <a:latin typeface="Times New Roman"/>
              <a:ea typeface="Times New Roman"/>
              <a:cs typeface="+mj-cs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cs typeface="+mj-cs"/>
              </a:rPr>
              <a:t>(ז)	מכבסה – כעזר לעיסוק אחר או בכרוך לצרכי מוסד ציבורי, או שירות ציבורי;</a:t>
            </a:r>
            <a:r>
              <a:rPr lang="en-US" dirty="0">
                <a:cs typeface="+mj-cs"/>
              </a:rPr>
              <a:t> </a:t>
            </a:r>
            <a:endParaRPr lang="en-US" dirty="0">
              <a:latin typeface="Times New Roman"/>
              <a:ea typeface="Times New Roman"/>
              <a:cs typeface="+mj-cs"/>
            </a:endParaRPr>
          </a:p>
          <a:p>
            <a:pPr algn="just">
              <a:lnSpc>
                <a:spcPct val="120000"/>
              </a:lnSpc>
              <a:spcBef>
                <a:spcPts val="360"/>
              </a:spcBef>
            </a:pPr>
            <a:r>
              <a:rPr lang="he-IL" dirty="0" smtClean="0">
                <a:latin typeface="Times New Roman"/>
                <a:cs typeface="+mj-cs"/>
              </a:rPr>
              <a:t>   (ח) מעבדה</a:t>
            </a:r>
            <a:r>
              <a:rPr lang="he-IL" dirty="0">
                <a:latin typeface="Times New Roman"/>
                <a:cs typeface="+mj-cs"/>
              </a:rPr>
              <a:t>;</a:t>
            </a:r>
            <a:r>
              <a:rPr lang="en-US" dirty="0">
                <a:cs typeface="+mj-cs"/>
              </a:rPr>
              <a:t> </a:t>
            </a:r>
            <a:endParaRPr lang="he-IL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6296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11560" y="1052736"/>
            <a:ext cx="8229600" cy="4525963"/>
          </a:xfrm>
        </p:spPr>
        <p:txBody>
          <a:bodyPr/>
          <a:lstStyle/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  <a:cs typeface="Times New Roman"/>
              </a:rPr>
              <a:t>(12)	חצרים שבהם עוסקים, בקשר למפעל –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  <a:cs typeface="Times New Roman"/>
              </a:rPr>
              <a:t>(א)	במיון מצרכים – כהכנה לעבודה הנעשית במפעל או בכרוך למטרותיו של מפעל;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pPr marL="648335" marR="64833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  <a:cs typeface="Times New Roman"/>
              </a:rPr>
              <a:t>(ב)	ברחיצתם או במילויים של בקבוקים או מכלים או באריזת מצרכים – בכרוך למטרותיו של מפעל.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r>
              <a:rPr lang="he-IL" dirty="0" smtClean="0">
                <a:latin typeface="Times New Roman"/>
                <a:cs typeface="Times New Roman"/>
              </a:rPr>
              <a:t>(13) חדר </a:t>
            </a:r>
            <a:r>
              <a:rPr lang="he-IL" dirty="0">
                <a:latin typeface="Times New Roman"/>
                <a:cs typeface="Times New Roman"/>
              </a:rPr>
              <a:t>אוכל, חדר מנוחה או חצרים אחרים המיועדים לרווחת העובדים במפעל, ובלבד שהם בחצרי המפעל או </a:t>
            </a:r>
            <a:r>
              <a:rPr lang="he-IL" dirty="0" err="1">
                <a:latin typeface="Times New Roman"/>
                <a:cs typeface="Times New Roman"/>
              </a:rPr>
              <a:t>בגידרתם</a:t>
            </a:r>
            <a:r>
              <a:rPr lang="he-IL" dirty="0">
                <a:latin typeface="Times New Roman"/>
                <a:cs typeface="Times New Roman"/>
              </a:rPr>
              <a:t> או מסביב להם;</a:t>
            </a:r>
            <a:r>
              <a:rPr lang="en-US" dirty="0"/>
              <a:t>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56059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65212" y="661844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cs typeface="Times New Roman"/>
              </a:rPr>
              <a:t>(</a:t>
            </a:r>
            <a:r>
              <a:rPr lang="he-IL" dirty="0">
                <a:latin typeface="Times New Roman"/>
                <a:cs typeface="Times New Roman"/>
              </a:rPr>
              <a:t>14)	חצרים שבהם עושים פעולות תכנון, עיצוב, שרטוט, ניסוי </a:t>
            </a:r>
            <a:r>
              <a:rPr lang="he-IL" dirty="0" err="1">
                <a:latin typeface="Times New Roman"/>
                <a:cs typeface="Times New Roman"/>
              </a:rPr>
              <a:t>חמרים</a:t>
            </a:r>
            <a:r>
              <a:rPr lang="he-IL" dirty="0">
                <a:latin typeface="Times New Roman"/>
                <a:cs typeface="Times New Roman"/>
              </a:rPr>
              <a:t>, מוצרים ותהליכים, ניהול ומסחר וכיוצא באלה בכרוך למטרותיו של מפעל, ובלבד שהם בחצרי המפעל או </a:t>
            </a:r>
            <a:r>
              <a:rPr lang="he-IL" dirty="0" err="1">
                <a:latin typeface="Times New Roman"/>
                <a:cs typeface="Times New Roman"/>
              </a:rPr>
              <a:t>בגידרתם</a:t>
            </a:r>
            <a:r>
              <a:rPr lang="he-IL" dirty="0">
                <a:latin typeface="Times New Roman"/>
                <a:cs typeface="Times New Roman"/>
              </a:rPr>
              <a:t> או מסביב להם;</a:t>
            </a:r>
            <a:r>
              <a:rPr lang="en-US" dirty="0"/>
              <a:t> 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cs typeface="Times New Roman"/>
              </a:rPr>
              <a:t>(</a:t>
            </a:r>
            <a:r>
              <a:rPr lang="he-IL" dirty="0">
                <a:latin typeface="Times New Roman"/>
                <a:cs typeface="Times New Roman"/>
              </a:rPr>
              <a:t>15)	חצרים שבהם מבצעים מבחנים במצרכים, שלא למטרות מחקר בלבד;</a:t>
            </a:r>
            <a:r>
              <a:rPr lang="en-US" dirty="0"/>
              <a:t> 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cs typeface="Times New Roman"/>
              </a:rPr>
              <a:t>(</a:t>
            </a:r>
            <a:r>
              <a:rPr lang="he-IL" dirty="0">
                <a:latin typeface="Times New Roman"/>
                <a:cs typeface="Times New Roman"/>
              </a:rPr>
              <a:t>16)	בית מטבחיים או משחטת עופות;</a:t>
            </a:r>
            <a:r>
              <a:rPr lang="en-US" dirty="0"/>
              <a:t> 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pPr marL="352425" marR="648335" indent="-35242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cs typeface="Times New Roman"/>
              </a:rPr>
              <a:t>(</a:t>
            </a:r>
            <a:r>
              <a:rPr lang="he-IL" dirty="0">
                <a:latin typeface="Times New Roman"/>
                <a:cs typeface="Times New Roman"/>
              </a:rPr>
              <a:t>17)	מסעדה צמודה למפעל; </a:t>
            </a:r>
            <a:r>
              <a:rPr lang="he-IL" dirty="0" err="1">
                <a:latin typeface="Times New Roman"/>
                <a:cs typeface="Times New Roman"/>
              </a:rPr>
              <a:t>לענין</a:t>
            </a:r>
            <a:r>
              <a:rPr lang="he-IL" dirty="0">
                <a:latin typeface="Times New Roman"/>
                <a:cs typeface="Times New Roman"/>
              </a:rPr>
              <a:t> זה </a:t>
            </a:r>
            <a:endParaRPr lang="he-IL" dirty="0" smtClean="0">
              <a:latin typeface="Times New Roman"/>
              <a:cs typeface="Times New Roman"/>
            </a:endParaRPr>
          </a:p>
          <a:p>
            <a:pPr marL="352425" marR="648335" indent="-35242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en-US" dirty="0" smtClean="0"/>
              <a:t> 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(א)	"מסעדה" – כל מקום שבו מכינים מאכלים לצריכה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  </a:t>
            </a:r>
          </a:p>
          <a:p>
            <a:pPr marL="352425" marR="648335" indent="-35242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he-IL" dirty="0" smtClean="0">
                <a:latin typeface="Times New Roman"/>
                <a:ea typeface="Times New Roman"/>
                <a:cs typeface="Times New Roman"/>
              </a:rPr>
              <a:t>במקום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;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endParaRPr lang="he-IL" dirty="0"/>
          </a:p>
        </p:txBody>
      </p:sp>
      <p:sp>
        <p:nvSpPr>
          <p:cNvPr id="4" name="TextBox 3"/>
          <p:cNvSpPr txBox="1"/>
          <p:nvPr/>
        </p:nvSpPr>
        <p:spPr>
          <a:xfrm>
            <a:off x="827584" y="4797152"/>
            <a:ext cx="770485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0517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27584" y="692696"/>
            <a:ext cx="7920880" cy="4525963"/>
          </a:xfrm>
        </p:spPr>
        <p:txBody>
          <a:bodyPr>
            <a:normAutofit lnSpcReduction="10000"/>
          </a:bodyPr>
          <a:lstStyle/>
          <a:p>
            <a:pPr marL="449263" marR="648335" indent="-352425" algn="just">
              <a:spcBef>
                <a:spcPts val="360"/>
              </a:spcBef>
              <a:tabLst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>
                <a:latin typeface="Times New Roman"/>
                <a:ea typeface="Times New Roman"/>
                <a:cs typeface="Times New Roman"/>
              </a:rPr>
              <a:t>(ב)	רשאי שר העבודה לקבוע תנאים </a:t>
            </a:r>
            <a:r>
              <a:rPr lang="he-IL" dirty="0" err="1">
                <a:latin typeface="Times New Roman"/>
                <a:ea typeface="Times New Roman"/>
                <a:cs typeface="Times New Roman"/>
              </a:rPr>
              <a:t>לענין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 תפוסתו של מלון או </a:t>
            </a:r>
            <a:r>
              <a:rPr lang="he-IL" dirty="0" err="1">
                <a:latin typeface="Times New Roman"/>
                <a:ea typeface="Times New Roman"/>
                <a:cs typeface="Times New Roman"/>
              </a:rPr>
              <a:t>לענין</a:t>
            </a:r>
            <a:r>
              <a:rPr lang="he-IL" dirty="0">
                <a:latin typeface="Times New Roman"/>
                <a:ea typeface="Times New Roman"/>
                <a:cs typeface="Times New Roman"/>
              </a:rPr>
              <a:t> היקף השירות הניתן במסעדות הצמודות לו, שלפיהם יראו מסעדה הצמודה למלון כמפעל;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pPr marL="396240" marR="396240" algn="just">
              <a:spcBef>
                <a:spcPts val="360"/>
              </a:spcBef>
              <a:tabLst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dirty="0" smtClean="0">
                <a:latin typeface="Times New Roman"/>
                <a:cs typeface="Times New Roman"/>
              </a:rPr>
              <a:t>(18</a:t>
            </a:r>
            <a:r>
              <a:rPr lang="he-IL" dirty="0">
                <a:latin typeface="Times New Roman"/>
                <a:cs typeface="Times New Roman"/>
              </a:rPr>
              <a:t>)	מכבסה ובה מכונות כביסה לשירות עצמי של הלקוחות;</a:t>
            </a:r>
            <a:r>
              <a:rPr lang="en-US" dirty="0"/>
              <a:t> </a:t>
            </a:r>
            <a:endParaRPr lang="en-US" sz="1800" dirty="0">
              <a:latin typeface="Times New Roman"/>
              <a:ea typeface="Times New Roman"/>
              <a:cs typeface="FrankRuehl"/>
            </a:endParaRPr>
          </a:p>
          <a:p>
            <a:r>
              <a:rPr lang="he-IL" dirty="0" smtClean="0">
                <a:latin typeface="Times New Roman"/>
                <a:cs typeface="Times New Roman"/>
              </a:rPr>
              <a:t>(19) בית </a:t>
            </a:r>
            <a:r>
              <a:rPr lang="he-IL" dirty="0">
                <a:latin typeface="Times New Roman"/>
                <a:cs typeface="Times New Roman"/>
              </a:rPr>
              <a:t>מלאכה או מפעל השייכים לאגודה שיתופית חקלאית, אף אם פעולתם אינה דרך משלח יד או לשם השתכרות.</a:t>
            </a:r>
            <a:r>
              <a:rPr lang="en-US" dirty="0"/>
              <a:t>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0459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712968" cy="1143000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r"/>
            <a:r>
              <a:rPr lang="he-IL" b="1" dirty="0"/>
              <a:t>כשאין העוסקים עובדי </a:t>
            </a:r>
            <a:r>
              <a:rPr lang="he-IL" b="1" dirty="0" smtClean="0"/>
              <a:t>התופש</a:t>
            </a:r>
            <a:r>
              <a:rPr lang="he-IL" dirty="0" smtClean="0"/>
              <a:t> </a:t>
            </a:r>
            <a:r>
              <a:rPr lang="he-IL" sz="2700" dirty="0" smtClean="0"/>
              <a:t>(תיקון </a:t>
            </a:r>
            <a:r>
              <a:rPr lang="he-IL" sz="2700" dirty="0"/>
              <a:t>מס' 1) </a:t>
            </a:r>
            <a:r>
              <a:rPr lang="he-IL" sz="2700" dirty="0" smtClean="0"/>
              <a:t>תשל"ד-1974</a:t>
            </a:r>
            <a:r>
              <a:rPr lang="he-IL" sz="2700" dirty="0"/>
              <a:t/>
            </a:r>
            <a:br>
              <a:rPr lang="he-IL" sz="2700" dirty="0"/>
            </a:br>
            <a:endParaRPr lang="he-IL" sz="27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11560" y="2132856"/>
            <a:ext cx="8229600" cy="4525963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he-IL" dirty="0" smtClean="0">
                <a:solidFill>
                  <a:prstClr val="black"/>
                </a:solidFill>
                <a:cs typeface="Times New Roman"/>
              </a:rPr>
              <a:t>(</a:t>
            </a:r>
            <a:r>
              <a:rPr lang="he-IL" dirty="0">
                <a:solidFill>
                  <a:prstClr val="black"/>
                </a:solidFill>
                <a:cs typeface="Times New Roman"/>
              </a:rPr>
              <a:t>א) במקום שבו עובד אדם ברשותו של תופש המקום או לפי הסכם עמו בעבודה </a:t>
            </a:r>
            <a:r>
              <a:rPr lang="he-IL" dirty="0" err="1">
                <a:solidFill>
                  <a:prstClr val="black"/>
                </a:solidFill>
                <a:cs typeface="Times New Roman"/>
              </a:rPr>
              <a:t>שהיתה</a:t>
            </a:r>
            <a:r>
              <a:rPr lang="he-IL" dirty="0">
                <a:solidFill>
                  <a:prstClr val="black"/>
                </a:solidFill>
                <a:cs typeface="Times New Roman"/>
              </a:rPr>
              <a:t> עושה את המקום למפעל אילו היה אותו אדם עובדו של התופש, יראו אותו כמפעל </a:t>
            </a:r>
            <a:r>
              <a:rPr lang="he-IL" dirty="0" err="1">
                <a:solidFill>
                  <a:prstClr val="black"/>
                </a:solidFill>
                <a:cs typeface="Times New Roman"/>
              </a:rPr>
              <a:t>לענין</a:t>
            </a:r>
            <a:r>
              <a:rPr lang="he-IL" dirty="0">
                <a:solidFill>
                  <a:prstClr val="black"/>
                </a:solidFill>
                <a:cs typeface="Times New Roman"/>
              </a:rPr>
              <a:t> פקודה זו</a:t>
            </a:r>
            <a:r>
              <a:rPr lang="he-IL" dirty="0" smtClean="0">
                <a:solidFill>
                  <a:prstClr val="black"/>
                </a:solidFill>
                <a:cs typeface="Times New Roman"/>
              </a:rPr>
              <a:t>.</a:t>
            </a:r>
          </a:p>
          <a:p>
            <a:pPr marL="0" lvl="0" indent="0">
              <a:spcBef>
                <a:spcPts val="0"/>
              </a:spcBef>
              <a:buNone/>
            </a:pPr>
            <a:endParaRPr lang="he-IL" dirty="0">
              <a:solidFill>
                <a:prstClr val="black"/>
              </a:solidFill>
              <a:cs typeface="Times New Roman"/>
            </a:endParaRPr>
          </a:p>
          <a:p>
            <a:pPr marL="0" indent="0">
              <a:buNone/>
            </a:pPr>
            <a:r>
              <a:rPr lang="he-IL" dirty="0" smtClean="0">
                <a:solidFill>
                  <a:prstClr val="black"/>
                </a:solidFill>
                <a:cs typeface="Times New Roman"/>
              </a:rPr>
              <a:t>(</a:t>
            </a:r>
            <a:r>
              <a:rPr lang="he-IL" dirty="0">
                <a:solidFill>
                  <a:prstClr val="black"/>
                </a:solidFill>
                <a:cs typeface="Times New Roman"/>
              </a:rPr>
              <a:t>ב) </a:t>
            </a:r>
            <a:r>
              <a:rPr lang="he-IL" sz="3600" dirty="0">
                <a:solidFill>
                  <a:prstClr val="black"/>
                </a:solidFill>
                <a:cs typeface="Times New Roman"/>
              </a:rPr>
              <a:t>"תופש המקום", </a:t>
            </a:r>
            <a:r>
              <a:rPr lang="he-IL" dirty="0" err="1">
                <a:solidFill>
                  <a:prstClr val="black"/>
                </a:solidFill>
                <a:cs typeface="Times New Roman"/>
              </a:rPr>
              <a:t>לענין</a:t>
            </a:r>
            <a:r>
              <a:rPr lang="he-IL" dirty="0">
                <a:solidFill>
                  <a:prstClr val="black"/>
                </a:solidFill>
                <a:cs typeface="Times New Roman"/>
              </a:rPr>
              <a:t> סעיף זה – לרבות בעל המקום</a:t>
            </a:r>
            <a:r>
              <a:rPr lang="he-IL" sz="1800" dirty="0">
                <a:solidFill>
                  <a:prstClr val="black"/>
                </a:solidFill>
              </a:rPr>
              <a:t>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3195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>
              <a:spcBef>
                <a:spcPts val="360"/>
              </a:spcBef>
              <a:tabLst>
                <a:tab pos="396240" algn="l"/>
                <a:tab pos="648335" algn="l"/>
                <a:tab pos="935990" algn="l"/>
                <a:tab pos="1224280" algn="l"/>
                <a:tab pos="1511935" algn="l"/>
              </a:tabLst>
            </a:pPr>
            <a:r>
              <a:rPr lang="he-IL" b="1" dirty="0" smtClean="0">
                <a:latin typeface="Times New Roman"/>
                <a:ea typeface="Times New Roman"/>
                <a:cs typeface="FrankRuehl"/>
              </a:rPr>
              <a:t>                     פרק </a:t>
            </a:r>
            <a:r>
              <a:rPr lang="he-IL" b="1" dirty="0">
                <a:latin typeface="Times New Roman"/>
                <a:ea typeface="Times New Roman"/>
                <a:cs typeface="FrankRuehl"/>
              </a:rPr>
              <a:t>ב</a:t>
            </a:r>
            <a:r>
              <a:rPr lang="he-IL" b="1" dirty="0" smtClean="0">
                <a:latin typeface="Times New Roman"/>
                <a:ea typeface="Times New Roman"/>
                <a:cs typeface="FrankRuehl"/>
              </a:rPr>
              <a:t>':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2859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he-IL" dirty="0">
                <a:ea typeface="Times New Roman"/>
                <a:cs typeface="Times New Roman"/>
              </a:rPr>
              <a:t>סימן א': </a:t>
            </a:r>
            <a:r>
              <a:rPr lang="he-IL" dirty="0" err="1">
                <a:ea typeface="Times New Roman"/>
                <a:cs typeface="Times New Roman"/>
              </a:rPr>
              <a:t>נקיון</a:t>
            </a:r>
            <a:r>
              <a:rPr lang="he-IL" dirty="0">
                <a:ea typeface="Times New Roman"/>
                <a:cs typeface="Times New Roman"/>
              </a:rPr>
              <a:t> </a:t>
            </a:r>
            <a:r>
              <a:rPr lang="he-IL" dirty="0" smtClean="0">
                <a:ea typeface="Times New Roman"/>
                <a:cs typeface="Times New Roman"/>
              </a:rPr>
              <a:t>וצביעה</a:t>
            </a:r>
          </a:p>
          <a:p>
            <a:pPr>
              <a:lnSpc>
                <a:spcPct val="120000"/>
              </a:lnSpc>
            </a:pPr>
            <a:endParaRPr lang="he-IL" dirty="0">
              <a:cs typeface="Times New Roman"/>
            </a:endParaRPr>
          </a:p>
          <a:p>
            <a:pPr>
              <a:lnSpc>
                <a:spcPct val="120000"/>
              </a:lnSpc>
            </a:pPr>
            <a:r>
              <a:rPr lang="he-IL" dirty="0">
                <a:ea typeface="Times New Roman"/>
                <a:cs typeface="Times New Roman"/>
              </a:rPr>
              <a:t>סימן ב': </a:t>
            </a:r>
            <a:r>
              <a:rPr lang="he-IL" dirty="0" smtClean="0">
                <a:ea typeface="Times New Roman"/>
                <a:cs typeface="Times New Roman"/>
              </a:rPr>
              <a:t>צפיפות</a:t>
            </a:r>
          </a:p>
          <a:p>
            <a:pPr>
              <a:lnSpc>
                <a:spcPct val="120000"/>
              </a:lnSpc>
            </a:pPr>
            <a:endParaRPr lang="he-IL" dirty="0">
              <a:cs typeface="Times New Roman"/>
            </a:endParaRPr>
          </a:p>
          <a:p>
            <a:pPr>
              <a:lnSpc>
                <a:spcPct val="120000"/>
              </a:lnSpc>
            </a:pPr>
            <a:r>
              <a:rPr lang="he-IL" dirty="0">
                <a:ea typeface="Times New Roman"/>
                <a:cs typeface="Times New Roman"/>
              </a:rPr>
              <a:t>סימן ג': </a:t>
            </a:r>
            <a:r>
              <a:rPr lang="he-IL" dirty="0" err="1">
                <a:ea typeface="Times New Roman"/>
                <a:cs typeface="Times New Roman"/>
              </a:rPr>
              <a:t>איוורור</a:t>
            </a:r>
            <a:r>
              <a:rPr lang="he-IL" dirty="0">
                <a:ea typeface="Times New Roman"/>
                <a:cs typeface="Times New Roman"/>
              </a:rPr>
              <a:t>, תאורה </a:t>
            </a:r>
            <a:r>
              <a:rPr lang="he-IL" dirty="0" smtClean="0">
                <a:ea typeface="Times New Roman"/>
                <a:cs typeface="Times New Roman"/>
              </a:rPr>
              <a:t>וחום</a:t>
            </a:r>
          </a:p>
          <a:p>
            <a:pPr>
              <a:lnSpc>
                <a:spcPct val="120000"/>
              </a:lnSpc>
            </a:pPr>
            <a:endParaRPr lang="he-IL" dirty="0">
              <a:cs typeface="Times New Roman"/>
            </a:endParaRPr>
          </a:p>
          <a:p>
            <a:pPr>
              <a:lnSpc>
                <a:spcPct val="120000"/>
              </a:lnSpc>
            </a:pPr>
            <a:r>
              <a:rPr lang="he-IL" dirty="0">
                <a:ea typeface="Times New Roman"/>
                <a:cs typeface="Times New Roman"/>
              </a:rPr>
              <a:t>סימן ד': ניקוז </a:t>
            </a:r>
            <a:r>
              <a:rPr lang="he-IL" dirty="0" smtClean="0">
                <a:ea typeface="Times New Roman"/>
                <a:cs typeface="Times New Roman"/>
              </a:rPr>
              <a:t>רצפות</a:t>
            </a:r>
          </a:p>
          <a:p>
            <a:pPr>
              <a:lnSpc>
                <a:spcPct val="120000"/>
              </a:lnSpc>
            </a:pPr>
            <a:endParaRPr lang="he-IL" dirty="0" smtClean="0">
              <a:ea typeface="Times New Roman"/>
              <a:cs typeface="Times New Roman"/>
            </a:endParaRPr>
          </a:p>
          <a:p>
            <a:pPr>
              <a:lnSpc>
                <a:spcPct val="120000"/>
              </a:lnSpc>
            </a:pPr>
            <a:r>
              <a:rPr lang="he-IL" dirty="0">
                <a:ea typeface="Times New Roman"/>
                <a:cs typeface="Times New Roman"/>
              </a:rPr>
              <a:t>סימן ה': </a:t>
            </a:r>
            <a:r>
              <a:rPr lang="he-IL" dirty="0" err="1" smtClean="0">
                <a:ea typeface="Times New Roman"/>
                <a:cs typeface="Times New Roman"/>
              </a:rPr>
              <a:t>נוחויות</a:t>
            </a:r>
            <a:endParaRPr lang="he-IL" dirty="0" smtClean="0">
              <a:ea typeface="Times New Roman"/>
              <a:cs typeface="Times New Roman"/>
            </a:endParaRPr>
          </a:p>
          <a:p>
            <a:pPr>
              <a:lnSpc>
                <a:spcPct val="120000"/>
              </a:lnSpc>
            </a:pPr>
            <a:endParaRPr lang="he-IL" dirty="0" smtClean="0">
              <a:ea typeface="Times New Roman"/>
              <a:cs typeface="Times New Roman"/>
            </a:endParaRPr>
          </a:p>
          <a:p>
            <a:pPr>
              <a:lnSpc>
                <a:spcPct val="120000"/>
              </a:lnSpc>
            </a:pPr>
            <a:r>
              <a:rPr lang="he-IL" dirty="0">
                <a:ea typeface="Times New Roman"/>
                <a:cs typeface="Times New Roman"/>
              </a:rPr>
              <a:t>סימן ו': השגחה </a:t>
            </a:r>
            <a:r>
              <a:rPr lang="he-IL" dirty="0" smtClean="0">
                <a:ea typeface="Times New Roman"/>
                <a:cs typeface="Times New Roman"/>
              </a:rPr>
              <a:t>רפואית</a:t>
            </a:r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60" y="188640"/>
            <a:ext cx="4174111" cy="402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29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 smtClean="0">
                <a:ea typeface="Times New Roman"/>
              </a:rPr>
              <a:t>                     פרק </a:t>
            </a:r>
            <a:r>
              <a:rPr lang="he-IL" b="1" dirty="0">
                <a:ea typeface="Times New Roman"/>
              </a:rPr>
              <a:t>ג': בטיחות</a:t>
            </a:r>
            <a:endParaRPr lang="he-IL" b="1" dirty="0"/>
          </a:p>
        </p:txBody>
      </p:sp>
      <p:sp>
        <p:nvSpPr>
          <p:cNvPr id="13" name="מלבן 12"/>
          <p:cNvSpPr/>
          <p:nvPr/>
        </p:nvSpPr>
        <p:spPr>
          <a:xfrm>
            <a:off x="5289462" y="1340768"/>
            <a:ext cx="33473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>
                <a:cs typeface="+mj-cs"/>
              </a:rPr>
              <a:t>סימן א': מכונות בדרך כלל</a:t>
            </a:r>
          </a:p>
        </p:txBody>
      </p:sp>
      <p:sp>
        <p:nvSpPr>
          <p:cNvPr id="14" name="מלבן 13"/>
          <p:cNvSpPr/>
          <p:nvPr/>
        </p:nvSpPr>
        <p:spPr>
          <a:xfrm>
            <a:off x="4023088" y="1863988"/>
            <a:ext cx="46137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>
                <a:ea typeface="Times New Roman"/>
                <a:cs typeface="Times New Roman"/>
              </a:rPr>
              <a:t>סימן ב': מבנה של מכונות ומסחר בהן</a:t>
            </a:r>
            <a:endParaRPr lang="he-IL" sz="2800" dirty="0"/>
          </a:p>
        </p:txBody>
      </p:sp>
      <p:sp>
        <p:nvSpPr>
          <p:cNvPr id="15" name="מלבן 14"/>
          <p:cNvSpPr/>
          <p:nvPr/>
        </p:nvSpPr>
        <p:spPr>
          <a:xfrm>
            <a:off x="4669232" y="2524291"/>
            <a:ext cx="39629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>
                <a:ea typeface="Times New Roman"/>
                <a:cs typeface="Times New Roman"/>
              </a:rPr>
              <a:t>סימן ג': בטיחות הגישה והמעבר</a:t>
            </a:r>
            <a:endParaRPr lang="he-IL" sz="2800" dirty="0"/>
          </a:p>
        </p:txBody>
      </p:sp>
      <p:sp>
        <p:nvSpPr>
          <p:cNvPr id="16" name="מלבן 15"/>
          <p:cNvSpPr/>
          <p:nvPr/>
        </p:nvSpPr>
        <p:spPr>
          <a:xfrm>
            <a:off x="4219596" y="3047511"/>
            <a:ext cx="43733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>
                <a:ea typeface="Times New Roman"/>
                <a:cs typeface="Times New Roman"/>
              </a:rPr>
              <a:t>סימן ד': משטחים, מדרגות וסולמות</a:t>
            </a:r>
            <a:endParaRPr lang="he-IL" sz="2800" dirty="0"/>
          </a:p>
        </p:txBody>
      </p:sp>
      <p:sp>
        <p:nvSpPr>
          <p:cNvPr id="17" name="מלבן 16"/>
          <p:cNvSpPr/>
          <p:nvPr/>
        </p:nvSpPr>
        <p:spPr>
          <a:xfrm>
            <a:off x="6070908" y="4093951"/>
            <a:ext cx="25058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>
                <a:ea typeface="Times New Roman"/>
                <a:cs typeface="Times New Roman"/>
              </a:rPr>
              <a:t>סימן ה'1: דרגנועים</a:t>
            </a:r>
            <a:endParaRPr lang="he-IL" sz="2800" dirty="0"/>
          </a:p>
        </p:txBody>
      </p:sp>
      <p:sp>
        <p:nvSpPr>
          <p:cNvPr id="18" name="מלבן 17"/>
          <p:cNvSpPr/>
          <p:nvPr/>
        </p:nvSpPr>
        <p:spPr>
          <a:xfrm>
            <a:off x="6455399" y="3570731"/>
            <a:ext cx="21050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>
                <a:ea typeface="Times New Roman"/>
                <a:cs typeface="Times New Roman"/>
              </a:rPr>
              <a:t>סימן ה': מעליות</a:t>
            </a:r>
            <a:endParaRPr lang="he-IL" sz="2800" dirty="0"/>
          </a:p>
        </p:txBody>
      </p:sp>
      <p:sp>
        <p:nvSpPr>
          <p:cNvPr id="19" name="מלבן 18"/>
          <p:cNvSpPr/>
          <p:nvPr/>
        </p:nvSpPr>
        <p:spPr>
          <a:xfrm>
            <a:off x="3741744" y="4705980"/>
            <a:ext cx="48349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>
                <a:ea typeface="Times New Roman"/>
                <a:cs typeface="Times New Roman"/>
              </a:rPr>
              <a:t>סימן ו': שרשרות, חבלים ואבזרי הרמה</a:t>
            </a:r>
            <a:endParaRPr lang="he-IL" sz="2800" dirty="0"/>
          </a:p>
        </p:txBody>
      </p:sp>
      <p:sp>
        <p:nvSpPr>
          <p:cNvPr id="20" name="מלבן 19"/>
          <p:cNvSpPr/>
          <p:nvPr/>
        </p:nvSpPr>
        <p:spPr>
          <a:xfrm>
            <a:off x="5801373" y="5229200"/>
            <a:ext cx="27590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800" dirty="0">
                <a:ea typeface="Times New Roman"/>
                <a:cs typeface="Times New Roman"/>
              </a:rPr>
              <a:t>סימן ז': מכונות הרמה</a:t>
            </a:r>
            <a:endParaRPr lang="he-IL" sz="2800" dirty="0"/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1" y="539357"/>
            <a:ext cx="3010831" cy="224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23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611560" y="404664"/>
            <a:ext cx="8229600" cy="4525963"/>
          </a:xfrm>
        </p:spPr>
        <p:txBody>
          <a:bodyPr/>
          <a:lstStyle/>
          <a:p>
            <a:r>
              <a:rPr lang="he-IL" dirty="0" smtClean="0">
                <a:ea typeface="Times New Roman"/>
                <a:cs typeface="Times New Roman"/>
              </a:rPr>
              <a:t>סימן ח': אדים מסוכנים</a:t>
            </a:r>
            <a:endParaRPr lang="he-IL" dirty="0"/>
          </a:p>
        </p:txBody>
      </p:sp>
      <p:sp>
        <p:nvSpPr>
          <p:cNvPr id="4" name="מלבן 3"/>
          <p:cNvSpPr/>
          <p:nvPr/>
        </p:nvSpPr>
        <p:spPr>
          <a:xfrm>
            <a:off x="2233388" y="1243153"/>
            <a:ext cx="64780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3200" dirty="0">
                <a:ea typeface="Times New Roman"/>
                <a:cs typeface="Times New Roman"/>
              </a:rPr>
              <a:t>סימן ט': אבק, אדים </a:t>
            </a:r>
            <a:r>
              <a:rPr lang="he-IL" sz="3200" dirty="0" err="1">
                <a:ea typeface="Times New Roman"/>
                <a:cs typeface="Times New Roman"/>
              </a:rPr>
              <a:t>וחמרים</a:t>
            </a:r>
            <a:r>
              <a:rPr lang="he-IL" sz="3200" dirty="0">
                <a:ea typeface="Times New Roman"/>
                <a:cs typeface="Times New Roman"/>
              </a:rPr>
              <a:t> נפיצים ודליקים</a:t>
            </a:r>
            <a:endParaRPr lang="he-IL" sz="3200" dirty="0"/>
          </a:p>
        </p:txBody>
      </p:sp>
      <p:sp>
        <p:nvSpPr>
          <p:cNvPr id="5" name="מלבן 4"/>
          <p:cNvSpPr/>
          <p:nvPr/>
        </p:nvSpPr>
        <p:spPr>
          <a:xfrm>
            <a:off x="5455139" y="2128500"/>
            <a:ext cx="32367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52425" indent="-352425">
              <a:buFont typeface="Arial" panose="020B0604020202020204" pitchFamily="34" charset="0"/>
              <a:buChar char="•"/>
            </a:pPr>
            <a:r>
              <a:rPr lang="he-IL" sz="3200" dirty="0">
                <a:ea typeface="Times New Roman"/>
                <a:cs typeface="Times New Roman"/>
              </a:rPr>
              <a:t>סימן י': דודי קיטור</a:t>
            </a:r>
            <a:endParaRPr lang="he-IL" sz="3200" dirty="0"/>
          </a:p>
        </p:txBody>
      </p:sp>
      <p:sp>
        <p:nvSpPr>
          <p:cNvPr id="6" name="מלבן 5"/>
          <p:cNvSpPr/>
          <p:nvPr/>
        </p:nvSpPr>
        <p:spPr>
          <a:xfrm>
            <a:off x="5103970" y="3063859"/>
            <a:ext cx="35670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  <a:tabLst>
                <a:tab pos="352425" algn="l"/>
              </a:tabLst>
            </a:pPr>
            <a:r>
              <a:rPr lang="he-IL" sz="3200" dirty="0">
                <a:ea typeface="Times New Roman"/>
                <a:cs typeface="Times New Roman"/>
              </a:rPr>
              <a:t>סימן י"א: קולטי קיטור</a:t>
            </a:r>
            <a:endParaRPr lang="he-IL" sz="3200" dirty="0"/>
          </a:p>
        </p:txBody>
      </p:sp>
      <p:sp>
        <p:nvSpPr>
          <p:cNvPr id="7" name="מלבן 6"/>
          <p:cNvSpPr/>
          <p:nvPr/>
        </p:nvSpPr>
        <p:spPr>
          <a:xfrm>
            <a:off x="5165685" y="3958990"/>
            <a:ext cx="34435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3200" dirty="0">
                <a:ea typeface="Times New Roman"/>
                <a:cs typeface="Times New Roman"/>
              </a:rPr>
              <a:t>סימן י"ב: מכלי קיטור</a:t>
            </a:r>
            <a:endParaRPr lang="he-IL" sz="3200" dirty="0"/>
          </a:p>
        </p:txBody>
      </p:sp>
      <p:sp>
        <p:nvSpPr>
          <p:cNvPr id="8" name="מלבן 7"/>
          <p:cNvSpPr/>
          <p:nvPr/>
        </p:nvSpPr>
        <p:spPr>
          <a:xfrm>
            <a:off x="5277013" y="4781655"/>
            <a:ext cx="331533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050" indent="-273050">
              <a:buFont typeface="Arial" panose="020B0604020202020204" pitchFamily="34" charset="0"/>
              <a:buChar char="•"/>
            </a:pPr>
            <a:r>
              <a:rPr lang="he-IL" sz="3200" dirty="0">
                <a:ea typeface="Times New Roman"/>
                <a:cs typeface="Times New Roman"/>
              </a:rPr>
              <a:t>סימן י"ג: קולטי אויר</a:t>
            </a:r>
            <a:endParaRPr lang="he-IL" sz="3200" dirty="0"/>
          </a:p>
        </p:txBody>
      </p:sp>
      <p:sp>
        <p:nvSpPr>
          <p:cNvPr id="9" name="מלבן 8"/>
          <p:cNvSpPr/>
          <p:nvPr/>
        </p:nvSpPr>
        <p:spPr>
          <a:xfrm>
            <a:off x="2172473" y="5517232"/>
            <a:ext cx="65998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sz="3200" dirty="0">
                <a:ea typeface="Times New Roman"/>
                <a:cs typeface="Times New Roman"/>
              </a:rPr>
              <a:t>סימן י"ד: הוראות כלליות לסימנים י' עד י"ג</a:t>
            </a: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422214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95536" y="1615179"/>
            <a:ext cx="8229600" cy="4525963"/>
          </a:xfrm>
        </p:spPr>
        <p:txBody>
          <a:bodyPr/>
          <a:lstStyle/>
          <a:p>
            <a:pPr indent="-246063"/>
            <a:r>
              <a:rPr lang="he-IL" dirty="0" smtClean="0">
                <a:ea typeface="Times New Roman"/>
                <a:cs typeface="Times New Roman"/>
              </a:rPr>
              <a:t>   סימן </a:t>
            </a:r>
            <a:r>
              <a:rPr lang="he-IL" dirty="0">
                <a:ea typeface="Times New Roman"/>
                <a:cs typeface="Times New Roman"/>
              </a:rPr>
              <a:t>י"ד1: הוראות כלליות </a:t>
            </a:r>
            <a:r>
              <a:rPr lang="he-IL" dirty="0" err="1">
                <a:ea typeface="Times New Roman"/>
                <a:cs typeface="Times New Roman"/>
              </a:rPr>
              <a:t>לענין</a:t>
            </a:r>
            <a:r>
              <a:rPr lang="he-IL" dirty="0">
                <a:ea typeface="Times New Roman"/>
                <a:cs typeface="Times New Roman"/>
              </a:rPr>
              <a:t> תסקירים</a:t>
            </a:r>
            <a:endParaRPr lang="he-IL" dirty="0"/>
          </a:p>
        </p:txBody>
      </p:sp>
      <p:sp>
        <p:nvSpPr>
          <p:cNvPr id="4" name="מלבן 3"/>
          <p:cNvSpPr/>
          <p:nvPr/>
        </p:nvSpPr>
        <p:spPr>
          <a:xfrm>
            <a:off x="2598908" y="2636912"/>
            <a:ext cx="59009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sz="3200" dirty="0">
                <a:ea typeface="Times New Roman"/>
                <a:cs typeface="Times New Roman"/>
              </a:rPr>
              <a:t>סימן ט"ו: הסדרי בטיחות לשעת דליקה</a:t>
            </a:r>
            <a:endParaRPr lang="he-IL" sz="3200" dirty="0"/>
          </a:p>
        </p:txBody>
      </p:sp>
      <p:sp>
        <p:nvSpPr>
          <p:cNvPr id="5" name="מלבן 4"/>
          <p:cNvSpPr/>
          <p:nvPr/>
        </p:nvSpPr>
        <p:spPr>
          <a:xfrm>
            <a:off x="4037359" y="3585773"/>
            <a:ext cx="43364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3200" dirty="0" smtClean="0">
                <a:ea typeface="Times New Roman"/>
                <a:cs typeface="Times New Roman"/>
              </a:rPr>
              <a:t> סימן </a:t>
            </a:r>
            <a:r>
              <a:rPr lang="he-IL" sz="3200" dirty="0">
                <a:ea typeface="Times New Roman"/>
                <a:cs typeface="Times New Roman"/>
              </a:rPr>
              <a:t>ט"ז: </a:t>
            </a:r>
            <a:r>
              <a:rPr lang="he-IL" sz="3200" dirty="0" err="1">
                <a:ea typeface="Times New Roman"/>
                <a:cs typeface="Times New Roman"/>
              </a:rPr>
              <a:t>מימלטים</a:t>
            </a:r>
            <a:r>
              <a:rPr lang="he-IL" sz="3200" dirty="0">
                <a:ea typeface="Times New Roman"/>
                <a:cs typeface="Times New Roman"/>
              </a:rPr>
              <a:t> מדליקה</a:t>
            </a: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48333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he-IL" b="1" dirty="0"/>
              <a:t>פרק ד': רווחה לעובדים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835696" y="1456101"/>
            <a:ext cx="7067128" cy="4781128"/>
          </a:xfrm>
        </p:spPr>
        <p:txBody>
          <a:bodyPr>
            <a:normAutofit/>
          </a:bodyPr>
          <a:lstStyle/>
          <a:p>
            <a:r>
              <a:rPr lang="he-IL" dirty="0" smtClean="0">
                <a:ea typeface="Times New Roman"/>
                <a:cs typeface="Times New Roman"/>
              </a:rPr>
              <a:t>סימן א': מי שתיה</a:t>
            </a:r>
            <a:endParaRPr lang="he-IL" dirty="0" smtClean="0">
              <a:cs typeface="Times New Roman"/>
            </a:endParaRPr>
          </a:p>
          <a:p>
            <a:r>
              <a:rPr lang="he-IL" dirty="0" smtClean="0">
                <a:ea typeface="Times New Roman"/>
                <a:cs typeface="Times New Roman"/>
              </a:rPr>
              <a:t>סימן ב': רחצה</a:t>
            </a:r>
          </a:p>
          <a:p>
            <a:r>
              <a:rPr lang="he-IL" dirty="0">
                <a:ea typeface="Times New Roman"/>
                <a:cs typeface="Times New Roman"/>
              </a:rPr>
              <a:t>סימן ג': שמירת </a:t>
            </a:r>
            <a:r>
              <a:rPr lang="he-IL" dirty="0" smtClean="0">
                <a:ea typeface="Times New Roman"/>
                <a:cs typeface="Times New Roman"/>
              </a:rPr>
              <a:t>בגדים</a:t>
            </a:r>
          </a:p>
          <a:p>
            <a:r>
              <a:rPr lang="he-IL" dirty="0">
                <a:ea typeface="Times New Roman"/>
                <a:cs typeface="Times New Roman"/>
              </a:rPr>
              <a:t>סימן ד': מקומות </a:t>
            </a:r>
            <a:r>
              <a:rPr lang="he-IL" dirty="0" smtClean="0">
                <a:ea typeface="Times New Roman"/>
                <a:cs typeface="Times New Roman"/>
              </a:rPr>
              <a:t>ישיבה</a:t>
            </a:r>
          </a:p>
          <a:p>
            <a:r>
              <a:rPr lang="he-IL" dirty="0">
                <a:ea typeface="Times New Roman"/>
                <a:cs typeface="Times New Roman"/>
              </a:rPr>
              <a:t>סימן ה': עזרה </a:t>
            </a:r>
            <a:r>
              <a:rPr lang="he-IL" dirty="0" smtClean="0">
                <a:ea typeface="Times New Roman"/>
                <a:cs typeface="Times New Roman"/>
              </a:rPr>
              <a:t>ראשונה</a:t>
            </a:r>
          </a:p>
          <a:p>
            <a:r>
              <a:rPr lang="he-IL" dirty="0">
                <a:ea typeface="Times New Roman"/>
                <a:cs typeface="Times New Roman"/>
              </a:rPr>
              <a:t>סימן ו': תקנות </a:t>
            </a:r>
            <a:r>
              <a:rPr lang="he-IL" dirty="0" err="1">
                <a:ea typeface="Times New Roman"/>
                <a:cs typeface="Times New Roman"/>
              </a:rPr>
              <a:t>לענין</a:t>
            </a:r>
            <a:r>
              <a:rPr lang="he-IL" dirty="0">
                <a:ea typeface="Times New Roman"/>
                <a:cs typeface="Times New Roman"/>
              </a:rPr>
              <a:t> רווחה </a:t>
            </a:r>
            <a:r>
              <a:rPr lang="he-IL" dirty="0" smtClean="0">
                <a:ea typeface="Times New Roman"/>
                <a:cs typeface="Times New Roman"/>
              </a:rPr>
              <a:t>לעובדים</a:t>
            </a:r>
          </a:p>
          <a:p>
            <a:endParaRPr lang="he-IL" dirty="0" smtClean="0">
              <a:ea typeface="Times New Roman"/>
              <a:cs typeface="Times New Roman"/>
            </a:endParaRPr>
          </a:p>
          <a:p>
            <a:endParaRPr lang="he-IL" dirty="0" smtClean="0">
              <a:ea typeface="Times New Roman"/>
              <a:cs typeface="Times New Roman"/>
            </a:endParaRPr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462996"/>
            <a:ext cx="29241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54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ea typeface="Times New Roman"/>
              </a:rPr>
              <a:t>פרק ה': הוראות מיוחדות </a:t>
            </a:r>
            <a:r>
              <a:rPr lang="he-IL" dirty="0" err="1">
                <a:ea typeface="Times New Roman"/>
              </a:rPr>
              <a:t>לענין</a:t>
            </a:r>
            <a:r>
              <a:rPr lang="he-IL" dirty="0">
                <a:ea typeface="Times New Roman"/>
              </a:rPr>
              <a:t> בריאות, בטיחות ורווחה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e-IL" dirty="0">
                <a:ea typeface="Times New Roman"/>
                <a:cs typeface="Times New Roman"/>
              </a:rPr>
              <a:t>סימן א': אבק </a:t>
            </a:r>
            <a:r>
              <a:rPr lang="he-IL" dirty="0" smtClean="0">
                <a:ea typeface="Times New Roman"/>
                <a:cs typeface="Times New Roman"/>
              </a:rPr>
              <a:t>ואדים</a:t>
            </a:r>
          </a:p>
          <a:p>
            <a:r>
              <a:rPr lang="he-IL" dirty="0">
                <a:ea typeface="Times New Roman"/>
                <a:cs typeface="Times New Roman"/>
              </a:rPr>
              <a:t>סימן ב': הוראות בדבר אכילה </a:t>
            </a:r>
            <a:r>
              <a:rPr lang="he-IL" dirty="0" smtClean="0">
                <a:ea typeface="Times New Roman"/>
                <a:cs typeface="Times New Roman"/>
              </a:rPr>
              <a:t>ושתיה</a:t>
            </a:r>
          </a:p>
          <a:p>
            <a:r>
              <a:rPr lang="he-IL" dirty="0">
                <a:ea typeface="Times New Roman"/>
                <a:cs typeface="Times New Roman"/>
              </a:rPr>
              <a:t>סימן ג': הגנה על </a:t>
            </a:r>
            <a:r>
              <a:rPr lang="he-IL" dirty="0" err="1" smtClean="0">
                <a:ea typeface="Times New Roman"/>
                <a:cs typeface="Times New Roman"/>
              </a:rPr>
              <a:t>עינים</a:t>
            </a:r>
            <a:endParaRPr lang="he-IL" dirty="0" smtClean="0">
              <a:ea typeface="Times New Roman"/>
              <a:cs typeface="Times New Roman"/>
            </a:endParaRPr>
          </a:p>
          <a:p>
            <a:r>
              <a:rPr lang="he-IL" dirty="0">
                <a:ea typeface="Times New Roman"/>
                <a:cs typeface="Times New Roman"/>
              </a:rPr>
              <a:t>סימן ד': ייצור </a:t>
            </a:r>
            <a:r>
              <a:rPr lang="he-IL" dirty="0" smtClean="0">
                <a:ea typeface="Times New Roman"/>
                <a:cs typeface="Times New Roman"/>
              </a:rPr>
              <a:t>גפרורים</a:t>
            </a:r>
          </a:p>
          <a:p>
            <a:r>
              <a:rPr lang="he-IL" dirty="0">
                <a:ea typeface="Times New Roman"/>
                <a:cs typeface="Times New Roman"/>
              </a:rPr>
              <a:t>סימן ה': לחות בתהליך </a:t>
            </a:r>
            <a:r>
              <a:rPr lang="he-IL" dirty="0" smtClean="0">
                <a:ea typeface="Times New Roman"/>
                <a:cs typeface="Times New Roman"/>
              </a:rPr>
              <a:t>טקסטיל</a:t>
            </a:r>
          </a:p>
          <a:p>
            <a:r>
              <a:rPr lang="he-IL" dirty="0">
                <a:ea typeface="Times New Roman"/>
                <a:cs typeface="Times New Roman"/>
              </a:rPr>
              <a:t>סימן ו': חדרים שבקומת </a:t>
            </a:r>
            <a:r>
              <a:rPr lang="he-IL" dirty="0" smtClean="0">
                <a:ea typeface="Times New Roman"/>
                <a:cs typeface="Times New Roman"/>
              </a:rPr>
              <a:t>מרת</a:t>
            </a:r>
          </a:p>
          <a:p>
            <a:r>
              <a:rPr lang="he-IL" dirty="0">
                <a:ea typeface="Times New Roman"/>
                <a:cs typeface="Times New Roman"/>
              </a:rPr>
              <a:t>סימן ז': </a:t>
            </a:r>
            <a:r>
              <a:rPr lang="he-IL" dirty="0" smtClean="0">
                <a:ea typeface="Times New Roman"/>
                <a:cs typeface="Times New Roman"/>
              </a:rPr>
              <a:t>מכבסות</a:t>
            </a:r>
          </a:p>
          <a:p>
            <a:r>
              <a:rPr lang="he-IL" dirty="0">
                <a:ea typeface="Times New Roman"/>
                <a:cs typeface="Times New Roman"/>
              </a:rPr>
              <a:t>סימן ח': משקל </a:t>
            </a:r>
            <a:r>
              <a:rPr lang="he-IL" dirty="0" smtClean="0">
                <a:ea typeface="Times New Roman"/>
                <a:cs typeface="Times New Roman"/>
              </a:rPr>
              <a:t>משאות</a:t>
            </a:r>
          </a:p>
          <a:p>
            <a:r>
              <a:rPr lang="he-IL" dirty="0">
                <a:ea typeface="Times New Roman"/>
                <a:cs typeface="Times New Roman"/>
              </a:rPr>
              <a:t>סימן ט': תקנות בטיחות, בריאות </a:t>
            </a:r>
            <a:r>
              <a:rPr lang="he-IL" dirty="0" err="1" smtClean="0">
                <a:ea typeface="Times New Roman"/>
                <a:cs typeface="Times New Roman"/>
              </a:rPr>
              <a:t>וגיהות</a:t>
            </a:r>
            <a:endParaRPr lang="he-IL" dirty="0" smtClean="0">
              <a:ea typeface="Times New Roman"/>
              <a:cs typeface="Times New Roman"/>
            </a:endParaRP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4187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ea typeface="Times New Roman"/>
              </a:rPr>
              <a:t>פרק ו': </a:t>
            </a:r>
            <a:r>
              <a:rPr lang="he-IL" dirty="0" err="1">
                <a:ea typeface="Times New Roman"/>
              </a:rPr>
              <a:t>תחולות</a:t>
            </a:r>
            <a:r>
              <a:rPr lang="he-IL" dirty="0">
                <a:ea typeface="Times New Roman"/>
              </a:rPr>
              <a:t> והרחבות מיוחדות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e-IL" dirty="0">
                <a:ea typeface="Times New Roman"/>
                <a:cs typeface="Times New Roman"/>
              </a:rPr>
              <a:t>סימן א': חלק </a:t>
            </a:r>
            <a:r>
              <a:rPr lang="he-IL" dirty="0" err="1">
                <a:ea typeface="Times New Roman"/>
                <a:cs typeface="Times New Roman"/>
              </a:rPr>
              <a:t>מבנין</a:t>
            </a:r>
            <a:r>
              <a:rPr lang="he-IL" dirty="0">
                <a:ea typeface="Times New Roman"/>
                <a:cs typeface="Times New Roman"/>
              </a:rPr>
              <a:t> שהוא מפעל </a:t>
            </a:r>
            <a:r>
              <a:rPr lang="he-IL" dirty="0" smtClean="0">
                <a:ea typeface="Times New Roman"/>
                <a:cs typeface="Times New Roman"/>
              </a:rPr>
              <a:t>נפרד</a:t>
            </a:r>
          </a:p>
          <a:p>
            <a:r>
              <a:rPr lang="he-IL" dirty="0">
                <a:ea typeface="Times New Roman"/>
                <a:cs typeface="Times New Roman"/>
              </a:rPr>
              <a:t>סימן ב</a:t>
            </a:r>
            <a:r>
              <a:rPr lang="he-IL" dirty="0" smtClean="0">
                <a:ea typeface="Times New Roman"/>
                <a:cs typeface="Times New Roman"/>
              </a:rPr>
              <a:t>': מבוטל</a:t>
            </a:r>
          </a:p>
          <a:p>
            <a:r>
              <a:rPr lang="he-IL" dirty="0">
                <a:ea typeface="Times New Roman"/>
                <a:cs typeface="Times New Roman"/>
              </a:rPr>
              <a:t>סימן ג': תחנות </a:t>
            </a:r>
            <a:r>
              <a:rPr lang="he-IL" dirty="0" smtClean="0">
                <a:ea typeface="Times New Roman"/>
                <a:cs typeface="Times New Roman"/>
              </a:rPr>
              <a:t>חשמל</a:t>
            </a:r>
          </a:p>
          <a:p>
            <a:r>
              <a:rPr lang="he-IL" dirty="0">
                <a:ea typeface="Times New Roman"/>
                <a:cs typeface="Times New Roman"/>
              </a:rPr>
              <a:t>סימן ג'1: סדנאות במוסדות </a:t>
            </a:r>
            <a:r>
              <a:rPr lang="he-IL" dirty="0" smtClean="0">
                <a:ea typeface="Times New Roman"/>
                <a:cs typeface="Times New Roman"/>
              </a:rPr>
              <a:t>חינוך</a:t>
            </a:r>
          </a:p>
          <a:p>
            <a:r>
              <a:rPr lang="he-IL" dirty="0">
                <a:ea typeface="Times New Roman"/>
                <a:cs typeface="Times New Roman"/>
              </a:rPr>
              <a:t>סימן ד': </a:t>
            </a:r>
            <a:r>
              <a:rPr lang="he-IL" dirty="0" smtClean="0">
                <a:ea typeface="Times New Roman"/>
                <a:cs typeface="Times New Roman"/>
              </a:rPr>
              <a:t>מוסדות</a:t>
            </a:r>
          </a:p>
          <a:p>
            <a:r>
              <a:rPr lang="he-IL" dirty="0">
                <a:ea typeface="Times New Roman"/>
                <a:cs typeface="Times New Roman"/>
              </a:rPr>
              <a:t>סימן ה': </a:t>
            </a:r>
            <a:r>
              <a:rPr lang="he-IL" dirty="0" smtClean="0">
                <a:ea typeface="Times New Roman"/>
                <a:cs typeface="Times New Roman"/>
              </a:rPr>
              <a:t>נמלים</a:t>
            </a:r>
          </a:p>
          <a:p>
            <a:r>
              <a:rPr lang="he-IL" dirty="0">
                <a:ea typeface="Times New Roman"/>
                <a:cs typeface="Times New Roman"/>
              </a:rPr>
              <a:t>סימן ו': </a:t>
            </a:r>
            <a:r>
              <a:rPr lang="he-IL" dirty="0" smtClean="0">
                <a:ea typeface="Times New Roman"/>
                <a:cs typeface="Times New Roman"/>
              </a:rPr>
              <a:t>מחסנים</a:t>
            </a:r>
          </a:p>
          <a:p>
            <a:r>
              <a:rPr lang="he-IL" dirty="0">
                <a:ea typeface="Times New Roman"/>
                <a:cs typeface="Times New Roman"/>
              </a:rPr>
              <a:t>סימן ז': </a:t>
            </a:r>
            <a:r>
              <a:rPr lang="he-IL" dirty="0" smtClean="0">
                <a:ea typeface="Times New Roman"/>
                <a:cs typeface="Times New Roman"/>
              </a:rPr>
              <a:t>אניות</a:t>
            </a:r>
          </a:p>
          <a:p>
            <a:r>
              <a:rPr lang="he-IL" dirty="0">
                <a:ea typeface="Times New Roman"/>
                <a:cs typeface="Times New Roman"/>
              </a:rPr>
              <a:t>סימן ח': בניה ובניה </a:t>
            </a:r>
            <a:r>
              <a:rPr lang="he-IL" dirty="0" smtClean="0">
                <a:ea typeface="Times New Roman"/>
                <a:cs typeface="Times New Roman"/>
              </a:rPr>
              <a:t>הנדסית</a:t>
            </a:r>
          </a:p>
          <a:p>
            <a:r>
              <a:rPr lang="he-IL" dirty="0">
                <a:ea typeface="Times New Roman"/>
                <a:cs typeface="Times New Roman"/>
              </a:rPr>
              <a:t>סימן ט': מעלית, דרגנוע או מיתקן לחץ בחצרים שאינם </a:t>
            </a:r>
            <a:r>
              <a:rPr lang="he-IL" dirty="0" smtClean="0">
                <a:ea typeface="Times New Roman"/>
                <a:cs typeface="Times New Roman"/>
              </a:rPr>
              <a:t>מפעל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4883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ea typeface="Times New Roman"/>
              </a:rPr>
              <a:t>פרק ז': שונות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>
                <a:ea typeface="Times New Roman"/>
                <a:cs typeface="Times New Roman"/>
              </a:rPr>
              <a:t>סימן א': פתיחת </a:t>
            </a:r>
            <a:r>
              <a:rPr lang="he-IL" dirty="0" smtClean="0">
                <a:ea typeface="Times New Roman"/>
                <a:cs typeface="Times New Roman"/>
              </a:rPr>
              <a:t>מפעל</a:t>
            </a:r>
          </a:p>
          <a:p>
            <a:r>
              <a:rPr lang="he-IL" dirty="0">
                <a:ea typeface="Times New Roman"/>
                <a:cs typeface="Times New Roman"/>
              </a:rPr>
              <a:t>סימן ב': תקצירים </a:t>
            </a:r>
            <a:r>
              <a:rPr lang="he-IL" dirty="0" smtClean="0">
                <a:ea typeface="Times New Roman"/>
                <a:cs typeface="Times New Roman"/>
              </a:rPr>
              <a:t>ותעודות</a:t>
            </a:r>
          </a:p>
          <a:p>
            <a:r>
              <a:rPr lang="he-IL" dirty="0">
                <a:ea typeface="Times New Roman"/>
                <a:cs typeface="Times New Roman"/>
              </a:rPr>
              <a:t>סימן ג': פנקס </a:t>
            </a:r>
            <a:r>
              <a:rPr lang="he-IL" dirty="0" smtClean="0">
                <a:ea typeface="Times New Roman"/>
                <a:cs typeface="Times New Roman"/>
              </a:rPr>
              <a:t>המפעל</a:t>
            </a:r>
          </a:p>
          <a:p>
            <a:r>
              <a:rPr lang="he-IL" dirty="0">
                <a:ea typeface="Times New Roman"/>
                <a:cs typeface="Times New Roman"/>
              </a:rPr>
              <a:t>סימן ג'1: אישורים לעניין </a:t>
            </a:r>
            <a:r>
              <a:rPr lang="he-IL" dirty="0" err="1">
                <a:ea typeface="Times New Roman"/>
                <a:cs typeface="Times New Roman"/>
              </a:rPr>
              <a:t>מיתקני</a:t>
            </a:r>
            <a:r>
              <a:rPr lang="he-IL" dirty="0">
                <a:ea typeface="Times New Roman"/>
                <a:cs typeface="Times New Roman"/>
              </a:rPr>
              <a:t> גז טבעי </a:t>
            </a:r>
            <a:r>
              <a:rPr lang="he-IL" dirty="0" smtClean="0">
                <a:ea typeface="Times New Roman"/>
                <a:cs typeface="Times New Roman"/>
              </a:rPr>
              <a:t>לצריכה</a:t>
            </a:r>
          </a:p>
          <a:p>
            <a:r>
              <a:rPr lang="he-IL" dirty="0">
                <a:ea typeface="Times New Roman"/>
                <a:cs typeface="Times New Roman"/>
              </a:rPr>
              <a:t>סימן ד': חובותיהם של </a:t>
            </a:r>
            <a:r>
              <a:rPr lang="he-IL" dirty="0" smtClean="0">
                <a:ea typeface="Times New Roman"/>
                <a:cs typeface="Times New Roman"/>
              </a:rPr>
              <a:t>עובדים</a:t>
            </a:r>
          </a:p>
          <a:p>
            <a:r>
              <a:rPr lang="he-IL" dirty="0">
                <a:ea typeface="Times New Roman"/>
                <a:cs typeface="Times New Roman"/>
              </a:rPr>
              <a:t>סימן ה': איסור ניכויים </a:t>
            </a:r>
            <a:r>
              <a:rPr lang="he-IL" dirty="0" smtClean="0">
                <a:ea typeface="Times New Roman"/>
                <a:cs typeface="Times New Roman"/>
              </a:rPr>
              <a:t>משכר</a:t>
            </a:r>
          </a:p>
          <a:p>
            <a:r>
              <a:rPr lang="he-IL" dirty="0">
                <a:ea typeface="Times New Roman"/>
                <a:cs typeface="Times New Roman"/>
              </a:rPr>
              <a:t>סימן ו': מצרכים שייבואם </a:t>
            </a:r>
            <a:r>
              <a:rPr lang="he-IL" dirty="0" smtClean="0">
                <a:ea typeface="Times New Roman"/>
                <a:cs typeface="Times New Roman"/>
              </a:rPr>
              <a:t>אסור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433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55576" y="0"/>
            <a:ext cx="5338936" cy="980728"/>
          </a:xfrm>
        </p:spPr>
        <p:txBody>
          <a:bodyPr>
            <a:normAutofit/>
          </a:bodyPr>
          <a:lstStyle/>
          <a:p>
            <a:r>
              <a:rPr lang="he-IL" dirty="0">
                <a:ea typeface="Times New Roman"/>
              </a:rPr>
              <a:t>פרק ח': ביצוע</a:t>
            </a:r>
            <a:endParaRPr lang="he-IL" dirty="0"/>
          </a:p>
        </p:txBody>
      </p:sp>
      <p:graphicFrame>
        <p:nvGraphicFramePr>
          <p:cNvPr id="4" name="מציין מיקום תוכן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175660"/>
              </p:ext>
            </p:extLst>
          </p:nvPr>
        </p:nvGraphicFramePr>
        <p:xfrm>
          <a:off x="13719" y="692696"/>
          <a:ext cx="8820472" cy="5486400"/>
        </p:xfrm>
        <a:graphic>
          <a:graphicData uri="http://schemas.openxmlformats.org/drawingml/2006/table">
            <a:tbl>
              <a:tblPr rtl="1"/>
              <a:tblGrid>
                <a:gridCol w="8820472"/>
              </a:tblGrid>
              <a:tr h="50870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סמכויות מפקח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סמכות לענינים רפואיים</a:t>
                      </a:r>
                      <a:endParaRPr lang="en-US" sz="2400" b="1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נטילת דוגמאות לאנליזה</a:t>
                      </a:r>
                      <a:endParaRPr lang="en-US" sz="2400" b="1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החובה להמציא אמצעים לבקורת</a:t>
                      </a:r>
                      <a:endParaRPr lang="en-US" sz="2400" b="1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החובה להמציא נסח מפנקס המפעל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תעודת מינוי של מפקח</a:t>
                      </a:r>
                      <a:endParaRPr lang="en-US" sz="2400" b="1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מתן תעודות</a:t>
                      </a:r>
                      <a:endParaRPr lang="en-US" sz="2400" b="1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568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התקנת תקנות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המצאת תעודות ומשלוחן</a:t>
                      </a:r>
                      <a:endParaRPr lang="en-US" sz="2400" b="1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052">
                <a:tc>
                  <a:txBody>
                    <a:bodyPr/>
                    <a:lstStyle/>
                    <a:p>
                      <a:pPr algn="r" rtl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המצאת הודעות לאדם שבמקום התופש</a:t>
                      </a:r>
                      <a:endParaRPr lang="en-US" sz="2400" b="1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757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ea typeface="Times New Roman"/>
              </a:rPr>
              <a:t>פרק ט': עבירות, עונשין והליכים משפטיים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>
                <a:ea typeface="Times New Roman"/>
                <a:cs typeface="Times New Roman"/>
              </a:rPr>
              <a:t>סימן א': </a:t>
            </a:r>
            <a:r>
              <a:rPr lang="he-IL" dirty="0" smtClean="0">
                <a:ea typeface="Times New Roman"/>
                <a:cs typeface="Times New Roman"/>
              </a:rPr>
              <a:t>האחראים</a:t>
            </a:r>
          </a:p>
          <a:p>
            <a:endParaRPr lang="he-IL" dirty="0">
              <a:ea typeface="Times New Roman"/>
              <a:cs typeface="Times New Roman"/>
            </a:endParaRPr>
          </a:p>
          <a:p>
            <a:endParaRPr lang="he-IL" dirty="0" smtClean="0">
              <a:ea typeface="Times New Roman"/>
              <a:cs typeface="Times New Roman"/>
            </a:endParaRPr>
          </a:p>
          <a:p>
            <a:r>
              <a:rPr lang="he-IL" dirty="0">
                <a:ea typeface="Times New Roman"/>
                <a:cs typeface="Times New Roman"/>
                <a:hlinkClick r:id="rId2" action="ppaction://hlinkfile"/>
              </a:rPr>
              <a:t>סימן ב': עבירות </a:t>
            </a:r>
            <a:r>
              <a:rPr lang="he-IL" dirty="0" err="1" smtClean="0">
                <a:ea typeface="Times New Roman"/>
                <a:cs typeface="Times New Roman"/>
                <a:hlinkClick r:id="rId2" action="ppaction://hlinkfile"/>
              </a:rPr>
              <a:t>ועונשין</a:t>
            </a:r>
            <a:endParaRPr lang="he-IL" dirty="0" smtClean="0">
              <a:ea typeface="Times New Roman"/>
              <a:cs typeface="Times New Roman"/>
            </a:endParaRPr>
          </a:p>
          <a:p>
            <a:endParaRPr lang="he-IL" dirty="0">
              <a:ea typeface="Times New Roman"/>
              <a:cs typeface="Times New Roman"/>
            </a:endParaRPr>
          </a:p>
          <a:p>
            <a:endParaRPr lang="he-IL" dirty="0" smtClean="0">
              <a:ea typeface="Times New Roman"/>
              <a:cs typeface="Times New Roman"/>
            </a:endParaRPr>
          </a:p>
          <a:p>
            <a:r>
              <a:rPr lang="he-IL" dirty="0">
                <a:ea typeface="Times New Roman"/>
                <a:cs typeface="Times New Roman"/>
              </a:rPr>
              <a:t>סימן ג': הליכים </a:t>
            </a:r>
            <a:r>
              <a:rPr lang="he-IL" dirty="0" smtClean="0">
                <a:ea typeface="Times New Roman"/>
                <a:cs typeface="Times New Roman"/>
              </a:rPr>
              <a:t>משפטיים</a:t>
            </a:r>
          </a:p>
          <a:p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44824"/>
            <a:ext cx="4096104" cy="351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9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ea typeface="Times New Roman"/>
              </a:rPr>
              <a:t>פרק י': כללי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sz="3600" dirty="0">
                <a:ea typeface="Times New Roman"/>
                <a:cs typeface="Times New Roman"/>
              </a:rPr>
              <a:t>סימן א': </a:t>
            </a:r>
            <a:r>
              <a:rPr lang="he-IL" sz="3600" dirty="0" smtClean="0">
                <a:ea typeface="Times New Roman"/>
                <a:cs typeface="Times New Roman"/>
              </a:rPr>
              <a:t>ציוד</a:t>
            </a:r>
          </a:p>
          <a:p>
            <a:endParaRPr lang="he-IL" sz="3600" dirty="0">
              <a:cs typeface="Times New Roman"/>
            </a:endParaRPr>
          </a:p>
          <a:p>
            <a:r>
              <a:rPr lang="he-IL" sz="3600" dirty="0">
                <a:ea typeface="Times New Roman"/>
                <a:cs typeface="Times New Roman"/>
              </a:rPr>
              <a:t>סימן ב': הגבלת </a:t>
            </a:r>
            <a:r>
              <a:rPr lang="he-IL" sz="3600" dirty="0" smtClean="0">
                <a:ea typeface="Times New Roman"/>
                <a:cs typeface="Times New Roman"/>
              </a:rPr>
              <a:t>לחות</a:t>
            </a:r>
          </a:p>
          <a:p>
            <a:endParaRPr lang="he-IL" dirty="0">
              <a:cs typeface="Times New Roman"/>
            </a:endParaRPr>
          </a:p>
          <a:p>
            <a:endParaRPr lang="he-IL" dirty="0"/>
          </a:p>
        </p:txBody>
      </p:sp>
      <p:sp>
        <p:nvSpPr>
          <p:cNvPr id="4" name="מלבן 3"/>
          <p:cNvSpPr/>
          <p:nvPr/>
        </p:nvSpPr>
        <p:spPr>
          <a:xfrm>
            <a:off x="0" y="4703490"/>
            <a:ext cx="5694366" cy="9746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360"/>
              </a:spcBef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2000" b="1" dirty="0" smtClean="0">
                <a:latin typeface="Times New Roman"/>
                <a:ea typeface="Times New Roman"/>
                <a:cs typeface="Times New Roman"/>
              </a:rPr>
              <a:t>יעקב ש</a:t>
            </a:r>
            <a:r>
              <a:rPr lang="he-IL" sz="2000" b="1" dirty="0">
                <a:latin typeface="Times New Roman"/>
                <a:ea typeface="Times New Roman"/>
                <a:cs typeface="Times New Roman"/>
              </a:rPr>
              <a:t>' </a:t>
            </a:r>
            <a:r>
              <a:rPr lang="he-IL" sz="2000" b="1" dirty="0" smtClean="0">
                <a:latin typeface="Times New Roman"/>
                <a:ea typeface="Times New Roman"/>
                <a:cs typeface="Times New Roman"/>
              </a:rPr>
              <a:t>שפירא, שר </a:t>
            </a:r>
            <a:r>
              <a:rPr lang="he-IL" sz="2000" b="1" dirty="0">
                <a:latin typeface="Times New Roman"/>
                <a:ea typeface="Times New Roman"/>
                <a:cs typeface="Times New Roman"/>
              </a:rPr>
              <a:t>המשפטים</a:t>
            </a:r>
            <a:endParaRPr lang="en-US" sz="2000" b="1" dirty="0">
              <a:latin typeface="Times New Roman"/>
              <a:ea typeface="Times New Roman"/>
              <a:cs typeface="FrankRuehl"/>
            </a:endParaRPr>
          </a:p>
          <a:p>
            <a:pPr algn="just">
              <a:spcBef>
                <a:spcPts val="360"/>
              </a:spcBef>
              <a:tabLst>
                <a:tab pos="396240" algn="l"/>
                <a:tab pos="648335" algn="l"/>
                <a:tab pos="935990" algn="l"/>
                <a:tab pos="1224280" algn="l"/>
                <a:tab pos="1511935" algn="l"/>
                <a:tab pos="3974465" algn="r"/>
              </a:tabLst>
            </a:pPr>
            <a:r>
              <a:rPr lang="he-IL" sz="1600" b="1" dirty="0">
                <a:latin typeface="Times New Roman"/>
                <a:ea typeface="Times New Roman"/>
                <a:cs typeface="Times New Roman"/>
              </a:rPr>
              <a:t/>
            </a:r>
            <a:br>
              <a:rPr lang="he-IL" sz="1600" b="1" dirty="0">
                <a:latin typeface="Times New Roman"/>
                <a:ea typeface="Times New Roman"/>
                <a:cs typeface="Times New Roman"/>
              </a:rPr>
            </a:br>
            <a:r>
              <a:rPr lang="he-IL" dirty="0">
                <a:latin typeface="Times New Roman"/>
                <a:ea typeface="Times New Roman"/>
                <a:cs typeface="Times New Roman"/>
              </a:rPr>
              <a:t> </a:t>
            </a:r>
            <a:endParaRPr lang="en-US" sz="1100" dirty="0">
              <a:effectLst/>
              <a:latin typeface="Times New Roman"/>
              <a:ea typeface="Times New Roman"/>
              <a:cs typeface="FrankRuehl"/>
            </a:endParaRPr>
          </a:p>
        </p:txBody>
      </p:sp>
    </p:spTree>
    <p:extLst>
      <p:ext uri="{BB962C8B-B14F-4D97-AF65-F5344CB8AC3E}">
        <p14:creationId xmlns:p14="http://schemas.microsoft.com/office/powerpoint/2010/main" val="108613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413792"/>
            <a:ext cx="8229600" cy="1143000"/>
          </a:xfrm>
        </p:spPr>
        <p:txBody>
          <a:bodyPr/>
          <a:lstStyle/>
          <a:p>
            <a:r>
              <a:rPr lang="he-IL" b="1" dirty="0" smtClean="0"/>
              <a:t>תקנות הבטיחות בעבודה</a:t>
            </a:r>
            <a:endParaRPr lang="he-IL" b="1" dirty="0"/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2204864"/>
            <a:ext cx="6439171" cy="3040195"/>
          </a:xfrm>
        </p:spPr>
      </p:pic>
      <p:sp>
        <p:nvSpPr>
          <p:cNvPr id="6" name="מלבן 5"/>
          <p:cNvSpPr/>
          <p:nvPr/>
        </p:nvSpPr>
        <p:spPr>
          <a:xfrm>
            <a:off x="395536" y="404664"/>
            <a:ext cx="8352928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מלבן 6"/>
          <p:cNvSpPr/>
          <p:nvPr/>
        </p:nvSpPr>
        <p:spPr>
          <a:xfrm>
            <a:off x="270933" y="260648"/>
            <a:ext cx="8640960" cy="1440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9292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39552" y="332656"/>
            <a:ext cx="8435280" cy="5976664"/>
          </a:xfrm>
        </p:spPr>
        <p:txBody>
          <a:bodyPr>
            <a:normAutofit fontScale="47500" lnSpcReduction="20000"/>
          </a:bodyPr>
          <a:lstStyle/>
          <a:p>
            <a:endParaRPr lang="he-IL" dirty="0"/>
          </a:p>
          <a:p>
            <a:r>
              <a:rPr lang="he-IL" sz="4200" dirty="0"/>
              <a:t>תקנות הבטיחות בעבודה (ניטור סביבתי וניטור ביולוגי של עובדים בגורמים מזיקים) , </a:t>
            </a:r>
            <a:r>
              <a:rPr lang="he-IL" sz="4200" dirty="0" err="1"/>
              <a:t>התשע"א</a:t>
            </a:r>
            <a:r>
              <a:rPr lang="he-IL" sz="4200" dirty="0"/>
              <a:t> – 2011   </a:t>
            </a:r>
          </a:p>
          <a:p>
            <a:r>
              <a:rPr lang="he-IL" sz="4200" dirty="0"/>
              <a:t>תקנות הבטיחות בעבודה (עבודה בגובה), </a:t>
            </a:r>
            <a:r>
              <a:rPr lang="he-IL" sz="4200" dirty="0" err="1"/>
              <a:t>התשס"ז</a:t>
            </a:r>
            <a:r>
              <a:rPr lang="he-IL" sz="4200" dirty="0"/>
              <a:t>- 2007   </a:t>
            </a:r>
          </a:p>
          <a:p>
            <a:r>
              <a:rPr lang="he-IL" sz="4200" dirty="0"/>
              <a:t>תקנות הבטיחות בעבודה (</a:t>
            </a:r>
            <a:r>
              <a:rPr lang="he-IL" sz="4200" dirty="0" err="1"/>
              <a:t>גליון</a:t>
            </a:r>
            <a:r>
              <a:rPr lang="he-IL" sz="4200" dirty="0"/>
              <a:t> בטיחות, סיווג, אריזה, תווי וסימון של אריזות), </a:t>
            </a:r>
            <a:r>
              <a:rPr lang="he-IL" sz="4200" dirty="0" err="1"/>
              <a:t>התשנ"ח</a:t>
            </a:r>
            <a:r>
              <a:rPr lang="he-IL" sz="4200" dirty="0"/>
              <a:t> - 1998   </a:t>
            </a:r>
          </a:p>
          <a:p>
            <a:r>
              <a:rPr lang="he-IL" sz="4200" dirty="0"/>
              <a:t>תקנות הבטיחות בעבודה (חשמל) , </a:t>
            </a:r>
            <a:r>
              <a:rPr lang="he-IL" sz="4200" dirty="0" err="1"/>
              <a:t>התש"ן</a:t>
            </a:r>
            <a:r>
              <a:rPr lang="he-IL" sz="4200" dirty="0"/>
              <a:t> - 1990    </a:t>
            </a:r>
          </a:p>
          <a:p>
            <a:r>
              <a:rPr lang="he-IL" sz="4200" dirty="0"/>
              <a:t>תקנות הבטיחות בעבודה (עובדים </a:t>
            </a:r>
            <a:r>
              <a:rPr lang="he-IL" sz="4200" dirty="0" err="1"/>
              <a:t>בחמרי</a:t>
            </a:r>
            <a:r>
              <a:rPr lang="he-IL" sz="4200" dirty="0"/>
              <a:t>-הדברה), </a:t>
            </a:r>
            <a:r>
              <a:rPr lang="he-IL" sz="4200" dirty="0" err="1"/>
              <a:t>התשכ"ד</a:t>
            </a:r>
            <a:r>
              <a:rPr lang="he-IL" sz="4200" dirty="0"/>
              <a:t> - 1964   </a:t>
            </a:r>
          </a:p>
          <a:p>
            <a:r>
              <a:rPr lang="he-IL" sz="4200" dirty="0"/>
              <a:t>תקנות הבטיחות בעבודה (איסור עבודה </a:t>
            </a:r>
            <a:r>
              <a:rPr lang="he-IL" sz="4200" dirty="0" err="1"/>
              <a:t>בחמרים</a:t>
            </a:r>
            <a:r>
              <a:rPr lang="he-IL" sz="4200" dirty="0"/>
              <a:t> מסרטנים </a:t>
            </a:r>
            <a:r>
              <a:rPr lang="he-IL" sz="4200" dirty="0" err="1"/>
              <a:t>מסויימים</a:t>
            </a:r>
            <a:r>
              <a:rPr lang="he-IL" sz="4200" dirty="0"/>
              <a:t>), </a:t>
            </a:r>
            <a:r>
              <a:rPr lang="he-IL" sz="4200" dirty="0" err="1"/>
              <a:t>התשמ"ה</a:t>
            </a:r>
            <a:r>
              <a:rPr lang="he-IL" sz="4200" dirty="0"/>
              <a:t> - 1984   </a:t>
            </a:r>
          </a:p>
          <a:p>
            <a:r>
              <a:rPr lang="he-IL" sz="4200" dirty="0"/>
              <a:t>תקנות הבטיחות בעבודה (עבודות בנייה) , </a:t>
            </a:r>
            <a:r>
              <a:rPr lang="he-IL" sz="4200" dirty="0" err="1"/>
              <a:t>התשמ"ח</a:t>
            </a:r>
            <a:r>
              <a:rPr lang="he-IL" sz="4200" dirty="0"/>
              <a:t> - 1988    </a:t>
            </a:r>
          </a:p>
          <a:p>
            <a:r>
              <a:rPr lang="he-IL" sz="4200" dirty="0"/>
              <a:t>תקנות הבטיחות בעבודה (ציוד מגן אישי), </a:t>
            </a:r>
            <a:r>
              <a:rPr lang="he-IL" sz="4200" dirty="0" err="1"/>
              <a:t>התשנ"ז</a:t>
            </a:r>
            <a:r>
              <a:rPr lang="he-IL" sz="4200" dirty="0"/>
              <a:t> - 1997   </a:t>
            </a:r>
          </a:p>
          <a:p>
            <a:r>
              <a:rPr lang="he-IL" sz="4200" dirty="0">
                <a:hlinkClick r:id="rId2" action="ppaction://hlinkfile"/>
              </a:rPr>
              <a:t>תקנות הבטיחות בעבודה (עזרה ראשונה במקומות עבודה), </a:t>
            </a:r>
            <a:r>
              <a:rPr lang="he-IL" sz="4200" dirty="0" err="1">
                <a:hlinkClick r:id="rId2" action="ppaction://hlinkfile"/>
              </a:rPr>
              <a:t>התשמ"ח</a:t>
            </a:r>
            <a:r>
              <a:rPr lang="he-IL" sz="4200" dirty="0">
                <a:hlinkClick r:id="rId2" action="ppaction://hlinkfile"/>
              </a:rPr>
              <a:t> - 1988   </a:t>
            </a:r>
            <a:endParaRPr lang="he-IL" sz="4200" dirty="0"/>
          </a:p>
          <a:p>
            <a:r>
              <a:rPr lang="he-IL" sz="4200" dirty="0"/>
              <a:t>תקנות הבטיחות בעבודה (מכירה והשכרה של מכונות, מיתקנים וציוד), </a:t>
            </a:r>
            <a:r>
              <a:rPr lang="he-IL" sz="4200" dirty="0" err="1"/>
              <a:t>התשס"א</a:t>
            </a:r>
            <a:r>
              <a:rPr lang="he-IL" sz="4200" dirty="0"/>
              <a:t> - 2001   </a:t>
            </a:r>
          </a:p>
          <a:p>
            <a:r>
              <a:rPr lang="he-IL" sz="4200" dirty="0"/>
              <a:t>תקנות הבטיחות בעבודה (מפעיל דוד קיטור ודוד הסקה), </a:t>
            </a:r>
            <a:r>
              <a:rPr lang="he-IL" sz="4200" dirty="0" err="1"/>
              <a:t>התש"ס</a:t>
            </a:r>
            <a:r>
              <a:rPr lang="he-IL" sz="4200" dirty="0"/>
              <a:t> - 2000   </a:t>
            </a:r>
          </a:p>
          <a:p>
            <a:r>
              <a:rPr lang="he-IL" sz="4200" dirty="0"/>
              <a:t>תקנות הבטיחות בעבודה (בטיחות במכונות חקלאיות), </a:t>
            </a:r>
            <a:r>
              <a:rPr lang="he-IL" sz="4200" dirty="0" err="1"/>
              <a:t>התשמ"ח</a:t>
            </a:r>
            <a:r>
              <a:rPr lang="he-IL" sz="4200" dirty="0"/>
              <a:t> - 1988   </a:t>
            </a:r>
          </a:p>
          <a:p>
            <a:r>
              <a:rPr lang="he-IL" sz="4200" dirty="0"/>
              <a:t>תקנות הבטיחות בעבודה (טרקטורים בחקלאות), </a:t>
            </a:r>
            <a:r>
              <a:rPr lang="he-IL" sz="4200" dirty="0" err="1"/>
              <a:t>התשל"ב</a:t>
            </a:r>
            <a:r>
              <a:rPr lang="he-IL" sz="4200" dirty="0"/>
              <a:t> - 1972   </a:t>
            </a:r>
          </a:p>
          <a:p>
            <a:r>
              <a:rPr lang="he-IL" sz="4200" dirty="0"/>
              <a:t>תקנות הבטיחות בעבודה (מכירת טרקטורים ומסגרות בטיחות), </a:t>
            </a:r>
            <a:r>
              <a:rPr lang="he-IL" sz="4200" dirty="0" err="1"/>
              <a:t>התשל"ב</a:t>
            </a:r>
            <a:r>
              <a:rPr lang="he-IL" sz="4200" dirty="0"/>
              <a:t> - 1972 </a:t>
            </a:r>
          </a:p>
        </p:txBody>
      </p:sp>
    </p:spTree>
    <p:extLst>
      <p:ext uri="{BB962C8B-B14F-4D97-AF65-F5344CB8AC3E}">
        <p14:creationId xmlns:p14="http://schemas.microsoft.com/office/powerpoint/2010/main" val="415444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-171400"/>
            <a:ext cx="9144000" cy="73448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e-IL" dirty="0">
                <a:latin typeface="Arial (Hebrew)"/>
              </a:rPr>
              <a:t/>
            </a:r>
            <a:br>
              <a:rPr lang="he-IL" dirty="0">
                <a:latin typeface="Arial (Hebrew)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תקנות הבטיחות בעבודה (בטיחות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וגיהות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 תעסוקתית בעבודה עם גורמים מסוכנים במעבדות רפואיות, כימיות וביולוגיות),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התשס"א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 - 2001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תקנות הבטיחות בעבודה (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גיהות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 תעסוקתית ובריאות העובדים ברעש),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התשמ"ד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 - 1984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4"/>
              </a:rPr>
              <a:t>תקנות הבטיחות בעבודה (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4"/>
              </a:rPr>
              <a:t>גיהות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4"/>
              </a:rPr>
              <a:t> תעסוקתית ובריאות הציבור והעובדים באבק מזיק),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4"/>
              </a:rPr>
              <a:t>התשמ"ד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4"/>
              </a:rPr>
              <a:t> - 1984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תקנות הבטיחות בעבודה (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גיהות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 תעסוקתית ובריאות העובדים במתכות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מסויימות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),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התשנ"ג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 - 1993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;  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6"/>
              </a:rPr>
              <a:t>ראה תיקון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6"/>
              </a:rPr>
              <a:t>התשס"ב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6"/>
              </a:rPr>
              <a:t> - 2002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תקנות הבטיחות בעבודה (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גיהות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 תעסוקתית ובריאות העובדים בבנזן),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התשמ"ד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 - 1983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8"/>
              </a:rPr>
              <a:t>תקנות הבטיחות בעבודה (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8"/>
              </a:rPr>
              <a:t>גיהות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8"/>
              </a:rPr>
              <a:t> תעסוקתית ובריאות העובדים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8"/>
              </a:rPr>
              <a:t>בויניל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8"/>
              </a:rPr>
              <a:t>-כלוריד),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8"/>
              </a:rPr>
              <a:t>התשמ"ד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8"/>
              </a:rPr>
              <a:t> - 1983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9"/>
              </a:rPr>
              <a:t>תקנות הבטיחות בעבודה (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9"/>
              </a:rPr>
              <a:t>גיהות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9"/>
              </a:rPr>
              <a:t> תעסוקתית ובריאות העובדים בעופרת),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9"/>
              </a:rPr>
              <a:t>התשמ"ד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9"/>
              </a:rPr>
              <a:t> - 1983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10"/>
              </a:rPr>
              <a:t>תקנות הבטיחות בעבודה (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10"/>
              </a:rPr>
              <a:t>גיהות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10"/>
              </a:rPr>
              <a:t> תעסוקתית ובריאות העובדים בכספית),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10"/>
              </a:rPr>
              <a:t>התשמ"ה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10"/>
              </a:rPr>
              <a:t> - 1985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11"/>
              </a:rPr>
              <a:t>תקנות הבטיחות בעבודה (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11"/>
              </a:rPr>
              <a:t>גיהות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11"/>
              </a:rPr>
              <a:t> תעסוקתית ובריאות העובדים בזרניך (ארסן)),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  <a:hlinkClick r:id="rId11"/>
              </a:rPr>
              <a:t>התשמ"ה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  <a:hlinkClick r:id="rId11"/>
              </a:rPr>
              <a:t> - 1985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r>
              <a:rPr lang="he-IL" dirty="0">
                <a:latin typeface="Arial (Hebrew)"/>
              </a:rPr>
              <a:t/>
            </a:r>
            <a:br>
              <a:rPr lang="he-IL" dirty="0">
                <a:latin typeface="Arial (Hebrew)"/>
              </a:rPr>
            </a:b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9304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404664"/>
            <a:ext cx="8913168" cy="4525963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תקנות הבטיחות בעבודה (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גיהות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 תעסוקתית ובריאות העובדים בממיסים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פחמיימניים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הלוגניים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מסויימים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),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התשנ"א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2"/>
              </a:rPr>
              <a:t> - 1990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תקנות הבטיחות בעבודה (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גיהות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 תעסוקתית ובריאות העובדים בממיסים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פחמיימניים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 ארומטיים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מסויימים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),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התשנ"ג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 - 1993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תקנות הבטיחות בעבודה (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גיהות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 תעסוקתית ובריאות העובדים בחומרי הדברה שהם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זרחנים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 אורגניים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וקרבמטים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),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התשנ"ג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 - </a:t>
            </a:r>
            <a:r>
              <a:rPr lang="he-IL" sz="2800" dirty="0" smtClean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1992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 action="ppaction://hlinkfile"/>
              </a:rPr>
              <a:t> 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 </a:t>
            </a:r>
            <a:b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תקנות הבטיחות בעבודה (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גיהות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 תעסוקתית ובריאות העוסקים בקרינה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מיננת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),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התשנ"ג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 - 1992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6"/>
              </a:rPr>
              <a:t>תקנות הבטיחות בעבודה (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6"/>
              </a:rPr>
              <a:t>גיהות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6"/>
              </a:rPr>
              <a:t> תעסוקתית ובטיחות העוסקים בקרינת לייזר), התשס"ה-2005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  </a:t>
            </a:r>
            <a:b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תקנות הבטיחות בעבודה (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גיהות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 תעסוקתית ובריאות העובדים </a:t>
            </a:r>
            <a:r>
              <a:rPr lang="he-IL" sz="2800" dirty="0" err="1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באיזוציאנאטים</a:t>
            </a:r>
            <a:r>
              <a:rPr lang="he-IL" sz="2800" dirty="0" smtClean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), </a:t>
            </a:r>
            <a:r>
              <a:rPr lang="he-IL" sz="2800" dirty="0" err="1" smtClean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התשנ"ג</a:t>
            </a:r>
            <a:r>
              <a:rPr lang="he-IL" sz="2800" dirty="0" smtClean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 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7"/>
              </a:rPr>
              <a:t>- 1993</a:t>
            </a:r>
            <a:r>
              <a:rPr lang="he-IL" sz="2800" dirty="0">
                <a:solidFill>
                  <a:prstClr val="black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  </a:t>
            </a:r>
            <a:endParaRPr lang="he-IL" sz="28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80917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23528" y="4869160"/>
            <a:ext cx="8640960" cy="998984"/>
          </a:xfrm>
        </p:spPr>
        <p:txBody>
          <a:bodyPr>
            <a:normAutofit fontScale="90000"/>
          </a:bodyPr>
          <a:lstStyle/>
          <a:p>
            <a:r>
              <a:rPr lang="he-IL" b="1" dirty="0" smtClean="0">
                <a:solidFill>
                  <a:srgbClr val="7030A0"/>
                </a:solidFill>
              </a:rPr>
              <a:t>אלי </a:t>
            </a:r>
            <a:r>
              <a:rPr lang="he-IL" b="1" dirty="0" err="1" smtClean="0">
                <a:solidFill>
                  <a:srgbClr val="7030A0"/>
                </a:solidFill>
              </a:rPr>
              <a:t>פינסלר</a:t>
            </a:r>
            <a:r>
              <a:rPr lang="he-IL" b="1" dirty="0" smtClean="0">
                <a:solidFill>
                  <a:srgbClr val="7030A0"/>
                </a:solidFill>
              </a:rPr>
              <a:t> </a:t>
            </a:r>
            <a:r>
              <a:rPr lang="he-IL" dirty="0" smtClean="0"/>
              <a:t>– </a:t>
            </a:r>
            <a:r>
              <a:rPr lang="he-IL" sz="3600" dirty="0" smtClean="0"/>
              <a:t>יועץ, מרצה וממונה בטיחות מוסמך</a:t>
            </a:r>
            <a:br>
              <a:rPr lang="he-IL" sz="3600" dirty="0" smtClean="0"/>
            </a:br>
            <a:r>
              <a:rPr lang="he-IL" sz="3600" dirty="0" smtClean="0"/>
              <a:t>נייד: 052-4220271</a:t>
            </a:r>
            <a:r>
              <a:rPr lang="en-US" sz="3600" dirty="0" smtClean="0"/>
              <a:t>;</a:t>
            </a:r>
            <a:r>
              <a:rPr lang="he-IL" sz="3600" dirty="0" smtClean="0"/>
              <a:t> </a:t>
            </a:r>
            <a:r>
              <a:rPr lang="en-US" sz="3600" dirty="0" smtClean="0"/>
              <a:t>E-mail: </a:t>
            </a:r>
            <a:r>
              <a:rPr lang="en-US" sz="3600" b="1" dirty="0" smtClean="0">
                <a:solidFill>
                  <a:srgbClr val="0070C0"/>
                </a:solidFill>
              </a:rPr>
              <a:t>elipinsler@gmail.com</a:t>
            </a:r>
            <a:endParaRPr lang="he-IL" sz="3600" b="1" dirty="0">
              <a:solidFill>
                <a:srgbClr val="0070C0"/>
              </a:solidFill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 rot="21108815">
            <a:off x="-164027" y="770383"/>
            <a:ext cx="8229600" cy="820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8000" b="1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תודה על ההקשבה</a:t>
            </a:r>
            <a:endParaRPr lang="he-IL" sz="8000" b="1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700808"/>
            <a:ext cx="2256830" cy="298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43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בטיחות1">
  <a:themeElements>
    <a:clrScheme name="Hebrew 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Hebrew Blank Presentation">
      <a:majorFont>
        <a:latin typeface="Times New Roman"/>
        <a:ea typeface=""/>
        <a:cs typeface="Times New Roman (Hebrew)"/>
      </a:majorFont>
      <a:minorFont>
        <a:latin typeface="Times New Roman"/>
        <a:ea typeface=""/>
        <a:cs typeface="Times New Roman (Hebrew)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he-IL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he-IL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Hebrew 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brew 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ebrew 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brew 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brew 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brew 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ebrew 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בטיחות1</Template>
  <TotalTime>22</TotalTime>
  <Words>1276</Words>
  <Application>Microsoft Office PowerPoint</Application>
  <PresentationFormat>‫הצגה על המסך (4:3)</PresentationFormat>
  <Paragraphs>260</Paragraphs>
  <Slides>44</Slides>
  <Notes>4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44</vt:i4>
      </vt:variant>
    </vt:vector>
  </HeadingPairs>
  <TitlesOfParts>
    <vt:vector size="45" baseType="lpstr">
      <vt:lpstr>בטיחות1</vt:lpstr>
      <vt:lpstr>פקודת הבטיחות בעבודה  (נוסח חדש), התש"ל - 1970</vt:lpstr>
      <vt:lpstr>פקודת הבטיחות בעבודה (נוסח חדש), התש"ל - 1970</vt:lpstr>
      <vt:lpstr>מושגים / הגדרות</vt:lpstr>
      <vt:lpstr>חוק / חקיקה / משפט</vt:lpstr>
      <vt:lpstr>תקנה / הוראה</vt:lpstr>
      <vt:lpstr>צו</vt:lpstr>
      <vt:lpstr>רקע</vt:lpstr>
      <vt:lpstr>מצגת של PowerPoint</vt:lpstr>
      <vt:lpstr>ניזונים מהחוקה  הבריטית</vt:lpstr>
      <vt:lpstr>פקודת הבטיחות בעבודה היא חוק ארכאי : בשמה המקורי, משנת 1946, היא נקראה פקודת בתי החרושת. היא התבססה על חוק בתי החרושת הבריטי, אשר הוחק כעשור קודם לכן, ותכליתו הייתה הגנה על עובדי הטכסטיל , ענף שהחל אז להתפתח באנגליה.  </vt:lpstr>
      <vt:lpstr>מצגת של PowerPoint</vt:lpstr>
      <vt:lpstr>היסטוריית הפב"ט</vt:lpstr>
      <vt:lpstr>מצגת של PowerPoint</vt:lpstr>
      <vt:lpstr>מצגת של PowerPoint</vt:lpstr>
      <vt:lpstr>מצגת של PowerPoint</vt:lpstr>
      <vt:lpstr> פקודת הבטיחות בעבודה, 1954 (נוסח חדש) תש"ל 1970  </vt:lpstr>
      <vt:lpstr>פירוט החוק</vt:lpstr>
      <vt:lpstr>"עובד" – לרבות עובד  עצמאי ומשתקם כהגדרתו  בחוק זכויות לאנשים עם  מוגבלות המועסקים  כמשתקמים (הוראת שעה),  התשס"ז-2007; 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כשאין העוסקים עובדי התופש (תיקון מס' 1) תשל"ד-1974 </vt:lpstr>
      <vt:lpstr>                     פרק ב':</vt:lpstr>
      <vt:lpstr>                     פרק ג': בטיחות</vt:lpstr>
      <vt:lpstr>מצגת של PowerPoint</vt:lpstr>
      <vt:lpstr>מצגת של PowerPoint</vt:lpstr>
      <vt:lpstr>פרק ד': רווחה לעובדים</vt:lpstr>
      <vt:lpstr>פרק ה': הוראות מיוחדות לענין בריאות, בטיחות ורווחה</vt:lpstr>
      <vt:lpstr>פרק ו': תחולות והרחבות מיוחדות</vt:lpstr>
      <vt:lpstr>פרק ז': שונות</vt:lpstr>
      <vt:lpstr>פרק ח': ביצוע</vt:lpstr>
      <vt:lpstr>פרק ט': עבירות, עונשין והליכים משפטיים</vt:lpstr>
      <vt:lpstr>פרק י': כללי</vt:lpstr>
      <vt:lpstr>תקנות הבטיחות בעבודה</vt:lpstr>
      <vt:lpstr>מצגת של PowerPoint</vt:lpstr>
      <vt:lpstr>מצגת של PowerPoint</vt:lpstr>
      <vt:lpstr>מצגת של PowerPoint</vt:lpstr>
      <vt:lpstr>אלי פינסלר – יועץ, מרצה וממונה בטיחות מוסמך נייד: 052-4220271; E-mail: elipinsler@gmail.com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Avi Sayag - haifa</dc:creator>
  <cp:lastModifiedBy>Rani Blicher - meda</cp:lastModifiedBy>
  <cp:revision>6</cp:revision>
  <dcterms:created xsi:type="dcterms:W3CDTF">2017-01-29T11:42:23Z</dcterms:created>
  <dcterms:modified xsi:type="dcterms:W3CDTF">2017-10-19T10:13:47Z</dcterms:modified>
</cp:coreProperties>
</file>