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86" d="100"/>
          <a:sy n="86" d="100"/>
        </p:scale>
        <p:origin x="96" y="6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A1FE82A-9536-4B71-9FD8-CA39156CD6A6}" type="datetimeFigureOut">
              <a:rPr lang="en-US" smtClean="0"/>
              <a:t>2/20/2019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2734003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1FE82A-9536-4B71-9FD8-CA39156CD6A6}" type="datetimeFigureOut">
              <a:rPr lang="en-US" smtClean="0"/>
              <a:t>2/20/2019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177462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A1FE82A-9536-4B71-9FD8-CA39156CD6A6}" type="datetimeFigureOut">
              <a:rPr lang="en-US" smtClean="0"/>
              <a:t>2/20/2019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3034466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A1FE82A-9536-4B71-9FD8-CA39156CD6A6}" type="datetimeFigureOut">
              <a:rPr lang="en-US" smtClean="0"/>
              <a:t>2/20/2019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3853203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A1FE82A-9536-4B71-9FD8-CA39156CD6A6}" type="datetimeFigureOut">
              <a:rPr lang="en-US" smtClean="0"/>
              <a:t>2/20/2019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15505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1FE82A-9536-4B71-9FD8-CA39156CD6A6}" type="datetimeFigureOut">
              <a:rPr lang="en-US" smtClean="0"/>
              <a:t>2/20/2019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1030346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1FE82A-9536-4B71-9FD8-CA39156CD6A6}" type="datetimeFigureOut">
              <a:rPr lang="en-US" smtClean="0"/>
              <a:t>2/20/2019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672130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1FE82A-9536-4B71-9FD8-CA39156CD6A6}" type="datetimeFigureOut">
              <a:rPr lang="en-US" smtClean="0"/>
              <a:t>2/20/2019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1577418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1FE82A-9536-4B71-9FD8-CA39156CD6A6}" type="datetimeFigureOut">
              <a:rPr lang="en-US" smtClean="0"/>
              <a:t>2/20/2019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3230268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1FE82A-9536-4B71-9FD8-CA39156CD6A6}" type="datetimeFigureOut">
              <a:rPr lang="en-US" smtClean="0"/>
              <a:t>2/20/2019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3869760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1FE82A-9536-4B71-9FD8-CA39156CD6A6}" type="datetimeFigureOut">
              <a:rPr lang="en-US" smtClean="0"/>
              <a:t>2/20/2019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B54904-6181-47EA-A10C-E0FCF014C229}" type="slidenum">
              <a:rPr lang="en-US" smtClean="0"/>
              <a:t>‹#›</a:t>
            </a:fld>
            <a:endParaRPr lang="en-US"/>
          </a:p>
        </p:txBody>
      </p:sp>
    </p:spTree>
    <p:extLst>
      <p:ext uri="{BB962C8B-B14F-4D97-AF65-F5344CB8AC3E}">
        <p14:creationId xmlns:p14="http://schemas.microsoft.com/office/powerpoint/2010/main" val="2191971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1FE82A-9536-4B71-9FD8-CA39156CD6A6}" type="datetimeFigureOut">
              <a:rPr lang="en-US" smtClean="0"/>
              <a:t>2/20/2019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B54904-6181-47EA-A10C-E0FCF014C229}" type="slidenum">
              <a:rPr lang="en-US" smtClean="0"/>
              <a:t>‹#›</a:t>
            </a:fld>
            <a:endParaRPr lang="en-US"/>
          </a:p>
        </p:txBody>
      </p:sp>
    </p:spTree>
    <p:extLst>
      <p:ext uri="{BB962C8B-B14F-4D97-AF65-F5344CB8AC3E}">
        <p14:creationId xmlns:p14="http://schemas.microsoft.com/office/powerpoint/2010/main" val="3124483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4456" y="811369"/>
            <a:ext cx="8032124" cy="985704"/>
          </a:xfrm>
        </p:spPr>
        <p:txBody>
          <a:bodyPr/>
          <a:lstStyle/>
          <a:p>
            <a:r>
              <a:rPr lang="he-IL" dirty="0" smtClean="0">
                <a:solidFill>
                  <a:srgbClr val="0070C0"/>
                </a:solidFill>
                <a:cs typeface="+mn-cs"/>
              </a:rPr>
              <a:t>תפקודי מוח</a:t>
            </a:r>
            <a:endParaRPr lang="en-US" dirty="0">
              <a:solidFill>
                <a:srgbClr val="0070C0"/>
              </a:solidFill>
              <a:cs typeface="+mn-cs"/>
            </a:endParaRPr>
          </a:p>
        </p:txBody>
      </p:sp>
      <p:pic>
        <p:nvPicPr>
          <p:cNvPr id="4" name="Picture 3" title="תפקודי מוח"/>
          <p:cNvPicPr>
            <a:picLocks noChangeAspect="1"/>
          </p:cNvPicPr>
          <p:nvPr/>
        </p:nvPicPr>
        <p:blipFill>
          <a:blip r:embed="rId2"/>
          <a:stretch>
            <a:fillRect/>
          </a:stretch>
        </p:blipFill>
        <p:spPr>
          <a:xfrm>
            <a:off x="3627549" y="2389500"/>
            <a:ext cx="4365938" cy="3573732"/>
          </a:xfrm>
          <a:prstGeom prst="rect">
            <a:avLst/>
          </a:prstGeom>
        </p:spPr>
      </p:pic>
    </p:spTree>
    <p:extLst>
      <p:ext uri="{BB962C8B-B14F-4D97-AF65-F5344CB8AC3E}">
        <p14:creationId xmlns:p14="http://schemas.microsoft.com/office/powerpoint/2010/main" val="184341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smtClean="0">
                <a:solidFill>
                  <a:srgbClr val="0070C0"/>
                </a:solidFill>
                <a:cs typeface="+mn-cs"/>
              </a:rPr>
              <a:t>מהם תפקודי מוח?</a:t>
            </a:r>
            <a:endParaRPr lang="en-US" dirty="0">
              <a:solidFill>
                <a:srgbClr val="0070C0"/>
              </a:solidFill>
              <a:cs typeface="+mn-cs"/>
            </a:endParaRPr>
          </a:p>
        </p:txBody>
      </p:sp>
      <p:sp>
        <p:nvSpPr>
          <p:cNvPr id="3" name="Content Placeholder 2"/>
          <p:cNvSpPr>
            <a:spLocks noGrp="1"/>
          </p:cNvSpPr>
          <p:nvPr>
            <p:ph idx="1"/>
          </p:nvPr>
        </p:nvSpPr>
        <p:spPr/>
        <p:txBody>
          <a:bodyPr>
            <a:normAutofit/>
          </a:bodyPr>
          <a:lstStyle/>
          <a:p>
            <a:pPr marL="457200" lvl="1" indent="0" algn="ctr">
              <a:lnSpc>
                <a:spcPct val="150000"/>
              </a:lnSpc>
              <a:buNone/>
            </a:pPr>
            <a:r>
              <a:rPr lang="he-IL" sz="2800" dirty="0" smtClean="0"/>
              <a:t>במהלך החיים גופינו מקבל מידע מהסביבה החיצונית והפנימית.</a:t>
            </a:r>
          </a:p>
          <a:p>
            <a:pPr marL="457200" lvl="1" indent="0" algn="ctr">
              <a:lnSpc>
                <a:spcPct val="150000"/>
              </a:lnSpc>
              <a:buNone/>
            </a:pPr>
            <a:r>
              <a:rPr lang="he-IL" sz="2800" dirty="0" smtClean="0"/>
              <a:t>כמות עצומה של מידע שנקלט ומעובד. מרובו אנו מתעלמים אך חלק ממנו אנו זוכרים או חווים כחוויה רגשית, או מגיבים עליו בתנועה או כל תגובה אחרת. המרכז שאחראי לקליטת ההחלטות וביצוען הוא המוח ומערכת העצבים.</a:t>
            </a:r>
            <a:endParaRPr lang="en-US" sz="2800" dirty="0"/>
          </a:p>
        </p:txBody>
      </p:sp>
    </p:spTree>
    <p:extLst>
      <p:ext uri="{BB962C8B-B14F-4D97-AF65-F5344CB8AC3E}">
        <p14:creationId xmlns:p14="http://schemas.microsoft.com/office/powerpoint/2010/main" val="433447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smtClean="0">
                <a:solidFill>
                  <a:srgbClr val="0070C0"/>
                </a:solidFill>
                <a:cs typeface="+mn-cs"/>
              </a:rPr>
              <a:t>מיון תפקודי המוח</a:t>
            </a:r>
            <a:endParaRPr lang="en-US" dirty="0">
              <a:solidFill>
                <a:srgbClr val="0070C0"/>
              </a:solidFill>
              <a:cs typeface="+mn-cs"/>
            </a:endParaRPr>
          </a:p>
        </p:txBody>
      </p:sp>
      <p:sp>
        <p:nvSpPr>
          <p:cNvPr id="3" name="Content Placeholder 2"/>
          <p:cNvSpPr>
            <a:spLocks noGrp="1"/>
          </p:cNvSpPr>
          <p:nvPr>
            <p:ph idx="1"/>
          </p:nvPr>
        </p:nvSpPr>
        <p:spPr/>
        <p:txBody>
          <a:bodyPr>
            <a:normAutofit/>
          </a:bodyPr>
          <a:lstStyle/>
          <a:p>
            <a:pPr marL="457200" lvl="1" indent="0" algn="ctr">
              <a:lnSpc>
                <a:spcPct val="150000"/>
              </a:lnSpc>
              <a:buNone/>
            </a:pPr>
            <a:r>
              <a:rPr lang="he-IL" dirty="0" smtClean="0"/>
              <a:t>ניתן לחלק את תפקידי המוח לשלוש קבוצות:</a:t>
            </a:r>
          </a:p>
          <a:p>
            <a:pPr marL="457200" lvl="1" indent="0" algn="r">
              <a:lnSpc>
                <a:spcPct val="150000"/>
              </a:lnSpc>
              <a:buNone/>
            </a:pPr>
            <a:endParaRPr lang="he-IL" dirty="0" smtClean="0"/>
          </a:p>
          <a:p>
            <a:pPr marL="457200" lvl="1" indent="0" algn="r">
              <a:lnSpc>
                <a:spcPct val="150000"/>
              </a:lnSpc>
              <a:buNone/>
            </a:pPr>
            <a:r>
              <a:rPr lang="he-IL" dirty="0" smtClean="0">
                <a:solidFill>
                  <a:srgbClr val="0070C0"/>
                </a:solidFill>
              </a:rPr>
              <a:t>תפקוד תחושתי </a:t>
            </a:r>
            <a:r>
              <a:rPr lang="he-IL" dirty="0" smtClean="0"/>
              <a:t>– קליטת גירויים מהסביבה ומהגוף אודות מגע, חום, כאב, קולות, מראות, ריחות וטעמים.</a:t>
            </a:r>
          </a:p>
          <a:p>
            <a:pPr marL="457200" lvl="1" indent="0" algn="r">
              <a:lnSpc>
                <a:spcPct val="150000"/>
              </a:lnSpc>
              <a:buNone/>
            </a:pPr>
            <a:r>
              <a:rPr lang="he-IL" dirty="0" smtClean="0"/>
              <a:t>גירויים אלו אינם מגיעים ישירות אל המוח אלא נקלטים על ידי חיישנים שנמצאים בגוף. התחושה אינה נוצרת באיזור שקולט את הגירוי אלא במוח.</a:t>
            </a:r>
          </a:p>
          <a:p>
            <a:pPr marL="457200" lvl="1" indent="0" algn="r">
              <a:lnSpc>
                <a:spcPct val="150000"/>
              </a:lnSpc>
              <a:buNone/>
            </a:pPr>
            <a:endParaRPr lang="he-IL" dirty="0"/>
          </a:p>
          <a:p>
            <a:pPr marL="457200" lvl="1" indent="0" algn="r">
              <a:buNone/>
            </a:pPr>
            <a:endParaRPr lang="he-IL" dirty="0"/>
          </a:p>
          <a:p>
            <a:pPr marL="914400" lvl="2" indent="0" algn="r">
              <a:buNone/>
            </a:pPr>
            <a:endParaRPr lang="en-US" dirty="0"/>
          </a:p>
        </p:txBody>
      </p:sp>
    </p:spTree>
    <p:extLst>
      <p:ext uri="{BB962C8B-B14F-4D97-AF65-F5344CB8AC3E}">
        <p14:creationId xmlns:p14="http://schemas.microsoft.com/office/powerpoint/2010/main" val="174831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a:solidFill>
                  <a:srgbClr val="0070C0"/>
                </a:solidFill>
                <a:cs typeface="Arial" panose="020B0604020202020204" pitchFamily="34" charset="0"/>
              </a:rPr>
              <a:t>תפקודי המוח</a:t>
            </a:r>
            <a:endParaRPr lang="he-IL" dirty="0"/>
          </a:p>
        </p:txBody>
      </p:sp>
      <p:sp>
        <p:nvSpPr>
          <p:cNvPr id="3" name="Content Placeholder 2"/>
          <p:cNvSpPr>
            <a:spLocks noGrp="1"/>
          </p:cNvSpPr>
          <p:nvPr>
            <p:ph idx="1"/>
          </p:nvPr>
        </p:nvSpPr>
        <p:spPr/>
        <p:txBody>
          <a:bodyPr/>
          <a:lstStyle/>
          <a:p>
            <a:pPr marL="457200" lvl="1" indent="0" algn="r">
              <a:lnSpc>
                <a:spcPct val="150000"/>
              </a:lnSpc>
              <a:buNone/>
            </a:pPr>
            <a:r>
              <a:rPr lang="he-IL" sz="2200" dirty="0">
                <a:solidFill>
                  <a:srgbClr val="0070C0"/>
                </a:solidFill>
              </a:rPr>
              <a:t>תפקוד תנועתי </a:t>
            </a:r>
            <a:r>
              <a:rPr lang="he-IL" sz="2200" dirty="0" smtClean="0">
                <a:solidFill>
                  <a:prstClr val="black"/>
                </a:solidFill>
              </a:rPr>
              <a:t>– יזימת תנועות ותגובות גופניות. ההפעלה והתיאום של כל הפעילות שלנו נשלטת על ידי המוח. כאשר אנו מזיזים את ידינו, אנו עושים כך משום שנעשתה החלטה להזיז את היד והיא מופעלת על ידי המוח באמצעות תאי עצב שמגיעים אל היד.</a:t>
            </a:r>
          </a:p>
          <a:p>
            <a:pPr marL="457200" lvl="1" indent="0" algn="r">
              <a:lnSpc>
                <a:spcPct val="150000"/>
              </a:lnSpc>
              <a:buNone/>
            </a:pPr>
            <a:endParaRPr lang="he-IL" sz="2200" dirty="0">
              <a:solidFill>
                <a:prstClr val="black"/>
              </a:solidFill>
            </a:endParaRPr>
          </a:p>
          <a:p>
            <a:pPr marL="457200" lvl="1" indent="0" algn="r">
              <a:lnSpc>
                <a:spcPct val="150000"/>
              </a:lnSpc>
              <a:buNone/>
            </a:pPr>
            <a:r>
              <a:rPr lang="he-IL" sz="2200" dirty="0" smtClean="0">
                <a:solidFill>
                  <a:srgbClr val="0070C0"/>
                </a:solidFill>
              </a:rPr>
              <a:t>תפקוד "גבוה" </a:t>
            </a:r>
            <a:r>
              <a:rPr lang="he-IL" sz="2200" dirty="0" smtClean="0">
                <a:solidFill>
                  <a:prstClr val="black"/>
                </a:solidFill>
              </a:rPr>
              <a:t>– תהליכים שאינם קשורים ישירות בתחושה או תגובה והם אחראים לתהליכים כמו זכרון, עיבוד מידע, קבלת החלטות, אחסון מידע ורגשות.</a:t>
            </a:r>
          </a:p>
          <a:p>
            <a:pPr marL="457200" lvl="1" indent="0" algn="r">
              <a:lnSpc>
                <a:spcPct val="150000"/>
              </a:lnSpc>
              <a:buNone/>
            </a:pPr>
            <a:r>
              <a:rPr lang="he-IL" sz="2200" dirty="0" smtClean="0">
                <a:solidFill>
                  <a:prstClr val="black"/>
                </a:solidFill>
              </a:rPr>
              <a:t>בהתנהגות יש שיתוף פעולה בין תפקודי המוח השונים. </a:t>
            </a:r>
            <a:endParaRPr lang="he-IL" sz="2200" dirty="0">
              <a:solidFill>
                <a:prstClr val="black"/>
              </a:solidFill>
            </a:endParaRPr>
          </a:p>
          <a:p>
            <a:pPr marL="0" indent="0" algn="r">
              <a:buNone/>
            </a:pPr>
            <a:endParaRPr lang="en-US" dirty="0"/>
          </a:p>
        </p:txBody>
      </p:sp>
    </p:spTree>
    <p:extLst>
      <p:ext uri="{BB962C8B-B14F-4D97-AF65-F5344CB8AC3E}">
        <p14:creationId xmlns:p14="http://schemas.microsoft.com/office/powerpoint/2010/main" val="3190376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smtClean="0">
                <a:cs typeface="+mn-cs"/>
              </a:rPr>
              <a:t>טבלה לסיכום</a:t>
            </a:r>
            <a:endParaRPr lang="en-US" dirty="0">
              <a:cs typeface="+mn-cs"/>
            </a:endParaRPr>
          </a:p>
        </p:txBody>
      </p:sp>
      <p:graphicFrame>
        <p:nvGraphicFramePr>
          <p:cNvPr id="7" name="Content Placeholder 6" title="טבלה לסיכום"/>
          <p:cNvGraphicFramePr>
            <a:graphicFrameLocks noGrp="1"/>
          </p:cNvGraphicFramePr>
          <p:nvPr>
            <p:ph idx="1"/>
            <p:extLst>
              <p:ext uri="{D42A27DB-BD31-4B8C-83A1-F6EECF244321}">
                <p14:modId xmlns:p14="http://schemas.microsoft.com/office/powerpoint/2010/main" val="823971744"/>
              </p:ext>
            </p:extLst>
          </p:nvPr>
        </p:nvGraphicFramePr>
        <p:xfrm>
          <a:off x="838201" y="1690688"/>
          <a:ext cx="8143874" cy="4754880"/>
        </p:xfrm>
        <a:graphic>
          <a:graphicData uri="http://schemas.openxmlformats.org/drawingml/2006/table">
            <a:tbl>
              <a:tblPr rtl="1" firstRow="1" firstCol="1" bandRow="1">
                <a:tableStyleId>{00A15C55-8517-42AA-B614-E9B94910E393}</a:tableStyleId>
              </a:tblPr>
              <a:tblGrid>
                <a:gridCol w="1845315">
                  <a:extLst>
                    <a:ext uri="{9D8B030D-6E8A-4147-A177-3AD203B41FA5}">
                      <a16:colId xmlns:a16="http://schemas.microsoft.com/office/drawing/2014/main" val="20000"/>
                    </a:ext>
                  </a:extLst>
                </a:gridCol>
                <a:gridCol w="3213662">
                  <a:extLst>
                    <a:ext uri="{9D8B030D-6E8A-4147-A177-3AD203B41FA5}">
                      <a16:colId xmlns:a16="http://schemas.microsoft.com/office/drawing/2014/main" val="20001"/>
                    </a:ext>
                  </a:extLst>
                </a:gridCol>
                <a:gridCol w="3084897">
                  <a:extLst>
                    <a:ext uri="{9D8B030D-6E8A-4147-A177-3AD203B41FA5}">
                      <a16:colId xmlns:a16="http://schemas.microsoft.com/office/drawing/2014/main" val="20002"/>
                    </a:ext>
                  </a:extLst>
                </a:gridCol>
              </a:tblGrid>
              <a:tr h="348395">
                <a:tc>
                  <a:txBody>
                    <a:bodyPr/>
                    <a:lstStyle/>
                    <a:p>
                      <a:pPr marL="0" marR="0" algn="ctr" rtl="1">
                        <a:lnSpc>
                          <a:spcPct val="150000"/>
                        </a:lnSpc>
                        <a:spcBef>
                          <a:spcPts val="0"/>
                        </a:spcBef>
                        <a:spcAft>
                          <a:spcPts val="0"/>
                        </a:spcAft>
                      </a:pPr>
                      <a:r>
                        <a:rPr lang="he-IL" sz="1600" dirty="0">
                          <a:effectLst/>
                        </a:rPr>
                        <a:t>שם הקבוצה</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nchor="ctr"/>
                </a:tc>
                <a:tc>
                  <a:txBody>
                    <a:bodyPr/>
                    <a:lstStyle/>
                    <a:p>
                      <a:pPr marL="0" marR="0" algn="ctr" rtl="1">
                        <a:lnSpc>
                          <a:spcPct val="150000"/>
                        </a:lnSpc>
                        <a:spcBef>
                          <a:spcPts val="0"/>
                        </a:spcBef>
                        <a:spcAft>
                          <a:spcPts val="0"/>
                        </a:spcAft>
                      </a:pPr>
                      <a:r>
                        <a:rPr lang="he-IL" sz="1600">
                          <a:effectLst/>
                        </a:rPr>
                        <a:t>הסבר</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nchor="ctr"/>
                </a:tc>
                <a:tc>
                  <a:txBody>
                    <a:bodyPr/>
                    <a:lstStyle/>
                    <a:p>
                      <a:pPr marL="0" marR="0" algn="ctr" rtl="1">
                        <a:lnSpc>
                          <a:spcPct val="150000"/>
                        </a:lnSpc>
                        <a:spcBef>
                          <a:spcPts val="0"/>
                        </a:spcBef>
                        <a:spcAft>
                          <a:spcPts val="0"/>
                        </a:spcAft>
                      </a:pPr>
                      <a:r>
                        <a:rPr lang="he-IL" sz="1600" dirty="0">
                          <a:effectLst/>
                        </a:rPr>
                        <a:t>דוגמא</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nchor="ctr"/>
                </a:tc>
                <a:extLst>
                  <a:ext uri="{0D108BD9-81ED-4DB2-BD59-A6C34878D82A}">
                    <a16:rowId xmlns:a16="http://schemas.microsoft.com/office/drawing/2014/main" val="10000"/>
                  </a:ext>
                </a:extLst>
              </a:tr>
              <a:tr h="1829075">
                <a:tc>
                  <a:txBody>
                    <a:bodyPr/>
                    <a:lstStyle/>
                    <a:p>
                      <a:pPr marL="0" marR="0" algn="ctr" rtl="1">
                        <a:lnSpc>
                          <a:spcPct val="150000"/>
                        </a:lnSpc>
                        <a:spcBef>
                          <a:spcPts val="0"/>
                        </a:spcBef>
                        <a:spcAft>
                          <a:spcPts val="0"/>
                        </a:spcAft>
                      </a:pPr>
                      <a:r>
                        <a:rPr lang="he-IL" sz="1600" dirty="0">
                          <a:effectLst/>
                        </a:rPr>
                        <a:t>תפקוד</a:t>
                      </a:r>
                      <a:endParaRPr lang="en-US" sz="1200" dirty="0">
                        <a:effectLst/>
                      </a:endParaRPr>
                    </a:p>
                    <a:p>
                      <a:pPr marL="0" marR="0" algn="ctr" rtl="1">
                        <a:lnSpc>
                          <a:spcPct val="150000"/>
                        </a:lnSpc>
                        <a:spcBef>
                          <a:spcPts val="0"/>
                        </a:spcBef>
                        <a:spcAft>
                          <a:spcPts val="0"/>
                        </a:spcAft>
                      </a:pPr>
                      <a:r>
                        <a:rPr lang="he-IL" sz="1600" dirty="0">
                          <a:effectLst/>
                        </a:rPr>
                        <a:t>תחושתי</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tc>
                <a:tc>
                  <a:txBody>
                    <a:bodyPr/>
                    <a:lstStyle/>
                    <a:p>
                      <a:pPr marL="0" marR="0" algn="ctr" rtl="1">
                        <a:lnSpc>
                          <a:spcPct val="150000"/>
                        </a:lnSpc>
                        <a:spcBef>
                          <a:spcPts val="0"/>
                        </a:spcBef>
                        <a:spcAft>
                          <a:spcPts val="0"/>
                        </a:spcAft>
                      </a:pPr>
                      <a:r>
                        <a:rPr lang="he-IL" sz="1400" dirty="0">
                          <a:effectLst/>
                        </a:rPr>
                        <a:t>קליטת גירויים מהסביבה ומהגוף אודות מגע, חום, כאב, קולות, מראות, ריחות וטעמים.</a:t>
                      </a:r>
                      <a:endParaRPr lang="en-US" sz="1100" dirty="0">
                        <a:effectLst/>
                      </a:endParaRPr>
                    </a:p>
                    <a:p>
                      <a:pPr marL="0" marR="0" algn="ctr" rtl="1">
                        <a:lnSpc>
                          <a:spcPct val="150000"/>
                        </a:lnSpc>
                        <a:spcBef>
                          <a:spcPts val="0"/>
                        </a:spcBef>
                        <a:spcAft>
                          <a:spcPts val="0"/>
                        </a:spcAft>
                      </a:pPr>
                      <a:r>
                        <a:rPr lang="he-IL" sz="1400" dirty="0">
                          <a:effectLst/>
                        </a:rPr>
                        <a:t>התחושה אינה נוצרת באיזור שקולט את הגירוי אלא במוח.</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tc>
                <a:tc>
                  <a:txBody>
                    <a:bodyPr/>
                    <a:lstStyle/>
                    <a:p>
                      <a:pPr marL="0" marR="0" algn="ctr" rtl="1">
                        <a:lnSpc>
                          <a:spcPct val="150000"/>
                        </a:lnSpc>
                        <a:spcBef>
                          <a:spcPts val="0"/>
                        </a:spcBef>
                        <a:spcAft>
                          <a:spcPts val="0"/>
                        </a:spcAft>
                      </a:pPr>
                      <a:r>
                        <a:rPr lang="he-IL" sz="1400" dirty="0">
                          <a:effectLst/>
                        </a:rPr>
                        <a:t>עין, היא מכשיר שמאפשר לקלוט גירויים ולהעביר אותם אל המוח ורק שם מתרחש תהליך תחושת הראייה.</a:t>
                      </a:r>
                      <a:endParaRPr lang="en-US" sz="1100" dirty="0">
                        <a:effectLst/>
                      </a:endParaRPr>
                    </a:p>
                    <a:p>
                      <a:pPr marL="0" marR="0" algn="ctr" rtl="1">
                        <a:lnSpc>
                          <a:spcPct val="150000"/>
                        </a:lnSpc>
                        <a:spcBef>
                          <a:spcPts val="0"/>
                        </a:spcBef>
                        <a:spcAft>
                          <a:spcPts val="0"/>
                        </a:spcAft>
                      </a:pPr>
                      <a:r>
                        <a:rPr lang="he-IL" sz="1400" dirty="0">
                          <a:effectLst/>
                        </a:rPr>
                        <a:t>כאב, </a:t>
                      </a:r>
                      <a:endParaRPr lang="en-US" sz="1100" dirty="0">
                        <a:effectLst/>
                      </a:endParaRPr>
                    </a:p>
                    <a:p>
                      <a:pPr marL="0" marR="0" algn="ctr" rtl="1">
                        <a:lnSpc>
                          <a:spcPct val="150000"/>
                        </a:lnSpc>
                        <a:spcBef>
                          <a:spcPts val="0"/>
                        </a:spcBef>
                        <a:spcAft>
                          <a:spcPts val="0"/>
                        </a:spcAft>
                      </a:pPr>
                      <a:r>
                        <a:rPr lang="he-IL" sz="1400" dirty="0">
                          <a:effectLst/>
                        </a:rPr>
                        <a:t> </a:t>
                      </a:r>
                      <a:endParaRPr lang="en-US" sz="1100" dirty="0">
                        <a:effectLst/>
                      </a:endParaRPr>
                    </a:p>
                    <a:p>
                      <a:pPr marL="0" marR="0" algn="ctr" rtl="1">
                        <a:lnSpc>
                          <a:spcPct val="150000"/>
                        </a:lnSpc>
                        <a:spcBef>
                          <a:spcPts val="0"/>
                        </a:spcBef>
                        <a:spcAft>
                          <a:spcPts val="0"/>
                        </a:spcAft>
                      </a:pPr>
                      <a:r>
                        <a:rPr lang="he-IL" sz="1400" dirty="0">
                          <a:effectLst/>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tc>
                <a:extLst>
                  <a:ext uri="{0D108BD9-81ED-4DB2-BD59-A6C34878D82A}">
                    <a16:rowId xmlns:a16="http://schemas.microsoft.com/office/drawing/2014/main" val="10001"/>
                  </a:ext>
                </a:extLst>
              </a:tr>
              <a:tr h="1175834">
                <a:tc>
                  <a:txBody>
                    <a:bodyPr/>
                    <a:lstStyle/>
                    <a:p>
                      <a:pPr marL="0" marR="0" algn="ctr" rtl="1">
                        <a:lnSpc>
                          <a:spcPct val="150000"/>
                        </a:lnSpc>
                        <a:spcBef>
                          <a:spcPts val="0"/>
                        </a:spcBef>
                        <a:spcAft>
                          <a:spcPts val="0"/>
                        </a:spcAft>
                      </a:pPr>
                      <a:r>
                        <a:rPr lang="he-IL" sz="1600" dirty="0" smtClean="0">
                          <a:effectLst/>
                        </a:rPr>
                        <a:t>תפקוד</a:t>
                      </a:r>
                    </a:p>
                    <a:p>
                      <a:pPr marL="0" marR="0" algn="ctr" rtl="1">
                        <a:lnSpc>
                          <a:spcPct val="150000"/>
                        </a:lnSpc>
                        <a:spcBef>
                          <a:spcPts val="0"/>
                        </a:spcBef>
                        <a:spcAft>
                          <a:spcPts val="0"/>
                        </a:spcAft>
                      </a:pPr>
                      <a:r>
                        <a:rPr lang="he-IL" sz="1600" dirty="0" smtClean="0">
                          <a:effectLst/>
                          <a:latin typeface="Calibri" panose="020F0502020204030204" pitchFamily="34" charset="0"/>
                          <a:ea typeface="Calibri" panose="020F0502020204030204" pitchFamily="34" charset="0"/>
                          <a:cs typeface="Arial" panose="020B0604020202020204" pitchFamily="34" charset="0"/>
                        </a:rPr>
                        <a:t>תנועתי</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tc>
                <a:tc>
                  <a:txBody>
                    <a:bodyPr/>
                    <a:lstStyle/>
                    <a:p>
                      <a:pPr marL="0" marR="0" algn="ctr" rtl="1">
                        <a:lnSpc>
                          <a:spcPct val="150000"/>
                        </a:lnSpc>
                        <a:spcBef>
                          <a:spcPts val="0"/>
                        </a:spcBef>
                        <a:spcAft>
                          <a:spcPts val="0"/>
                        </a:spcAft>
                      </a:pPr>
                      <a:r>
                        <a:rPr lang="he-IL" sz="900" dirty="0">
                          <a:effectLst/>
                        </a:rPr>
                        <a:t> </a:t>
                      </a:r>
                      <a:endParaRPr lang="en-US" sz="700" dirty="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tc>
                <a:tc>
                  <a:txBody>
                    <a:bodyPr/>
                    <a:lstStyle/>
                    <a:p>
                      <a:pPr marL="0" marR="0" algn="ctr" rtl="1">
                        <a:lnSpc>
                          <a:spcPct val="150000"/>
                        </a:lnSpc>
                        <a:spcBef>
                          <a:spcPts val="0"/>
                        </a:spcBef>
                        <a:spcAft>
                          <a:spcPts val="0"/>
                        </a:spcAft>
                      </a:pPr>
                      <a:r>
                        <a:rPr lang="he-IL" sz="900">
                          <a:effectLst/>
                        </a:rPr>
                        <a:t> </a:t>
                      </a:r>
                      <a:endParaRPr lang="en-US" sz="700">
                        <a:effectLst/>
                      </a:endParaRPr>
                    </a:p>
                    <a:p>
                      <a:pPr marL="0" marR="0" algn="ctr" rtl="1">
                        <a:lnSpc>
                          <a:spcPct val="150000"/>
                        </a:lnSpc>
                        <a:spcBef>
                          <a:spcPts val="0"/>
                        </a:spcBef>
                        <a:spcAft>
                          <a:spcPts val="0"/>
                        </a:spcAft>
                      </a:pPr>
                      <a:r>
                        <a:rPr lang="he-IL" sz="900">
                          <a:effectLst/>
                        </a:rPr>
                        <a:t> </a:t>
                      </a:r>
                      <a:endParaRPr lang="en-US" sz="700">
                        <a:effectLst/>
                      </a:endParaRPr>
                    </a:p>
                    <a:p>
                      <a:pPr marL="0" marR="0" algn="ctr" rtl="1">
                        <a:lnSpc>
                          <a:spcPct val="150000"/>
                        </a:lnSpc>
                        <a:spcBef>
                          <a:spcPts val="0"/>
                        </a:spcBef>
                        <a:spcAft>
                          <a:spcPts val="0"/>
                        </a:spcAft>
                      </a:pPr>
                      <a:r>
                        <a:rPr lang="he-IL" sz="900">
                          <a:effectLst/>
                        </a:rPr>
                        <a:t> </a:t>
                      </a:r>
                      <a:endParaRPr lang="en-US" sz="700">
                        <a:effectLst/>
                      </a:endParaRPr>
                    </a:p>
                    <a:p>
                      <a:pPr marL="0" marR="0" algn="ctr" rtl="1">
                        <a:lnSpc>
                          <a:spcPct val="150000"/>
                        </a:lnSpc>
                        <a:spcBef>
                          <a:spcPts val="0"/>
                        </a:spcBef>
                        <a:spcAft>
                          <a:spcPts val="0"/>
                        </a:spcAft>
                      </a:pPr>
                      <a:r>
                        <a:rPr lang="he-IL" sz="900">
                          <a:effectLst/>
                        </a:rPr>
                        <a:t> </a:t>
                      </a:r>
                      <a:endParaRPr lang="en-US" sz="700">
                        <a:effectLst/>
                      </a:endParaRPr>
                    </a:p>
                    <a:p>
                      <a:pPr marL="0" marR="0" algn="ctr" rtl="1">
                        <a:lnSpc>
                          <a:spcPct val="150000"/>
                        </a:lnSpc>
                        <a:spcBef>
                          <a:spcPts val="0"/>
                        </a:spcBef>
                        <a:spcAft>
                          <a:spcPts val="0"/>
                        </a:spcAft>
                      </a:pPr>
                      <a:r>
                        <a:rPr lang="he-IL" sz="900">
                          <a:effectLst/>
                        </a:rPr>
                        <a:t> </a:t>
                      </a:r>
                      <a:endParaRPr lang="en-US" sz="700">
                        <a:effectLst/>
                      </a:endParaRPr>
                    </a:p>
                    <a:p>
                      <a:pPr marL="0" marR="0" algn="ctr" rtl="1">
                        <a:lnSpc>
                          <a:spcPct val="150000"/>
                        </a:lnSpc>
                        <a:spcBef>
                          <a:spcPts val="0"/>
                        </a:spcBef>
                        <a:spcAft>
                          <a:spcPts val="0"/>
                        </a:spcAft>
                      </a:pPr>
                      <a:r>
                        <a:rPr lang="he-IL" sz="900">
                          <a:effectLst/>
                        </a:rPr>
                        <a:t> </a:t>
                      </a:r>
                      <a:endParaRPr lang="en-US" sz="70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tc>
                <a:extLst>
                  <a:ext uri="{0D108BD9-81ED-4DB2-BD59-A6C34878D82A}">
                    <a16:rowId xmlns:a16="http://schemas.microsoft.com/office/drawing/2014/main" val="10002"/>
                  </a:ext>
                </a:extLst>
              </a:tr>
              <a:tr h="1175834">
                <a:tc>
                  <a:txBody>
                    <a:bodyPr/>
                    <a:lstStyle/>
                    <a:p>
                      <a:pPr marL="0" marR="0" algn="ctr" rtl="1">
                        <a:lnSpc>
                          <a:spcPct val="150000"/>
                        </a:lnSpc>
                        <a:spcBef>
                          <a:spcPts val="0"/>
                        </a:spcBef>
                        <a:spcAft>
                          <a:spcPts val="0"/>
                        </a:spcAft>
                      </a:pPr>
                      <a:r>
                        <a:rPr lang="he-IL" sz="1600" dirty="0" smtClean="0">
                          <a:effectLst/>
                        </a:rPr>
                        <a:t>תפקוד</a:t>
                      </a:r>
                    </a:p>
                    <a:p>
                      <a:pPr marL="0" marR="0" algn="ctr" rtl="1">
                        <a:lnSpc>
                          <a:spcPct val="150000"/>
                        </a:lnSpc>
                        <a:spcBef>
                          <a:spcPts val="0"/>
                        </a:spcBef>
                        <a:spcAft>
                          <a:spcPts val="0"/>
                        </a:spcAft>
                      </a:pPr>
                      <a:r>
                        <a:rPr lang="he-IL" sz="1600" smtClean="0">
                          <a:effectLst/>
                          <a:latin typeface="Calibri" panose="020F0502020204030204" pitchFamily="34" charset="0"/>
                          <a:ea typeface="Calibri" panose="020F0502020204030204" pitchFamily="34" charset="0"/>
                          <a:cs typeface="Arial" panose="020B0604020202020204" pitchFamily="34" charset="0"/>
                        </a:rPr>
                        <a:t>גבוה</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tc>
                <a:tc>
                  <a:txBody>
                    <a:bodyPr/>
                    <a:lstStyle/>
                    <a:p>
                      <a:pPr marL="0" marR="0" algn="ctr" rtl="1">
                        <a:lnSpc>
                          <a:spcPct val="150000"/>
                        </a:lnSpc>
                        <a:spcBef>
                          <a:spcPts val="0"/>
                        </a:spcBef>
                        <a:spcAft>
                          <a:spcPts val="0"/>
                        </a:spcAft>
                      </a:pPr>
                      <a:r>
                        <a:rPr lang="he-IL" sz="900">
                          <a:effectLst/>
                        </a:rPr>
                        <a:t> </a:t>
                      </a:r>
                      <a:endParaRPr lang="en-US" sz="70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tc>
                <a:tc>
                  <a:txBody>
                    <a:bodyPr/>
                    <a:lstStyle/>
                    <a:p>
                      <a:pPr marL="0" marR="0" algn="ctr" rtl="1">
                        <a:lnSpc>
                          <a:spcPct val="150000"/>
                        </a:lnSpc>
                        <a:spcBef>
                          <a:spcPts val="0"/>
                        </a:spcBef>
                        <a:spcAft>
                          <a:spcPts val="0"/>
                        </a:spcAft>
                      </a:pPr>
                      <a:r>
                        <a:rPr lang="he-IL" sz="900" dirty="0">
                          <a:effectLst/>
                        </a:rPr>
                        <a:t> </a:t>
                      </a:r>
                      <a:endParaRPr lang="en-US" sz="700" dirty="0">
                        <a:effectLst/>
                      </a:endParaRPr>
                    </a:p>
                    <a:p>
                      <a:pPr marL="0" marR="0" algn="ctr" rtl="1">
                        <a:lnSpc>
                          <a:spcPct val="150000"/>
                        </a:lnSpc>
                        <a:spcBef>
                          <a:spcPts val="0"/>
                        </a:spcBef>
                        <a:spcAft>
                          <a:spcPts val="0"/>
                        </a:spcAft>
                      </a:pPr>
                      <a:r>
                        <a:rPr lang="he-IL" sz="900" dirty="0">
                          <a:effectLst/>
                        </a:rPr>
                        <a:t> </a:t>
                      </a:r>
                      <a:endParaRPr lang="en-US" sz="700" dirty="0">
                        <a:effectLst/>
                      </a:endParaRPr>
                    </a:p>
                    <a:p>
                      <a:pPr marL="0" marR="0" algn="ctr" rtl="1">
                        <a:lnSpc>
                          <a:spcPct val="150000"/>
                        </a:lnSpc>
                        <a:spcBef>
                          <a:spcPts val="0"/>
                        </a:spcBef>
                        <a:spcAft>
                          <a:spcPts val="0"/>
                        </a:spcAft>
                      </a:pPr>
                      <a:r>
                        <a:rPr lang="he-IL" sz="900" dirty="0">
                          <a:effectLst/>
                        </a:rPr>
                        <a:t> </a:t>
                      </a:r>
                      <a:endParaRPr lang="en-US" sz="700" dirty="0">
                        <a:effectLst/>
                      </a:endParaRPr>
                    </a:p>
                    <a:p>
                      <a:pPr marL="0" marR="0" algn="ctr" rtl="1">
                        <a:lnSpc>
                          <a:spcPct val="150000"/>
                        </a:lnSpc>
                        <a:spcBef>
                          <a:spcPts val="0"/>
                        </a:spcBef>
                        <a:spcAft>
                          <a:spcPts val="0"/>
                        </a:spcAft>
                      </a:pPr>
                      <a:r>
                        <a:rPr lang="he-IL" sz="900" dirty="0">
                          <a:effectLst/>
                        </a:rPr>
                        <a:t> </a:t>
                      </a:r>
                      <a:endParaRPr lang="en-US" sz="700" dirty="0">
                        <a:effectLst/>
                      </a:endParaRPr>
                    </a:p>
                    <a:p>
                      <a:pPr marL="0" marR="0" algn="ctr" rtl="1">
                        <a:lnSpc>
                          <a:spcPct val="150000"/>
                        </a:lnSpc>
                        <a:spcBef>
                          <a:spcPts val="0"/>
                        </a:spcBef>
                        <a:spcAft>
                          <a:spcPts val="0"/>
                        </a:spcAft>
                      </a:pPr>
                      <a:r>
                        <a:rPr lang="he-IL" sz="900" dirty="0">
                          <a:effectLst/>
                        </a:rPr>
                        <a:t> </a:t>
                      </a:r>
                      <a:endParaRPr lang="en-US" sz="700" dirty="0">
                        <a:effectLst/>
                      </a:endParaRPr>
                    </a:p>
                    <a:p>
                      <a:pPr marL="0" marR="0" algn="ctr" rtl="1">
                        <a:lnSpc>
                          <a:spcPct val="150000"/>
                        </a:lnSpc>
                        <a:spcBef>
                          <a:spcPts val="0"/>
                        </a:spcBef>
                        <a:spcAft>
                          <a:spcPts val="0"/>
                        </a:spcAft>
                      </a:pPr>
                      <a:r>
                        <a:rPr lang="he-IL" sz="900" dirty="0">
                          <a:effectLst/>
                        </a:rPr>
                        <a:t> </a:t>
                      </a:r>
                      <a:endParaRPr lang="en-US" sz="700" dirty="0">
                        <a:effectLst/>
                        <a:latin typeface="Calibri" panose="020F0502020204030204" pitchFamily="34" charset="0"/>
                        <a:ea typeface="Calibri" panose="020F0502020204030204" pitchFamily="34" charset="0"/>
                        <a:cs typeface="Arial" panose="020B0604020202020204" pitchFamily="34" charset="0"/>
                      </a:endParaRPr>
                    </a:p>
                  </a:txBody>
                  <a:tcPr marL="45126" marR="45126"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83525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256</Words>
  <Application>Microsoft Office PowerPoint</Application>
  <PresentationFormat>Widescreen</PresentationFormat>
  <Paragraphs>45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Times New Roman</vt:lpstr>
      <vt:lpstr>Office Theme</vt:lpstr>
      <vt:lpstr>תפקודי מוח</vt:lpstr>
      <vt:lpstr>מהם תפקודי מוח?</vt:lpstr>
      <vt:lpstr>מיון תפקודי המוח</vt:lpstr>
      <vt:lpstr>תפקודי המוח</vt:lpstr>
      <vt:lpstr>טבלה לסיכום</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תפקודי מוח</dc:title>
  <dc:creator>NaamaGilboa</dc:creator>
  <cp:lastModifiedBy>WICC</cp:lastModifiedBy>
  <cp:revision>4</cp:revision>
  <dcterms:created xsi:type="dcterms:W3CDTF">2018-12-22T19:43:34Z</dcterms:created>
  <dcterms:modified xsi:type="dcterms:W3CDTF">2019-02-20T12:41:06Z</dcterms:modified>
</cp:coreProperties>
</file>